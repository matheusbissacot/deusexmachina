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notesMasterIdLst>
    <p:notesMasterId r:id="rId27"/>
  </p:notesMasterIdLst>
  <p:sldIdLst>
    <p:sldId id="256" r:id="rId2"/>
    <p:sldId id="257" r:id="rId3"/>
    <p:sldId id="258" r:id="rId4"/>
    <p:sldId id="260" r:id="rId5"/>
    <p:sldId id="301" r:id="rId6"/>
    <p:sldId id="263" r:id="rId7"/>
    <p:sldId id="266" r:id="rId8"/>
    <p:sldId id="267" r:id="rId9"/>
    <p:sldId id="269" r:id="rId10"/>
    <p:sldId id="292" r:id="rId11"/>
    <p:sldId id="293" r:id="rId12"/>
    <p:sldId id="294" r:id="rId13"/>
    <p:sldId id="295" r:id="rId14"/>
    <p:sldId id="270" r:id="rId15"/>
    <p:sldId id="296" r:id="rId16"/>
    <p:sldId id="297" r:id="rId17"/>
    <p:sldId id="298" r:id="rId18"/>
    <p:sldId id="299" r:id="rId19"/>
    <p:sldId id="302" r:id="rId20"/>
    <p:sldId id="303" r:id="rId21"/>
    <p:sldId id="304" r:id="rId22"/>
    <p:sldId id="300" r:id="rId23"/>
    <p:sldId id="305" r:id="rId24"/>
    <p:sldId id="307" r:id="rId25"/>
    <p:sldId id="306"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CBAE"/>
    <a:srgbClr val="6B8891"/>
    <a:srgbClr val="DEE8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97" autoAdjust="0"/>
    <p:restoredTop sz="50458" autoAdjust="0"/>
  </p:normalViewPr>
  <p:slideViewPr>
    <p:cSldViewPr snapToGrid="0">
      <p:cViewPr>
        <p:scale>
          <a:sx n="50" d="100"/>
          <a:sy n="50" d="100"/>
        </p:scale>
        <p:origin x="2030" y="3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AC72F7-B603-4219-9F5A-49707A3F6665}" type="doc">
      <dgm:prSet loTypeId="urn:microsoft.com/office/officeart/2005/8/layout/hList9" loCatId="list" qsTypeId="urn:microsoft.com/office/officeart/2005/8/quickstyle/simple4" qsCatId="simple" csTypeId="urn:microsoft.com/office/officeart/2005/8/colors/accent4_2" csCatId="accent4" phldr="1"/>
      <dgm:spPr/>
      <dgm:t>
        <a:bodyPr/>
        <a:lstStyle/>
        <a:p>
          <a:endParaRPr lang="pt-PT"/>
        </a:p>
      </dgm:t>
    </dgm:pt>
    <dgm:pt modelId="{44442979-775F-43D6-984A-005B392D7A72}">
      <dgm:prSet phldrT="[Texto]"/>
      <dgm:spPr>
        <a:solidFill>
          <a:srgbClr val="B2CBAE"/>
        </a:solidFill>
      </dgm:spPr>
      <dgm:t>
        <a:bodyPr/>
        <a:lstStyle/>
        <a:p>
          <a:r>
            <a:rPr lang="pt-PT" dirty="0" err="1"/>
            <a:t>Random</a:t>
          </a:r>
          <a:r>
            <a:rPr lang="pt-PT" dirty="0"/>
            <a:t> </a:t>
          </a:r>
          <a:r>
            <a:rPr lang="pt-PT" dirty="0" err="1"/>
            <a:t>Forest</a:t>
          </a:r>
          <a:endParaRPr lang="pt-PT" dirty="0"/>
        </a:p>
      </dgm:t>
    </dgm:pt>
    <dgm:pt modelId="{15145E71-D3DC-4420-A120-4D60CCE97021}" type="parTrans" cxnId="{87BD198C-87AB-49C0-B6CD-2502E5ABA882}">
      <dgm:prSet/>
      <dgm:spPr/>
      <dgm:t>
        <a:bodyPr/>
        <a:lstStyle/>
        <a:p>
          <a:endParaRPr lang="pt-PT"/>
        </a:p>
      </dgm:t>
    </dgm:pt>
    <dgm:pt modelId="{1749BC40-1FC1-40E4-B205-AA6FA30B4352}" type="sibTrans" cxnId="{87BD198C-87AB-49C0-B6CD-2502E5ABA882}">
      <dgm:prSet/>
      <dgm:spPr/>
      <dgm:t>
        <a:bodyPr/>
        <a:lstStyle/>
        <a:p>
          <a:endParaRPr lang="pt-PT"/>
        </a:p>
      </dgm:t>
    </dgm:pt>
    <dgm:pt modelId="{3DC69029-D4B8-4631-AE89-8A75B3774781}">
      <dgm:prSet phldrT="[Texto]"/>
      <dgm:spPr>
        <a:solidFill>
          <a:srgbClr val="DEE8DC">
            <a:alpha val="89804"/>
          </a:srgbClr>
        </a:solidFill>
      </dgm:spPr>
      <dgm:t>
        <a:bodyPr/>
        <a:lstStyle/>
        <a:p>
          <a:pPr algn="l"/>
          <a:r>
            <a:rPr lang="pt-PT" dirty="0" err="1"/>
            <a:t>Robust</a:t>
          </a:r>
          <a:r>
            <a:rPr lang="pt-PT" dirty="0"/>
            <a:t> to </a:t>
          </a:r>
          <a:r>
            <a:rPr lang="pt-PT" dirty="0" err="1"/>
            <a:t>imbalanced</a:t>
          </a:r>
          <a:r>
            <a:rPr lang="pt-PT" dirty="0"/>
            <a:t> data</a:t>
          </a:r>
        </a:p>
      </dgm:t>
    </dgm:pt>
    <dgm:pt modelId="{757E8922-2E7A-43B1-84B5-E53ACB49D275}" type="parTrans" cxnId="{4328558E-9092-46BD-87D5-F5F6C6B2E361}">
      <dgm:prSet/>
      <dgm:spPr/>
      <dgm:t>
        <a:bodyPr/>
        <a:lstStyle/>
        <a:p>
          <a:endParaRPr lang="pt-PT"/>
        </a:p>
      </dgm:t>
    </dgm:pt>
    <dgm:pt modelId="{A8235BE7-275B-4B1E-BE8B-3B64E661C7C9}" type="sibTrans" cxnId="{4328558E-9092-46BD-87D5-F5F6C6B2E361}">
      <dgm:prSet/>
      <dgm:spPr/>
      <dgm:t>
        <a:bodyPr/>
        <a:lstStyle/>
        <a:p>
          <a:endParaRPr lang="pt-PT"/>
        </a:p>
      </dgm:t>
    </dgm:pt>
    <dgm:pt modelId="{A0F12FD6-F1D7-49D1-9132-2989C1274B43}">
      <dgm:prSet phldrT="[Texto]"/>
      <dgm:spPr>
        <a:solidFill>
          <a:srgbClr val="B2CBAE"/>
        </a:solidFill>
      </dgm:spPr>
      <dgm:t>
        <a:bodyPr/>
        <a:lstStyle/>
        <a:p>
          <a:r>
            <a:rPr lang="pt-PT" dirty="0" err="1"/>
            <a:t>XGBoost</a:t>
          </a:r>
          <a:endParaRPr lang="pt-PT" dirty="0"/>
        </a:p>
      </dgm:t>
    </dgm:pt>
    <dgm:pt modelId="{5E1E4BBB-494A-4BFC-B4EE-A64844C5AC1A}" type="parTrans" cxnId="{168FD939-20B8-4CF9-BA32-7C2DB8386376}">
      <dgm:prSet/>
      <dgm:spPr/>
      <dgm:t>
        <a:bodyPr/>
        <a:lstStyle/>
        <a:p>
          <a:endParaRPr lang="pt-PT"/>
        </a:p>
      </dgm:t>
    </dgm:pt>
    <dgm:pt modelId="{FE4C0B7E-169E-41ED-BF65-82F657481A66}" type="sibTrans" cxnId="{168FD939-20B8-4CF9-BA32-7C2DB8386376}">
      <dgm:prSet/>
      <dgm:spPr/>
      <dgm:t>
        <a:bodyPr/>
        <a:lstStyle/>
        <a:p>
          <a:endParaRPr lang="pt-PT"/>
        </a:p>
      </dgm:t>
    </dgm:pt>
    <dgm:pt modelId="{EBC1FE8A-810D-40B7-903D-1D63CB6B54B6}">
      <dgm:prSet phldrT="[Texto]"/>
      <dgm:spPr>
        <a:solidFill>
          <a:srgbClr val="DEE8DC">
            <a:alpha val="89804"/>
          </a:srgbClr>
        </a:solidFill>
      </dgm:spPr>
      <dgm:t>
        <a:bodyPr/>
        <a:lstStyle/>
        <a:p>
          <a:r>
            <a:rPr lang="pt-PT" dirty="0" err="1"/>
            <a:t>Reliable</a:t>
          </a:r>
          <a:r>
            <a:rPr lang="pt-PT" dirty="0"/>
            <a:t> </a:t>
          </a:r>
          <a:r>
            <a:rPr lang="pt-PT" dirty="0" err="1"/>
            <a:t>and</a:t>
          </a:r>
          <a:r>
            <a:rPr lang="pt-PT" dirty="0"/>
            <a:t> </a:t>
          </a:r>
          <a:r>
            <a:rPr lang="pt-PT" dirty="0" err="1"/>
            <a:t>adaptable</a:t>
          </a:r>
          <a:r>
            <a:rPr lang="pt-PT" dirty="0"/>
            <a:t> to </a:t>
          </a:r>
          <a:r>
            <a:rPr lang="pt-PT" dirty="0" err="1"/>
            <a:t>various</a:t>
          </a:r>
          <a:r>
            <a:rPr lang="pt-PT" dirty="0"/>
            <a:t> </a:t>
          </a:r>
          <a:r>
            <a:rPr lang="pt-PT" dirty="0" err="1"/>
            <a:t>techniques</a:t>
          </a:r>
          <a:endParaRPr lang="pt-PT" dirty="0"/>
        </a:p>
      </dgm:t>
    </dgm:pt>
    <dgm:pt modelId="{40A24B37-18A6-4AFD-9F92-F360FEDD605C}" type="parTrans" cxnId="{A6F7CD88-6B41-4DA5-B70A-AB2E84E1FE91}">
      <dgm:prSet/>
      <dgm:spPr/>
      <dgm:t>
        <a:bodyPr/>
        <a:lstStyle/>
        <a:p>
          <a:endParaRPr lang="pt-PT"/>
        </a:p>
      </dgm:t>
    </dgm:pt>
    <dgm:pt modelId="{EEC12D7A-4921-4C3A-97F7-B96E1697C48C}" type="sibTrans" cxnId="{A6F7CD88-6B41-4DA5-B70A-AB2E84E1FE91}">
      <dgm:prSet/>
      <dgm:spPr/>
      <dgm:t>
        <a:bodyPr/>
        <a:lstStyle/>
        <a:p>
          <a:endParaRPr lang="pt-PT"/>
        </a:p>
      </dgm:t>
    </dgm:pt>
    <dgm:pt modelId="{66F18B78-426C-4A4C-B156-78B39B7BB98E}" type="pres">
      <dgm:prSet presAssocID="{A4AC72F7-B603-4219-9F5A-49707A3F6665}" presName="list" presStyleCnt="0">
        <dgm:presLayoutVars>
          <dgm:dir/>
          <dgm:animLvl val="lvl"/>
        </dgm:presLayoutVars>
      </dgm:prSet>
      <dgm:spPr/>
    </dgm:pt>
    <dgm:pt modelId="{8D2685DC-9FC5-4501-A10D-F12F8B0B2726}" type="pres">
      <dgm:prSet presAssocID="{44442979-775F-43D6-984A-005B392D7A72}" presName="posSpace" presStyleCnt="0"/>
      <dgm:spPr/>
    </dgm:pt>
    <dgm:pt modelId="{7FBA52C9-7BA8-4A67-BB14-97749167D0B3}" type="pres">
      <dgm:prSet presAssocID="{44442979-775F-43D6-984A-005B392D7A72}" presName="vertFlow" presStyleCnt="0"/>
      <dgm:spPr/>
    </dgm:pt>
    <dgm:pt modelId="{E8FBF939-6E85-4C47-876C-E00F6A3BD88A}" type="pres">
      <dgm:prSet presAssocID="{44442979-775F-43D6-984A-005B392D7A72}" presName="topSpace" presStyleCnt="0"/>
      <dgm:spPr/>
    </dgm:pt>
    <dgm:pt modelId="{D371B907-CE60-4451-83D5-67451BD8512C}" type="pres">
      <dgm:prSet presAssocID="{44442979-775F-43D6-984A-005B392D7A72}" presName="firstComp" presStyleCnt="0"/>
      <dgm:spPr/>
    </dgm:pt>
    <dgm:pt modelId="{56647FB1-1D56-4C0A-A749-B53C72FE62ED}" type="pres">
      <dgm:prSet presAssocID="{44442979-775F-43D6-984A-005B392D7A72}" presName="firstChild" presStyleLbl="bgAccFollowNode1" presStyleIdx="0" presStyleCnt="2"/>
      <dgm:spPr/>
    </dgm:pt>
    <dgm:pt modelId="{96CA165A-AFC8-4C3C-98AD-A96F6A4A70E5}" type="pres">
      <dgm:prSet presAssocID="{44442979-775F-43D6-984A-005B392D7A72}" presName="firstChildTx" presStyleLbl="bgAccFollowNode1" presStyleIdx="0" presStyleCnt="2">
        <dgm:presLayoutVars>
          <dgm:bulletEnabled val="1"/>
        </dgm:presLayoutVars>
      </dgm:prSet>
      <dgm:spPr/>
    </dgm:pt>
    <dgm:pt modelId="{A8AA4B55-D0ED-43ED-8734-B18B764DB443}" type="pres">
      <dgm:prSet presAssocID="{44442979-775F-43D6-984A-005B392D7A72}" presName="negSpace" presStyleCnt="0"/>
      <dgm:spPr/>
    </dgm:pt>
    <dgm:pt modelId="{49D58A52-603B-491E-A1DC-A60353FF1A31}" type="pres">
      <dgm:prSet presAssocID="{44442979-775F-43D6-984A-005B392D7A72}" presName="circle" presStyleLbl="node1" presStyleIdx="0" presStyleCnt="2" custLinFactNeighborX="-2702" custLinFactNeighborY="-631"/>
      <dgm:spPr/>
    </dgm:pt>
    <dgm:pt modelId="{C9792E42-D831-4E9B-9F2A-CF451671317D}" type="pres">
      <dgm:prSet presAssocID="{1749BC40-1FC1-40E4-B205-AA6FA30B4352}" presName="transSpace" presStyleCnt="0"/>
      <dgm:spPr/>
    </dgm:pt>
    <dgm:pt modelId="{37B39692-DA89-4528-9F3D-471438F6B0DE}" type="pres">
      <dgm:prSet presAssocID="{A0F12FD6-F1D7-49D1-9132-2989C1274B43}" presName="posSpace" presStyleCnt="0"/>
      <dgm:spPr/>
    </dgm:pt>
    <dgm:pt modelId="{94985978-0FE4-4139-9BAF-6A270A0CADB2}" type="pres">
      <dgm:prSet presAssocID="{A0F12FD6-F1D7-49D1-9132-2989C1274B43}" presName="vertFlow" presStyleCnt="0"/>
      <dgm:spPr/>
    </dgm:pt>
    <dgm:pt modelId="{0FBD619C-4E0F-46AF-B8E1-A558CDFAA5CB}" type="pres">
      <dgm:prSet presAssocID="{A0F12FD6-F1D7-49D1-9132-2989C1274B43}" presName="topSpace" presStyleCnt="0"/>
      <dgm:spPr/>
    </dgm:pt>
    <dgm:pt modelId="{83103ED8-DD66-435D-8351-6D020D6467D8}" type="pres">
      <dgm:prSet presAssocID="{A0F12FD6-F1D7-49D1-9132-2989C1274B43}" presName="firstComp" presStyleCnt="0"/>
      <dgm:spPr/>
    </dgm:pt>
    <dgm:pt modelId="{9C2BF86E-3E25-4340-A7C9-638BEC67EE9F}" type="pres">
      <dgm:prSet presAssocID="{A0F12FD6-F1D7-49D1-9132-2989C1274B43}" presName="firstChild" presStyleLbl="bgAccFollowNode1" presStyleIdx="1" presStyleCnt="2"/>
      <dgm:spPr/>
    </dgm:pt>
    <dgm:pt modelId="{3527FABE-DE3F-4CB8-B43A-714DD30AC5DD}" type="pres">
      <dgm:prSet presAssocID="{A0F12FD6-F1D7-49D1-9132-2989C1274B43}" presName="firstChildTx" presStyleLbl="bgAccFollowNode1" presStyleIdx="1" presStyleCnt="2">
        <dgm:presLayoutVars>
          <dgm:bulletEnabled val="1"/>
        </dgm:presLayoutVars>
      </dgm:prSet>
      <dgm:spPr/>
    </dgm:pt>
    <dgm:pt modelId="{74E5DAEB-1A08-4859-A438-2824B8DC57D2}" type="pres">
      <dgm:prSet presAssocID="{A0F12FD6-F1D7-49D1-9132-2989C1274B43}" presName="negSpace" presStyleCnt="0"/>
      <dgm:spPr/>
    </dgm:pt>
    <dgm:pt modelId="{9848CED3-7DCA-47E1-84E9-019AD7AA5790}" type="pres">
      <dgm:prSet presAssocID="{A0F12FD6-F1D7-49D1-9132-2989C1274B43}" presName="circle" presStyleLbl="node1" presStyleIdx="1" presStyleCnt="2"/>
      <dgm:spPr/>
    </dgm:pt>
  </dgm:ptLst>
  <dgm:cxnLst>
    <dgm:cxn modelId="{168FD939-20B8-4CF9-BA32-7C2DB8386376}" srcId="{A4AC72F7-B603-4219-9F5A-49707A3F6665}" destId="{A0F12FD6-F1D7-49D1-9132-2989C1274B43}" srcOrd="1" destOrd="0" parTransId="{5E1E4BBB-494A-4BFC-B4EE-A64844C5AC1A}" sibTransId="{FE4C0B7E-169E-41ED-BF65-82F657481A66}"/>
    <dgm:cxn modelId="{C3255969-F8C5-4B80-8C5F-5F465534A6ED}" type="presOf" srcId="{3DC69029-D4B8-4631-AE89-8A75B3774781}" destId="{96CA165A-AFC8-4C3C-98AD-A96F6A4A70E5}" srcOrd="1" destOrd="0" presId="urn:microsoft.com/office/officeart/2005/8/layout/hList9"/>
    <dgm:cxn modelId="{E00FD46F-C450-4A5A-8ABF-F8B9C7A9A928}" type="presOf" srcId="{3DC69029-D4B8-4631-AE89-8A75B3774781}" destId="{56647FB1-1D56-4C0A-A749-B53C72FE62ED}" srcOrd="0" destOrd="0" presId="urn:microsoft.com/office/officeart/2005/8/layout/hList9"/>
    <dgm:cxn modelId="{A6F7CD88-6B41-4DA5-B70A-AB2E84E1FE91}" srcId="{A0F12FD6-F1D7-49D1-9132-2989C1274B43}" destId="{EBC1FE8A-810D-40B7-903D-1D63CB6B54B6}" srcOrd="0" destOrd="0" parTransId="{40A24B37-18A6-4AFD-9F92-F360FEDD605C}" sibTransId="{EEC12D7A-4921-4C3A-97F7-B96E1697C48C}"/>
    <dgm:cxn modelId="{87BD198C-87AB-49C0-B6CD-2502E5ABA882}" srcId="{A4AC72F7-B603-4219-9F5A-49707A3F6665}" destId="{44442979-775F-43D6-984A-005B392D7A72}" srcOrd="0" destOrd="0" parTransId="{15145E71-D3DC-4420-A120-4D60CCE97021}" sibTransId="{1749BC40-1FC1-40E4-B205-AA6FA30B4352}"/>
    <dgm:cxn modelId="{4328558E-9092-46BD-87D5-F5F6C6B2E361}" srcId="{44442979-775F-43D6-984A-005B392D7A72}" destId="{3DC69029-D4B8-4631-AE89-8A75B3774781}" srcOrd="0" destOrd="0" parTransId="{757E8922-2E7A-43B1-84B5-E53ACB49D275}" sibTransId="{A8235BE7-275B-4B1E-BE8B-3B64E661C7C9}"/>
    <dgm:cxn modelId="{890BA88E-C11E-4A54-A453-4954E2F4E5DF}" type="presOf" srcId="{A0F12FD6-F1D7-49D1-9132-2989C1274B43}" destId="{9848CED3-7DCA-47E1-84E9-019AD7AA5790}" srcOrd="0" destOrd="0" presId="urn:microsoft.com/office/officeart/2005/8/layout/hList9"/>
    <dgm:cxn modelId="{D8F3AAA9-A536-4600-B49C-671E4C3E28D8}" type="presOf" srcId="{EBC1FE8A-810D-40B7-903D-1D63CB6B54B6}" destId="{3527FABE-DE3F-4CB8-B43A-714DD30AC5DD}" srcOrd="1" destOrd="0" presId="urn:microsoft.com/office/officeart/2005/8/layout/hList9"/>
    <dgm:cxn modelId="{2F863CD0-F708-4B0A-ACEB-D9FE39280982}" type="presOf" srcId="{EBC1FE8A-810D-40B7-903D-1D63CB6B54B6}" destId="{9C2BF86E-3E25-4340-A7C9-638BEC67EE9F}" srcOrd="0" destOrd="0" presId="urn:microsoft.com/office/officeart/2005/8/layout/hList9"/>
    <dgm:cxn modelId="{88ED5AD3-96EB-4821-87F9-006B32C34401}" type="presOf" srcId="{44442979-775F-43D6-984A-005B392D7A72}" destId="{49D58A52-603B-491E-A1DC-A60353FF1A31}" srcOrd="0" destOrd="0" presId="urn:microsoft.com/office/officeart/2005/8/layout/hList9"/>
    <dgm:cxn modelId="{A6D563ED-CCBD-438A-9883-61C5C901BA0A}" type="presOf" srcId="{A4AC72F7-B603-4219-9F5A-49707A3F6665}" destId="{66F18B78-426C-4A4C-B156-78B39B7BB98E}" srcOrd="0" destOrd="0" presId="urn:microsoft.com/office/officeart/2005/8/layout/hList9"/>
    <dgm:cxn modelId="{99D4CA7E-643F-4112-A158-DB4B576FBB2D}" type="presParOf" srcId="{66F18B78-426C-4A4C-B156-78B39B7BB98E}" destId="{8D2685DC-9FC5-4501-A10D-F12F8B0B2726}" srcOrd="0" destOrd="0" presId="urn:microsoft.com/office/officeart/2005/8/layout/hList9"/>
    <dgm:cxn modelId="{1FE03CCF-5BD4-472C-95FE-AEB527D32A08}" type="presParOf" srcId="{66F18B78-426C-4A4C-B156-78B39B7BB98E}" destId="{7FBA52C9-7BA8-4A67-BB14-97749167D0B3}" srcOrd="1" destOrd="0" presId="urn:microsoft.com/office/officeart/2005/8/layout/hList9"/>
    <dgm:cxn modelId="{6B071F14-D091-4C12-98C0-D34387C1279B}" type="presParOf" srcId="{7FBA52C9-7BA8-4A67-BB14-97749167D0B3}" destId="{E8FBF939-6E85-4C47-876C-E00F6A3BD88A}" srcOrd="0" destOrd="0" presId="urn:microsoft.com/office/officeart/2005/8/layout/hList9"/>
    <dgm:cxn modelId="{350562E3-FEB1-45A5-977A-3A374B42C66A}" type="presParOf" srcId="{7FBA52C9-7BA8-4A67-BB14-97749167D0B3}" destId="{D371B907-CE60-4451-83D5-67451BD8512C}" srcOrd="1" destOrd="0" presId="urn:microsoft.com/office/officeart/2005/8/layout/hList9"/>
    <dgm:cxn modelId="{18E836B2-528F-44AF-8F3C-D4473D450055}" type="presParOf" srcId="{D371B907-CE60-4451-83D5-67451BD8512C}" destId="{56647FB1-1D56-4C0A-A749-B53C72FE62ED}" srcOrd="0" destOrd="0" presId="urn:microsoft.com/office/officeart/2005/8/layout/hList9"/>
    <dgm:cxn modelId="{E26E0C8E-502F-433C-A2D0-A35F638BE836}" type="presParOf" srcId="{D371B907-CE60-4451-83D5-67451BD8512C}" destId="{96CA165A-AFC8-4C3C-98AD-A96F6A4A70E5}" srcOrd="1" destOrd="0" presId="urn:microsoft.com/office/officeart/2005/8/layout/hList9"/>
    <dgm:cxn modelId="{113E4B90-FAA1-4C6E-B049-D63BEBCB673A}" type="presParOf" srcId="{66F18B78-426C-4A4C-B156-78B39B7BB98E}" destId="{A8AA4B55-D0ED-43ED-8734-B18B764DB443}" srcOrd="2" destOrd="0" presId="urn:microsoft.com/office/officeart/2005/8/layout/hList9"/>
    <dgm:cxn modelId="{E574A4B4-AF84-4EF1-9874-084C592321CC}" type="presParOf" srcId="{66F18B78-426C-4A4C-B156-78B39B7BB98E}" destId="{49D58A52-603B-491E-A1DC-A60353FF1A31}" srcOrd="3" destOrd="0" presId="urn:microsoft.com/office/officeart/2005/8/layout/hList9"/>
    <dgm:cxn modelId="{46F2CD63-631F-441B-94E2-D2E511725AAE}" type="presParOf" srcId="{66F18B78-426C-4A4C-B156-78B39B7BB98E}" destId="{C9792E42-D831-4E9B-9F2A-CF451671317D}" srcOrd="4" destOrd="0" presId="urn:microsoft.com/office/officeart/2005/8/layout/hList9"/>
    <dgm:cxn modelId="{C0033015-E5CD-46F0-9465-D41E24B5A38A}" type="presParOf" srcId="{66F18B78-426C-4A4C-B156-78B39B7BB98E}" destId="{37B39692-DA89-4528-9F3D-471438F6B0DE}" srcOrd="5" destOrd="0" presId="urn:microsoft.com/office/officeart/2005/8/layout/hList9"/>
    <dgm:cxn modelId="{2E496D0A-FEBE-4158-88A9-C20192316198}" type="presParOf" srcId="{66F18B78-426C-4A4C-B156-78B39B7BB98E}" destId="{94985978-0FE4-4139-9BAF-6A270A0CADB2}" srcOrd="6" destOrd="0" presId="urn:microsoft.com/office/officeart/2005/8/layout/hList9"/>
    <dgm:cxn modelId="{C69CED9D-4F8D-4F93-A46A-937CD3BB35CD}" type="presParOf" srcId="{94985978-0FE4-4139-9BAF-6A270A0CADB2}" destId="{0FBD619C-4E0F-46AF-B8E1-A558CDFAA5CB}" srcOrd="0" destOrd="0" presId="urn:microsoft.com/office/officeart/2005/8/layout/hList9"/>
    <dgm:cxn modelId="{307C2A66-5B6E-4DEB-BDD4-668F8620436A}" type="presParOf" srcId="{94985978-0FE4-4139-9BAF-6A270A0CADB2}" destId="{83103ED8-DD66-435D-8351-6D020D6467D8}" srcOrd="1" destOrd="0" presId="urn:microsoft.com/office/officeart/2005/8/layout/hList9"/>
    <dgm:cxn modelId="{A827A9D5-64B0-4EB1-8F5A-ABD73FED0FB0}" type="presParOf" srcId="{83103ED8-DD66-435D-8351-6D020D6467D8}" destId="{9C2BF86E-3E25-4340-A7C9-638BEC67EE9F}" srcOrd="0" destOrd="0" presId="urn:microsoft.com/office/officeart/2005/8/layout/hList9"/>
    <dgm:cxn modelId="{261AE988-E937-4E49-9A02-E7F3FA8183F5}" type="presParOf" srcId="{83103ED8-DD66-435D-8351-6D020D6467D8}" destId="{3527FABE-DE3F-4CB8-B43A-714DD30AC5DD}" srcOrd="1" destOrd="0" presId="urn:microsoft.com/office/officeart/2005/8/layout/hList9"/>
    <dgm:cxn modelId="{35437E03-3B2E-4C5A-9CC7-B18C554CB5A3}" type="presParOf" srcId="{66F18B78-426C-4A4C-B156-78B39B7BB98E}" destId="{74E5DAEB-1A08-4859-A438-2824B8DC57D2}" srcOrd="7" destOrd="0" presId="urn:microsoft.com/office/officeart/2005/8/layout/hList9"/>
    <dgm:cxn modelId="{6D260489-1359-4814-B9E2-AD94413E332E}" type="presParOf" srcId="{66F18B78-426C-4A4C-B156-78B39B7BB98E}" destId="{9848CED3-7DCA-47E1-84E9-019AD7AA5790}" srcOrd="8" destOrd="0" presId="urn:microsoft.com/office/officeart/2005/8/layout/hList9"/>
  </dgm:cxnLst>
  <dgm:bg>
    <a:effectLst>
      <a:outerShdw blurRad="50800" dist="38100" dir="2700000" algn="tl" rotWithShape="0">
        <a:prstClr val="black">
          <a:alpha val="40000"/>
        </a:prstClr>
      </a:outerShdw>
    </a:effect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5DE70D1F-02D8-4A3B-8BAF-920279C3B0F6}"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pt-PT"/>
        </a:p>
      </dgm:t>
    </dgm:pt>
    <dgm:pt modelId="{4105C27A-F4A5-4151-A739-4DAF4F118B89}">
      <dgm:prSet phldrT="[Texto]"/>
      <dgm:spPr>
        <a:solidFill>
          <a:srgbClr val="B2CBAE"/>
        </a:solidFill>
        <a:ln>
          <a:solidFill>
            <a:schemeClr val="bg1"/>
          </a:solidFill>
        </a:ln>
      </dgm:spPr>
      <dgm:t>
        <a:bodyPr/>
        <a:lstStyle/>
        <a:p>
          <a:r>
            <a:rPr lang="pt-PT" dirty="0" err="1"/>
            <a:t>Oversampling</a:t>
          </a:r>
          <a:endParaRPr lang="pt-PT" dirty="0"/>
        </a:p>
      </dgm:t>
    </dgm:pt>
    <dgm:pt modelId="{3B039841-B25E-4DC2-A972-372F6B77AE4E}" type="parTrans" cxnId="{D95957E6-484D-413E-A900-E786AFB94FD5}">
      <dgm:prSet/>
      <dgm:spPr/>
      <dgm:t>
        <a:bodyPr/>
        <a:lstStyle/>
        <a:p>
          <a:endParaRPr lang="pt-PT"/>
        </a:p>
      </dgm:t>
    </dgm:pt>
    <dgm:pt modelId="{5952DE77-A64C-4A00-B01A-C54738856AA9}" type="sibTrans" cxnId="{D95957E6-484D-413E-A900-E786AFB94FD5}">
      <dgm:prSet/>
      <dgm:spPr/>
      <dgm:t>
        <a:bodyPr/>
        <a:lstStyle/>
        <a:p>
          <a:endParaRPr lang="pt-PT"/>
        </a:p>
      </dgm:t>
    </dgm:pt>
    <dgm:pt modelId="{40F1C0BA-8F72-405C-A0B4-27501C1459D9}">
      <dgm:prSet phldrT="[Texto]"/>
      <dgm:spPr>
        <a:ln>
          <a:solidFill>
            <a:srgbClr val="B2CBAE"/>
          </a:solidFill>
        </a:ln>
      </dgm:spPr>
      <dgm:t>
        <a:bodyPr/>
        <a:lstStyle/>
        <a:p>
          <a:r>
            <a:rPr lang="pt-PT" dirty="0" err="1"/>
            <a:t>Random</a:t>
          </a:r>
          <a:r>
            <a:rPr lang="pt-PT" dirty="0"/>
            <a:t> </a:t>
          </a:r>
        </a:p>
      </dgm:t>
    </dgm:pt>
    <dgm:pt modelId="{FBD357E1-CB20-46F1-A4EE-FAD088626AA6}" type="parTrans" cxnId="{60342398-91D3-4746-B431-2AD79082071F}">
      <dgm:prSet/>
      <dgm:spPr>
        <a:solidFill>
          <a:srgbClr val="B2CBAE"/>
        </a:solidFill>
        <a:ln>
          <a:solidFill>
            <a:srgbClr val="B2CBAE"/>
          </a:solidFill>
        </a:ln>
      </dgm:spPr>
      <dgm:t>
        <a:bodyPr/>
        <a:lstStyle/>
        <a:p>
          <a:endParaRPr lang="pt-PT"/>
        </a:p>
      </dgm:t>
    </dgm:pt>
    <dgm:pt modelId="{7D58E46F-F31F-48E9-BCDD-B7964F783C05}" type="sibTrans" cxnId="{60342398-91D3-4746-B431-2AD79082071F}">
      <dgm:prSet/>
      <dgm:spPr/>
      <dgm:t>
        <a:bodyPr/>
        <a:lstStyle/>
        <a:p>
          <a:endParaRPr lang="pt-PT"/>
        </a:p>
      </dgm:t>
    </dgm:pt>
    <dgm:pt modelId="{2FB6B3C4-91D5-4664-8B78-6279CDF603BD}">
      <dgm:prSet phldrT="[Texto]"/>
      <dgm:spPr>
        <a:ln>
          <a:solidFill>
            <a:srgbClr val="B2CBAE"/>
          </a:solidFill>
        </a:ln>
      </dgm:spPr>
      <dgm:t>
        <a:bodyPr/>
        <a:lstStyle/>
        <a:p>
          <a:r>
            <a:rPr lang="pt-PT" dirty="0"/>
            <a:t>SMOTE</a:t>
          </a:r>
        </a:p>
      </dgm:t>
    </dgm:pt>
    <dgm:pt modelId="{61E6745F-4BE1-4C9C-8C1E-99483B9B519D}" type="parTrans" cxnId="{0D64DD7A-597A-4210-A17F-7612D8A2F5EE}">
      <dgm:prSet/>
      <dgm:spPr>
        <a:solidFill>
          <a:srgbClr val="B2CBAE"/>
        </a:solidFill>
        <a:ln>
          <a:solidFill>
            <a:srgbClr val="B2CBAE"/>
          </a:solidFill>
        </a:ln>
      </dgm:spPr>
      <dgm:t>
        <a:bodyPr/>
        <a:lstStyle/>
        <a:p>
          <a:endParaRPr lang="pt-PT"/>
        </a:p>
      </dgm:t>
    </dgm:pt>
    <dgm:pt modelId="{A28E2787-F453-41A6-B015-A8B4E0C91BE6}" type="sibTrans" cxnId="{0D64DD7A-597A-4210-A17F-7612D8A2F5EE}">
      <dgm:prSet/>
      <dgm:spPr/>
      <dgm:t>
        <a:bodyPr/>
        <a:lstStyle/>
        <a:p>
          <a:endParaRPr lang="pt-PT"/>
        </a:p>
      </dgm:t>
    </dgm:pt>
    <dgm:pt modelId="{413317AC-93D5-467D-B9E3-60CB61817D1F}">
      <dgm:prSet phldrT="[Texto]"/>
      <dgm:spPr>
        <a:solidFill>
          <a:srgbClr val="B2CBAE"/>
        </a:solidFill>
        <a:ln>
          <a:solidFill>
            <a:schemeClr val="bg1"/>
          </a:solidFill>
        </a:ln>
      </dgm:spPr>
      <dgm:t>
        <a:bodyPr/>
        <a:lstStyle/>
        <a:p>
          <a:r>
            <a:rPr lang="pt-PT" dirty="0" err="1"/>
            <a:t>Undersampling</a:t>
          </a:r>
          <a:endParaRPr lang="pt-PT" dirty="0"/>
        </a:p>
      </dgm:t>
    </dgm:pt>
    <dgm:pt modelId="{23F6C6B8-ACC2-4EBB-9354-1F30CDFBEE07}" type="parTrans" cxnId="{1AA69EF8-8E11-4F25-A286-67EA80217981}">
      <dgm:prSet/>
      <dgm:spPr/>
      <dgm:t>
        <a:bodyPr/>
        <a:lstStyle/>
        <a:p>
          <a:endParaRPr lang="pt-PT"/>
        </a:p>
      </dgm:t>
    </dgm:pt>
    <dgm:pt modelId="{A5E16723-A2AB-4CA9-9D92-16A126ED4471}" type="sibTrans" cxnId="{1AA69EF8-8E11-4F25-A286-67EA80217981}">
      <dgm:prSet/>
      <dgm:spPr/>
      <dgm:t>
        <a:bodyPr/>
        <a:lstStyle/>
        <a:p>
          <a:endParaRPr lang="pt-PT"/>
        </a:p>
      </dgm:t>
    </dgm:pt>
    <dgm:pt modelId="{DB75E8BB-31D8-4E3D-9921-998FE126A2BF}">
      <dgm:prSet phldrT="[Texto]"/>
      <dgm:spPr>
        <a:ln>
          <a:solidFill>
            <a:srgbClr val="B2CBAE"/>
          </a:solidFill>
        </a:ln>
      </dgm:spPr>
      <dgm:t>
        <a:bodyPr/>
        <a:lstStyle/>
        <a:p>
          <a:r>
            <a:rPr lang="pt-PT" dirty="0" err="1"/>
            <a:t>Random</a:t>
          </a:r>
          <a:endParaRPr lang="pt-PT" dirty="0"/>
        </a:p>
      </dgm:t>
    </dgm:pt>
    <dgm:pt modelId="{884AE26B-5594-4CA9-BB74-4C3B4CBD99BF}" type="parTrans" cxnId="{F37ECF7D-A9D0-44F0-BE41-A016B17DBEA9}">
      <dgm:prSet/>
      <dgm:spPr>
        <a:solidFill>
          <a:srgbClr val="B2CBAE"/>
        </a:solidFill>
        <a:ln>
          <a:solidFill>
            <a:srgbClr val="B2CBAE"/>
          </a:solidFill>
        </a:ln>
      </dgm:spPr>
      <dgm:t>
        <a:bodyPr/>
        <a:lstStyle/>
        <a:p>
          <a:endParaRPr lang="pt-PT"/>
        </a:p>
      </dgm:t>
    </dgm:pt>
    <dgm:pt modelId="{0AD458DB-9529-47B9-87E2-4EE4400D5254}" type="sibTrans" cxnId="{F37ECF7D-A9D0-44F0-BE41-A016B17DBEA9}">
      <dgm:prSet/>
      <dgm:spPr/>
      <dgm:t>
        <a:bodyPr/>
        <a:lstStyle/>
        <a:p>
          <a:endParaRPr lang="pt-PT"/>
        </a:p>
      </dgm:t>
    </dgm:pt>
    <dgm:pt modelId="{53303080-E681-4D5B-9F04-9B261170E3BA}">
      <dgm:prSet phldrT="[Texto]"/>
      <dgm:spPr>
        <a:solidFill>
          <a:srgbClr val="B2CBAE"/>
        </a:solidFill>
        <a:ln>
          <a:solidFill>
            <a:schemeClr val="bg1"/>
          </a:solidFill>
        </a:ln>
      </dgm:spPr>
      <dgm:t>
        <a:bodyPr/>
        <a:lstStyle/>
        <a:p>
          <a:r>
            <a:rPr lang="pt-PT" dirty="0" err="1"/>
            <a:t>Hybrid</a:t>
          </a:r>
          <a:r>
            <a:rPr lang="pt-PT" dirty="0"/>
            <a:t> </a:t>
          </a:r>
          <a:r>
            <a:rPr lang="pt-PT" dirty="0" err="1"/>
            <a:t>Techniques</a:t>
          </a:r>
          <a:endParaRPr lang="pt-PT" dirty="0"/>
        </a:p>
      </dgm:t>
    </dgm:pt>
    <dgm:pt modelId="{346A4E67-4399-4F87-8EFF-EDB127A460FA}" type="parTrans" cxnId="{B5368389-58E6-430D-8271-0EC7D63B4C29}">
      <dgm:prSet/>
      <dgm:spPr/>
      <dgm:t>
        <a:bodyPr/>
        <a:lstStyle/>
        <a:p>
          <a:endParaRPr lang="pt-PT"/>
        </a:p>
      </dgm:t>
    </dgm:pt>
    <dgm:pt modelId="{52C24D84-2CCF-4A1B-A1D3-720D70D9A4D1}" type="sibTrans" cxnId="{B5368389-58E6-430D-8271-0EC7D63B4C29}">
      <dgm:prSet/>
      <dgm:spPr/>
      <dgm:t>
        <a:bodyPr/>
        <a:lstStyle/>
        <a:p>
          <a:endParaRPr lang="pt-PT"/>
        </a:p>
      </dgm:t>
    </dgm:pt>
    <dgm:pt modelId="{56146E52-DF54-40CF-B336-390590B19F0A}">
      <dgm:prSet phldrT="[Texto]"/>
      <dgm:spPr>
        <a:ln>
          <a:solidFill>
            <a:srgbClr val="B2CBAE"/>
          </a:solidFill>
        </a:ln>
      </dgm:spPr>
      <dgm:t>
        <a:bodyPr/>
        <a:lstStyle/>
        <a:p>
          <a:r>
            <a:rPr lang="pt-PT" dirty="0"/>
            <a:t>SMOTEENN</a:t>
          </a:r>
        </a:p>
      </dgm:t>
    </dgm:pt>
    <dgm:pt modelId="{0E5D163E-A1B1-4955-87C4-5532A98C43B2}" type="parTrans" cxnId="{A1F7BF55-F98C-4802-81F5-8792A08538A4}">
      <dgm:prSet/>
      <dgm:spPr>
        <a:solidFill>
          <a:srgbClr val="B2CBAE"/>
        </a:solidFill>
        <a:ln>
          <a:solidFill>
            <a:srgbClr val="B2CBAE"/>
          </a:solidFill>
        </a:ln>
      </dgm:spPr>
      <dgm:t>
        <a:bodyPr/>
        <a:lstStyle/>
        <a:p>
          <a:endParaRPr lang="pt-PT"/>
        </a:p>
      </dgm:t>
    </dgm:pt>
    <dgm:pt modelId="{0B778ADC-DBE3-43EE-9273-9A362DD0A5DB}" type="sibTrans" cxnId="{A1F7BF55-F98C-4802-81F5-8792A08538A4}">
      <dgm:prSet/>
      <dgm:spPr/>
      <dgm:t>
        <a:bodyPr/>
        <a:lstStyle/>
        <a:p>
          <a:endParaRPr lang="pt-PT"/>
        </a:p>
      </dgm:t>
    </dgm:pt>
    <dgm:pt modelId="{B8F095A6-CBDA-49A8-B90B-01A49E48A774}">
      <dgm:prSet phldrT="[Texto]"/>
      <dgm:spPr>
        <a:ln>
          <a:solidFill>
            <a:srgbClr val="B2CBAE"/>
          </a:solidFill>
        </a:ln>
      </dgm:spPr>
      <dgm:t>
        <a:bodyPr/>
        <a:lstStyle/>
        <a:p>
          <a:r>
            <a:rPr lang="pt-PT" dirty="0" err="1"/>
            <a:t>Hybrid</a:t>
          </a:r>
          <a:r>
            <a:rPr lang="pt-PT" dirty="0"/>
            <a:t> </a:t>
          </a:r>
          <a:r>
            <a:rPr lang="pt-PT" dirty="0" err="1"/>
            <a:t>tomek</a:t>
          </a:r>
          <a:r>
            <a:rPr lang="pt-PT" dirty="0"/>
            <a:t> link BCBSMOTE</a:t>
          </a:r>
        </a:p>
      </dgm:t>
    </dgm:pt>
    <dgm:pt modelId="{1CE5FDAE-1AA7-4321-9F64-C0D76AA8E327}" type="parTrans" cxnId="{609DC120-0558-4F7D-85F8-81901B2F46A7}">
      <dgm:prSet/>
      <dgm:spPr>
        <a:solidFill>
          <a:srgbClr val="B2CBAE"/>
        </a:solidFill>
        <a:ln>
          <a:solidFill>
            <a:srgbClr val="B2CBAE"/>
          </a:solidFill>
        </a:ln>
      </dgm:spPr>
      <dgm:t>
        <a:bodyPr/>
        <a:lstStyle/>
        <a:p>
          <a:endParaRPr lang="pt-PT"/>
        </a:p>
      </dgm:t>
    </dgm:pt>
    <dgm:pt modelId="{89F4EB16-F8CA-42A1-9922-48726FF7F00B}" type="sibTrans" cxnId="{609DC120-0558-4F7D-85F8-81901B2F46A7}">
      <dgm:prSet/>
      <dgm:spPr/>
      <dgm:t>
        <a:bodyPr/>
        <a:lstStyle/>
        <a:p>
          <a:endParaRPr lang="pt-PT"/>
        </a:p>
      </dgm:t>
    </dgm:pt>
    <dgm:pt modelId="{57926B6B-25CC-4629-BA4D-C60C8F71D2D4}">
      <dgm:prSet phldrT="[Texto]"/>
      <dgm:spPr>
        <a:ln>
          <a:solidFill>
            <a:srgbClr val="B2CBAE"/>
          </a:solidFill>
        </a:ln>
      </dgm:spPr>
      <dgm:t>
        <a:bodyPr/>
        <a:lstStyle/>
        <a:p>
          <a:r>
            <a:rPr lang="pt-PT" dirty="0"/>
            <a:t>B-SMOTE</a:t>
          </a:r>
        </a:p>
      </dgm:t>
    </dgm:pt>
    <dgm:pt modelId="{2DDBB919-41A7-4268-AE90-B313BA521350}" type="parTrans" cxnId="{90480EAB-8B05-481A-BBD7-D1887EDF8C2C}">
      <dgm:prSet/>
      <dgm:spPr>
        <a:solidFill>
          <a:srgbClr val="B2CBAE"/>
        </a:solidFill>
        <a:ln>
          <a:solidFill>
            <a:srgbClr val="B2CBAE"/>
          </a:solidFill>
        </a:ln>
      </dgm:spPr>
      <dgm:t>
        <a:bodyPr/>
        <a:lstStyle/>
        <a:p>
          <a:endParaRPr lang="pt-PT"/>
        </a:p>
      </dgm:t>
    </dgm:pt>
    <dgm:pt modelId="{B754F196-E322-4BC1-9715-2F5C9A440D27}" type="sibTrans" cxnId="{90480EAB-8B05-481A-BBD7-D1887EDF8C2C}">
      <dgm:prSet/>
      <dgm:spPr/>
      <dgm:t>
        <a:bodyPr/>
        <a:lstStyle/>
        <a:p>
          <a:endParaRPr lang="pt-PT"/>
        </a:p>
      </dgm:t>
    </dgm:pt>
    <dgm:pt modelId="{63AE57A5-D035-4D6D-AD8F-BCD614E440AA}">
      <dgm:prSet phldrT="[Texto]"/>
      <dgm:spPr>
        <a:ln>
          <a:solidFill>
            <a:srgbClr val="B2CBAE"/>
          </a:solidFill>
        </a:ln>
      </dgm:spPr>
      <dgm:t>
        <a:bodyPr/>
        <a:lstStyle/>
        <a:p>
          <a:r>
            <a:rPr lang="pt-PT" dirty="0"/>
            <a:t>ADASYN</a:t>
          </a:r>
        </a:p>
      </dgm:t>
    </dgm:pt>
    <dgm:pt modelId="{5BD96F53-3831-446B-BD70-A68F21AAFF33}" type="parTrans" cxnId="{A73FA13E-7C74-4984-8BA6-43F8587FBE5E}">
      <dgm:prSet/>
      <dgm:spPr>
        <a:solidFill>
          <a:srgbClr val="B2CBAE"/>
        </a:solidFill>
        <a:ln>
          <a:solidFill>
            <a:srgbClr val="B2CBAE"/>
          </a:solidFill>
        </a:ln>
      </dgm:spPr>
      <dgm:t>
        <a:bodyPr/>
        <a:lstStyle/>
        <a:p>
          <a:endParaRPr lang="pt-PT"/>
        </a:p>
      </dgm:t>
    </dgm:pt>
    <dgm:pt modelId="{CD0AAFF1-1C96-4A5C-A190-12E5BCA55266}" type="sibTrans" cxnId="{A73FA13E-7C74-4984-8BA6-43F8587FBE5E}">
      <dgm:prSet/>
      <dgm:spPr/>
      <dgm:t>
        <a:bodyPr/>
        <a:lstStyle/>
        <a:p>
          <a:endParaRPr lang="pt-PT"/>
        </a:p>
      </dgm:t>
    </dgm:pt>
    <dgm:pt modelId="{EA824757-0D10-40EF-8172-A85E0A96802A}">
      <dgm:prSet phldrT="[Texto]"/>
      <dgm:spPr>
        <a:ln>
          <a:solidFill>
            <a:srgbClr val="B2CBAE"/>
          </a:solidFill>
        </a:ln>
      </dgm:spPr>
      <dgm:t>
        <a:bodyPr/>
        <a:lstStyle/>
        <a:p>
          <a:r>
            <a:rPr lang="pt-PT" dirty="0"/>
            <a:t>SMOTE-</a:t>
          </a:r>
          <a:r>
            <a:rPr lang="pt-PT" dirty="0" err="1"/>
            <a:t>Tomek</a:t>
          </a:r>
          <a:endParaRPr lang="pt-PT" dirty="0"/>
        </a:p>
      </dgm:t>
    </dgm:pt>
    <dgm:pt modelId="{F47B1762-09B5-4888-93EC-EC374B95232C}" type="parTrans" cxnId="{7072651A-CDF8-4D52-8DED-3EC34587FA9D}">
      <dgm:prSet/>
      <dgm:spPr>
        <a:ln>
          <a:solidFill>
            <a:srgbClr val="B2CBAE"/>
          </a:solidFill>
        </a:ln>
      </dgm:spPr>
      <dgm:t>
        <a:bodyPr/>
        <a:lstStyle/>
        <a:p>
          <a:endParaRPr lang="pt-PT"/>
        </a:p>
      </dgm:t>
    </dgm:pt>
    <dgm:pt modelId="{0627DE42-7613-4A20-AE0D-609749402BFA}" type="sibTrans" cxnId="{7072651A-CDF8-4D52-8DED-3EC34587FA9D}">
      <dgm:prSet/>
      <dgm:spPr/>
      <dgm:t>
        <a:bodyPr/>
        <a:lstStyle/>
        <a:p>
          <a:endParaRPr lang="pt-PT"/>
        </a:p>
      </dgm:t>
    </dgm:pt>
    <dgm:pt modelId="{58A0DB21-0EF3-47ED-9582-22B4F972185B}">
      <dgm:prSet phldrT="[Texto]"/>
      <dgm:spPr>
        <a:solidFill>
          <a:srgbClr val="B2CBAE"/>
        </a:solidFill>
        <a:ln>
          <a:solidFill>
            <a:schemeClr val="bg1"/>
          </a:solidFill>
        </a:ln>
      </dgm:spPr>
      <dgm:t>
        <a:bodyPr/>
        <a:lstStyle/>
        <a:p>
          <a:pPr algn="ctr"/>
          <a:r>
            <a:rPr lang="pt-PT" dirty="0" err="1"/>
            <a:t>Class</a:t>
          </a:r>
          <a:r>
            <a:rPr lang="pt-PT" dirty="0"/>
            <a:t> </a:t>
          </a:r>
          <a:r>
            <a:rPr lang="pt-PT" dirty="0" err="1"/>
            <a:t>Weights</a:t>
          </a:r>
          <a:endParaRPr lang="pt-PT" dirty="0"/>
        </a:p>
      </dgm:t>
    </dgm:pt>
    <dgm:pt modelId="{8C82231E-73BF-4518-96BB-DB37F19E33E0}" type="parTrans" cxnId="{B5B4CD98-42E8-4F3A-A5C3-9B0DB2B1F960}">
      <dgm:prSet/>
      <dgm:spPr/>
      <dgm:t>
        <a:bodyPr/>
        <a:lstStyle/>
        <a:p>
          <a:endParaRPr lang="pt-PT"/>
        </a:p>
      </dgm:t>
    </dgm:pt>
    <dgm:pt modelId="{BC3CAA36-0283-42D6-B0F7-69085AF9005D}" type="sibTrans" cxnId="{B5B4CD98-42E8-4F3A-A5C3-9B0DB2B1F960}">
      <dgm:prSet/>
      <dgm:spPr/>
      <dgm:t>
        <a:bodyPr/>
        <a:lstStyle/>
        <a:p>
          <a:endParaRPr lang="pt-PT"/>
        </a:p>
      </dgm:t>
    </dgm:pt>
    <dgm:pt modelId="{C128A9E1-F316-4CE1-BB5A-921D2ECC8695}" type="pres">
      <dgm:prSet presAssocID="{5DE70D1F-02D8-4A3B-8BAF-920279C3B0F6}" presName="diagram" presStyleCnt="0">
        <dgm:presLayoutVars>
          <dgm:chPref val="1"/>
          <dgm:dir/>
          <dgm:animOne val="branch"/>
          <dgm:animLvl val="lvl"/>
          <dgm:resizeHandles/>
        </dgm:presLayoutVars>
      </dgm:prSet>
      <dgm:spPr/>
    </dgm:pt>
    <dgm:pt modelId="{DF97CA3E-5272-4F9C-95AF-EA35C5595C7B}" type="pres">
      <dgm:prSet presAssocID="{4105C27A-F4A5-4151-A739-4DAF4F118B89}" presName="root" presStyleCnt="0"/>
      <dgm:spPr/>
    </dgm:pt>
    <dgm:pt modelId="{F51DD77C-EE59-48D7-8FDF-C57A034353A1}" type="pres">
      <dgm:prSet presAssocID="{4105C27A-F4A5-4151-A739-4DAF4F118B89}" presName="rootComposite" presStyleCnt="0"/>
      <dgm:spPr/>
    </dgm:pt>
    <dgm:pt modelId="{C5604ECB-4171-407F-8401-68A5BAE7FD88}" type="pres">
      <dgm:prSet presAssocID="{4105C27A-F4A5-4151-A739-4DAF4F118B89}" presName="rootText" presStyleLbl="node1" presStyleIdx="0" presStyleCnt="4"/>
      <dgm:spPr/>
    </dgm:pt>
    <dgm:pt modelId="{4CEB5508-F00C-413D-80A3-AAB825CF7BC0}" type="pres">
      <dgm:prSet presAssocID="{4105C27A-F4A5-4151-A739-4DAF4F118B89}" presName="rootConnector" presStyleLbl="node1" presStyleIdx="0" presStyleCnt="4"/>
      <dgm:spPr/>
    </dgm:pt>
    <dgm:pt modelId="{C2C3661C-F00C-41E0-9BC8-846C3C352A1B}" type="pres">
      <dgm:prSet presAssocID="{4105C27A-F4A5-4151-A739-4DAF4F118B89}" presName="childShape" presStyleCnt="0"/>
      <dgm:spPr/>
    </dgm:pt>
    <dgm:pt modelId="{BB80B84A-11A3-46CA-85C6-6771345576DC}" type="pres">
      <dgm:prSet presAssocID="{FBD357E1-CB20-46F1-A4EE-FAD088626AA6}" presName="Name13" presStyleLbl="parChTrans1D2" presStyleIdx="0" presStyleCnt="8"/>
      <dgm:spPr/>
    </dgm:pt>
    <dgm:pt modelId="{9EBE1845-7C66-42B1-A4B8-56D3E5BEA790}" type="pres">
      <dgm:prSet presAssocID="{40F1C0BA-8F72-405C-A0B4-27501C1459D9}" presName="childText" presStyleLbl="bgAcc1" presStyleIdx="0" presStyleCnt="8">
        <dgm:presLayoutVars>
          <dgm:bulletEnabled val="1"/>
        </dgm:presLayoutVars>
      </dgm:prSet>
      <dgm:spPr/>
    </dgm:pt>
    <dgm:pt modelId="{9DF21943-462E-4F1B-A851-952471B53290}" type="pres">
      <dgm:prSet presAssocID="{61E6745F-4BE1-4C9C-8C1E-99483B9B519D}" presName="Name13" presStyleLbl="parChTrans1D2" presStyleIdx="1" presStyleCnt="8"/>
      <dgm:spPr/>
    </dgm:pt>
    <dgm:pt modelId="{9D0E15D2-6CF5-4292-926A-2127507D354A}" type="pres">
      <dgm:prSet presAssocID="{2FB6B3C4-91D5-4664-8B78-6279CDF603BD}" presName="childText" presStyleLbl="bgAcc1" presStyleIdx="1" presStyleCnt="8">
        <dgm:presLayoutVars>
          <dgm:bulletEnabled val="1"/>
        </dgm:presLayoutVars>
      </dgm:prSet>
      <dgm:spPr/>
    </dgm:pt>
    <dgm:pt modelId="{DCCC1CB5-1921-4B0B-9C42-CE61EA8E62DB}" type="pres">
      <dgm:prSet presAssocID="{2DDBB919-41A7-4268-AE90-B313BA521350}" presName="Name13" presStyleLbl="parChTrans1D2" presStyleIdx="2" presStyleCnt="8"/>
      <dgm:spPr/>
    </dgm:pt>
    <dgm:pt modelId="{661FAFF1-4AE8-4C2E-812C-6A733318CE16}" type="pres">
      <dgm:prSet presAssocID="{57926B6B-25CC-4629-BA4D-C60C8F71D2D4}" presName="childText" presStyleLbl="bgAcc1" presStyleIdx="2" presStyleCnt="8">
        <dgm:presLayoutVars>
          <dgm:bulletEnabled val="1"/>
        </dgm:presLayoutVars>
      </dgm:prSet>
      <dgm:spPr/>
    </dgm:pt>
    <dgm:pt modelId="{AB5CF177-3AC9-4C10-A53A-08B085AD18A7}" type="pres">
      <dgm:prSet presAssocID="{5BD96F53-3831-446B-BD70-A68F21AAFF33}" presName="Name13" presStyleLbl="parChTrans1D2" presStyleIdx="3" presStyleCnt="8"/>
      <dgm:spPr/>
    </dgm:pt>
    <dgm:pt modelId="{BCD3D389-1A79-4FE0-8422-2D4062BAB6B7}" type="pres">
      <dgm:prSet presAssocID="{63AE57A5-D035-4D6D-AD8F-BCD614E440AA}" presName="childText" presStyleLbl="bgAcc1" presStyleIdx="3" presStyleCnt="8">
        <dgm:presLayoutVars>
          <dgm:bulletEnabled val="1"/>
        </dgm:presLayoutVars>
      </dgm:prSet>
      <dgm:spPr/>
    </dgm:pt>
    <dgm:pt modelId="{940FCE29-4C82-4823-B3A9-A72AF7BDCD5D}" type="pres">
      <dgm:prSet presAssocID="{413317AC-93D5-467D-B9E3-60CB61817D1F}" presName="root" presStyleCnt="0"/>
      <dgm:spPr/>
    </dgm:pt>
    <dgm:pt modelId="{DCB48EAF-DA3F-4561-8576-EF0ACFBD7851}" type="pres">
      <dgm:prSet presAssocID="{413317AC-93D5-467D-B9E3-60CB61817D1F}" presName="rootComposite" presStyleCnt="0"/>
      <dgm:spPr/>
    </dgm:pt>
    <dgm:pt modelId="{AFB2C5D0-70ED-4763-AF56-7323923B810A}" type="pres">
      <dgm:prSet presAssocID="{413317AC-93D5-467D-B9E3-60CB61817D1F}" presName="rootText" presStyleLbl="node1" presStyleIdx="1" presStyleCnt="4"/>
      <dgm:spPr/>
    </dgm:pt>
    <dgm:pt modelId="{04B853C0-668F-42D5-8DD6-86FEC2AF7634}" type="pres">
      <dgm:prSet presAssocID="{413317AC-93D5-467D-B9E3-60CB61817D1F}" presName="rootConnector" presStyleLbl="node1" presStyleIdx="1" presStyleCnt="4"/>
      <dgm:spPr/>
    </dgm:pt>
    <dgm:pt modelId="{5294A6DB-4694-45E5-B098-E357D359DCEC}" type="pres">
      <dgm:prSet presAssocID="{413317AC-93D5-467D-B9E3-60CB61817D1F}" presName="childShape" presStyleCnt="0"/>
      <dgm:spPr/>
    </dgm:pt>
    <dgm:pt modelId="{7CF7A6A1-FB7F-4CDC-9968-1C0ECA0BD9CC}" type="pres">
      <dgm:prSet presAssocID="{884AE26B-5594-4CA9-BB74-4C3B4CBD99BF}" presName="Name13" presStyleLbl="parChTrans1D2" presStyleIdx="4" presStyleCnt="8"/>
      <dgm:spPr/>
    </dgm:pt>
    <dgm:pt modelId="{534FA957-2247-4669-A5BB-5661B56467E8}" type="pres">
      <dgm:prSet presAssocID="{DB75E8BB-31D8-4E3D-9921-998FE126A2BF}" presName="childText" presStyleLbl="bgAcc1" presStyleIdx="4" presStyleCnt="8">
        <dgm:presLayoutVars>
          <dgm:bulletEnabled val="1"/>
        </dgm:presLayoutVars>
      </dgm:prSet>
      <dgm:spPr/>
    </dgm:pt>
    <dgm:pt modelId="{29D6B911-A325-436D-B344-D6A8EB5006FC}" type="pres">
      <dgm:prSet presAssocID="{53303080-E681-4D5B-9F04-9B261170E3BA}" presName="root" presStyleCnt="0"/>
      <dgm:spPr/>
    </dgm:pt>
    <dgm:pt modelId="{6C61EE5F-8D14-4EB0-859F-23C1DAA2297B}" type="pres">
      <dgm:prSet presAssocID="{53303080-E681-4D5B-9F04-9B261170E3BA}" presName="rootComposite" presStyleCnt="0"/>
      <dgm:spPr/>
    </dgm:pt>
    <dgm:pt modelId="{355D2C17-2A25-4BEA-8D5F-70BB48078438}" type="pres">
      <dgm:prSet presAssocID="{53303080-E681-4D5B-9F04-9B261170E3BA}" presName="rootText" presStyleLbl="node1" presStyleIdx="2" presStyleCnt="4"/>
      <dgm:spPr/>
    </dgm:pt>
    <dgm:pt modelId="{9A106A06-FB9B-4976-BE32-BEB93A11164B}" type="pres">
      <dgm:prSet presAssocID="{53303080-E681-4D5B-9F04-9B261170E3BA}" presName="rootConnector" presStyleLbl="node1" presStyleIdx="2" presStyleCnt="4"/>
      <dgm:spPr/>
    </dgm:pt>
    <dgm:pt modelId="{F21B5B79-8208-4226-9999-D9C71FA4CF55}" type="pres">
      <dgm:prSet presAssocID="{53303080-E681-4D5B-9F04-9B261170E3BA}" presName="childShape" presStyleCnt="0"/>
      <dgm:spPr/>
    </dgm:pt>
    <dgm:pt modelId="{DCE9C613-BCC4-4D36-821C-BEB08509204B}" type="pres">
      <dgm:prSet presAssocID="{0E5D163E-A1B1-4955-87C4-5532A98C43B2}" presName="Name13" presStyleLbl="parChTrans1D2" presStyleIdx="5" presStyleCnt="8"/>
      <dgm:spPr/>
    </dgm:pt>
    <dgm:pt modelId="{18586E38-798E-4B22-BD8D-E7781F8E6C57}" type="pres">
      <dgm:prSet presAssocID="{56146E52-DF54-40CF-B336-390590B19F0A}" presName="childText" presStyleLbl="bgAcc1" presStyleIdx="5" presStyleCnt="8">
        <dgm:presLayoutVars>
          <dgm:bulletEnabled val="1"/>
        </dgm:presLayoutVars>
      </dgm:prSet>
      <dgm:spPr/>
    </dgm:pt>
    <dgm:pt modelId="{80753F40-800E-4C2B-846A-CB0D40529C6E}" type="pres">
      <dgm:prSet presAssocID="{1CE5FDAE-1AA7-4321-9F64-C0D76AA8E327}" presName="Name13" presStyleLbl="parChTrans1D2" presStyleIdx="6" presStyleCnt="8"/>
      <dgm:spPr/>
    </dgm:pt>
    <dgm:pt modelId="{9D790C94-666C-418A-838F-27814B8450FF}" type="pres">
      <dgm:prSet presAssocID="{B8F095A6-CBDA-49A8-B90B-01A49E48A774}" presName="childText" presStyleLbl="bgAcc1" presStyleIdx="6" presStyleCnt="8">
        <dgm:presLayoutVars>
          <dgm:bulletEnabled val="1"/>
        </dgm:presLayoutVars>
      </dgm:prSet>
      <dgm:spPr/>
    </dgm:pt>
    <dgm:pt modelId="{276E3F12-734F-4E91-81E8-C36DA205116D}" type="pres">
      <dgm:prSet presAssocID="{F47B1762-09B5-4888-93EC-EC374B95232C}" presName="Name13" presStyleLbl="parChTrans1D2" presStyleIdx="7" presStyleCnt="8"/>
      <dgm:spPr/>
    </dgm:pt>
    <dgm:pt modelId="{C8E12BB1-FF21-4C0C-BDD7-906DBDB4B7B9}" type="pres">
      <dgm:prSet presAssocID="{EA824757-0D10-40EF-8172-A85E0A96802A}" presName="childText" presStyleLbl="bgAcc1" presStyleIdx="7" presStyleCnt="8">
        <dgm:presLayoutVars>
          <dgm:bulletEnabled val="1"/>
        </dgm:presLayoutVars>
      </dgm:prSet>
      <dgm:spPr/>
    </dgm:pt>
    <dgm:pt modelId="{E203ABEF-4CDD-458B-A7BE-950D565DDF23}" type="pres">
      <dgm:prSet presAssocID="{58A0DB21-0EF3-47ED-9582-22B4F972185B}" presName="root" presStyleCnt="0"/>
      <dgm:spPr/>
    </dgm:pt>
    <dgm:pt modelId="{9D0E4E80-5B7B-424F-8BBA-95B14DF88B10}" type="pres">
      <dgm:prSet presAssocID="{58A0DB21-0EF3-47ED-9582-22B4F972185B}" presName="rootComposite" presStyleCnt="0"/>
      <dgm:spPr/>
    </dgm:pt>
    <dgm:pt modelId="{593BA8EB-2266-40D6-ADBA-E46833ACEB90}" type="pres">
      <dgm:prSet presAssocID="{58A0DB21-0EF3-47ED-9582-22B4F972185B}" presName="rootText" presStyleLbl="node1" presStyleIdx="3" presStyleCnt="4"/>
      <dgm:spPr/>
    </dgm:pt>
    <dgm:pt modelId="{D898CCC9-8E7B-4A00-ADE7-52F24D81B452}" type="pres">
      <dgm:prSet presAssocID="{58A0DB21-0EF3-47ED-9582-22B4F972185B}" presName="rootConnector" presStyleLbl="node1" presStyleIdx="3" presStyleCnt="4"/>
      <dgm:spPr/>
    </dgm:pt>
    <dgm:pt modelId="{E95C5772-2C4D-441F-8117-CA74B2A358CD}" type="pres">
      <dgm:prSet presAssocID="{58A0DB21-0EF3-47ED-9582-22B4F972185B}" presName="childShape" presStyleCnt="0"/>
      <dgm:spPr/>
    </dgm:pt>
  </dgm:ptLst>
  <dgm:cxnLst>
    <dgm:cxn modelId="{1578EB04-2425-49B4-A9E9-2F692FA8BF41}" type="presOf" srcId="{53303080-E681-4D5B-9F04-9B261170E3BA}" destId="{355D2C17-2A25-4BEA-8D5F-70BB48078438}" srcOrd="0" destOrd="0" presId="urn:microsoft.com/office/officeart/2005/8/layout/hierarchy3"/>
    <dgm:cxn modelId="{14AEB314-3034-4708-A591-B3F8F5063CE6}" type="presOf" srcId="{40F1C0BA-8F72-405C-A0B4-27501C1459D9}" destId="{9EBE1845-7C66-42B1-A4B8-56D3E5BEA790}" srcOrd="0" destOrd="0" presId="urn:microsoft.com/office/officeart/2005/8/layout/hierarchy3"/>
    <dgm:cxn modelId="{7072651A-CDF8-4D52-8DED-3EC34587FA9D}" srcId="{53303080-E681-4D5B-9F04-9B261170E3BA}" destId="{EA824757-0D10-40EF-8172-A85E0A96802A}" srcOrd="2" destOrd="0" parTransId="{F47B1762-09B5-4888-93EC-EC374B95232C}" sibTransId="{0627DE42-7613-4A20-AE0D-609749402BFA}"/>
    <dgm:cxn modelId="{609DC120-0558-4F7D-85F8-81901B2F46A7}" srcId="{53303080-E681-4D5B-9F04-9B261170E3BA}" destId="{B8F095A6-CBDA-49A8-B90B-01A49E48A774}" srcOrd="1" destOrd="0" parTransId="{1CE5FDAE-1AA7-4321-9F64-C0D76AA8E327}" sibTransId="{89F4EB16-F8CA-42A1-9922-48726FF7F00B}"/>
    <dgm:cxn modelId="{F5A0C324-A330-4211-88E1-6293CD593498}" type="presOf" srcId="{53303080-E681-4D5B-9F04-9B261170E3BA}" destId="{9A106A06-FB9B-4976-BE32-BEB93A11164B}" srcOrd="1" destOrd="0" presId="urn:microsoft.com/office/officeart/2005/8/layout/hierarchy3"/>
    <dgm:cxn modelId="{02BA5532-3245-484A-96CA-E4BFCF3D0DE7}" type="presOf" srcId="{1CE5FDAE-1AA7-4321-9F64-C0D76AA8E327}" destId="{80753F40-800E-4C2B-846A-CB0D40529C6E}" srcOrd="0" destOrd="0" presId="urn:microsoft.com/office/officeart/2005/8/layout/hierarchy3"/>
    <dgm:cxn modelId="{A73FA13E-7C74-4984-8BA6-43F8587FBE5E}" srcId="{4105C27A-F4A5-4151-A739-4DAF4F118B89}" destId="{63AE57A5-D035-4D6D-AD8F-BCD614E440AA}" srcOrd="3" destOrd="0" parTransId="{5BD96F53-3831-446B-BD70-A68F21AAFF33}" sibTransId="{CD0AAFF1-1C96-4A5C-A190-12E5BCA55266}"/>
    <dgm:cxn modelId="{D7ECA064-E9AE-4D4E-A193-BA0A9B48F6BE}" type="presOf" srcId="{884AE26B-5594-4CA9-BB74-4C3B4CBD99BF}" destId="{7CF7A6A1-FB7F-4CDC-9968-1C0ECA0BD9CC}" srcOrd="0" destOrd="0" presId="urn:microsoft.com/office/officeart/2005/8/layout/hierarchy3"/>
    <dgm:cxn modelId="{88179267-2224-4E85-A6CE-F5DBECFF0DA7}" type="presOf" srcId="{F47B1762-09B5-4888-93EC-EC374B95232C}" destId="{276E3F12-734F-4E91-81E8-C36DA205116D}" srcOrd="0" destOrd="0" presId="urn:microsoft.com/office/officeart/2005/8/layout/hierarchy3"/>
    <dgm:cxn modelId="{FED15949-5442-40A3-98C4-55DEC973D47B}" type="presOf" srcId="{413317AC-93D5-467D-B9E3-60CB61817D1F}" destId="{AFB2C5D0-70ED-4763-AF56-7323923B810A}" srcOrd="0" destOrd="0" presId="urn:microsoft.com/office/officeart/2005/8/layout/hierarchy3"/>
    <dgm:cxn modelId="{5D076F6D-5F15-47AE-8351-2837516CED3E}" type="presOf" srcId="{0E5D163E-A1B1-4955-87C4-5532A98C43B2}" destId="{DCE9C613-BCC4-4D36-821C-BEB08509204B}" srcOrd="0" destOrd="0" presId="urn:microsoft.com/office/officeart/2005/8/layout/hierarchy3"/>
    <dgm:cxn modelId="{F5C66E50-8DA5-4812-A18D-811D0594770D}" type="presOf" srcId="{DB75E8BB-31D8-4E3D-9921-998FE126A2BF}" destId="{534FA957-2247-4669-A5BB-5661B56467E8}" srcOrd="0" destOrd="0" presId="urn:microsoft.com/office/officeart/2005/8/layout/hierarchy3"/>
    <dgm:cxn modelId="{DE507A51-2DCF-4911-8F1A-B3778E953B92}" type="presOf" srcId="{4105C27A-F4A5-4151-A739-4DAF4F118B89}" destId="{4CEB5508-F00C-413D-80A3-AAB825CF7BC0}" srcOrd="1" destOrd="0" presId="urn:microsoft.com/office/officeart/2005/8/layout/hierarchy3"/>
    <dgm:cxn modelId="{0997BB55-E502-4611-A1E7-8DF3AB3B0067}" type="presOf" srcId="{2FB6B3C4-91D5-4664-8B78-6279CDF603BD}" destId="{9D0E15D2-6CF5-4292-926A-2127507D354A}" srcOrd="0" destOrd="0" presId="urn:microsoft.com/office/officeart/2005/8/layout/hierarchy3"/>
    <dgm:cxn modelId="{A1F7BF55-F98C-4802-81F5-8792A08538A4}" srcId="{53303080-E681-4D5B-9F04-9B261170E3BA}" destId="{56146E52-DF54-40CF-B336-390590B19F0A}" srcOrd="0" destOrd="0" parTransId="{0E5D163E-A1B1-4955-87C4-5532A98C43B2}" sibTransId="{0B778ADC-DBE3-43EE-9273-9A362DD0A5DB}"/>
    <dgm:cxn modelId="{3AE09E58-D103-4AEF-88F7-9F8A6814BAED}" type="presOf" srcId="{56146E52-DF54-40CF-B336-390590B19F0A}" destId="{18586E38-798E-4B22-BD8D-E7781F8E6C57}" srcOrd="0" destOrd="0" presId="urn:microsoft.com/office/officeart/2005/8/layout/hierarchy3"/>
    <dgm:cxn modelId="{0D64DD7A-597A-4210-A17F-7612D8A2F5EE}" srcId="{4105C27A-F4A5-4151-A739-4DAF4F118B89}" destId="{2FB6B3C4-91D5-4664-8B78-6279CDF603BD}" srcOrd="1" destOrd="0" parTransId="{61E6745F-4BE1-4C9C-8C1E-99483B9B519D}" sibTransId="{A28E2787-F453-41A6-B015-A8B4E0C91BE6}"/>
    <dgm:cxn modelId="{F37ECF7D-A9D0-44F0-BE41-A016B17DBEA9}" srcId="{413317AC-93D5-467D-B9E3-60CB61817D1F}" destId="{DB75E8BB-31D8-4E3D-9921-998FE126A2BF}" srcOrd="0" destOrd="0" parTransId="{884AE26B-5594-4CA9-BB74-4C3B4CBD99BF}" sibTransId="{0AD458DB-9529-47B9-87E2-4EE4400D5254}"/>
    <dgm:cxn modelId="{25840C80-43B3-4416-89C6-C138C973F2F2}" type="presOf" srcId="{FBD357E1-CB20-46F1-A4EE-FAD088626AA6}" destId="{BB80B84A-11A3-46CA-85C6-6771345576DC}" srcOrd="0" destOrd="0" presId="urn:microsoft.com/office/officeart/2005/8/layout/hierarchy3"/>
    <dgm:cxn modelId="{A2509E84-121C-4D92-A7C0-2AEF7144A2F6}" type="presOf" srcId="{58A0DB21-0EF3-47ED-9582-22B4F972185B}" destId="{593BA8EB-2266-40D6-ADBA-E46833ACEB90}" srcOrd="0" destOrd="0" presId="urn:microsoft.com/office/officeart/2005/8/layout/hierarchy3"/>
    <dgm:cxn modelId="{79AF2E85-AB50-4588-BA52-C67E18AD41FB}" type="presOf" srcId="{57926B6B-25CC-4629-BA4D-C60C8F71D2D4}" destId="{661FAFF1-4AE8-4C2E-812C-6A733318CE16}" srcOrd="0" destOrd="0" presId="urn:microsoft.com/office/officeart/2005/8/layout/hierarchy3"/>
    <dgm:cxn modelId="{B5368389-58E6-430D-8271-0EC7D63B4C29}" srcId="{5DE70D1F-02D8-4A3B-8BAF-920279C3B0F6}" destId="{53303080-E681-4D5B-9F04-9B261170E3BA}" srcOrd="2" destOrd="0" parTransId="{346A4E67-4399-4F87-8EFF-EDB127A460FA}" sibTransId="{52C24D84-2CCF-4A1B-A1D3-720D70D9A4D1}"/>
    <dgm:cxn modelId="{5652C28F-6D68-4E77-8FB6-0BF90F3DA5CC}" type="presOf" srcId="{EA824757-0D10-40EF-8172-A85E0A96802A}" destId="{C8E12BB1-FF21-4C0C-BDD7-906DBDB4B7B9}" srcOrd="0" destOrd="0" presId="urn:microsoft.com/office/officeart/2005/8/layout/hierarchy3"/>
    <dgm:cxn modelId="{60342398-91D3-4746-B431-2AD79082071F}" srcId="{4105C27A-F4A5-4151-A739-4DAF4F118B89}" destId="{40F1C0BA-8F72-405C-A0B4-27501C1459D9}" srcOrd="0" destOrd="0" parTransId="{FBD357E1-CB20-46F1-A4EE-FAD088626AA6}" sibTransId="{7D58E46F-F31F-48E9-BCDD-B7964F783C05}"/>
    <dgm:cxn modelId="{B5B4CD98-42E8-4F3A-A5C3-9B0DB2B1F960}" srcId="{5DE70D1F-02D8-4A3B-8BAF-920279C3B0F6}" destId="{58A0DB21-0EF3-47ED-9582-22B4F972185B}" srcOrd="3" destOrd="0" parTransId="{8C82231E-73BF-4518-96BB-DB37F19E33E0}" sibTransId="{BC3CAA36-0283-42D6-B0F7-69085AF9005D}"/>
    <dgm:cxn modelId="{AD8C8A9A-3BB2-4DD0-B7BE-439D60A3A0B2}" type="presOf" srcId="{B8F095A6-CBDA-49A8-B90B-01A49E48A774}" destId="{9D790C94-666C-418A-838F-27814B8450FF}" srcOrd="0" destOrd="0" presId="urn:microsoft.com/office/officeart/2005/8/layout/hierarchy3"/>
    <dgm:cxn modelId="{171A589C-A99D-465C-A27F-5881A9C4E841}" type="presOf" srcId="{58A0DB21-0EF3-47ED-9582-22B4F972185B}" destId="{D898CCC9-8E7B-4A00-ADE7-52F24D81B452}" srcOrd="1" destOrd="0" presId="urn:microsoft.com/office/officeart/2005/8/layout/hierarchy3"/>
    <dgm:cxn modelId="{20F0F5A7-E24A-4069-A427-FB652D5E6638}" type="presOf" srcId="{2DDBB919-41A7-4268-AE90-B313BA521350}" destId="{DCCC1CB5-1921-4B0B-9C42-CE61EA8E62DB}" srcOrd="0" destOrd="0" presId="urn:microsoft.com/office/officeart/2005/8/layout/hierarchy3"/>
    <dgm:cxn modelId="{90480EAB-8B05-481A-BBD7-D1887EDF8C2C}" srcId="{4105C27A-F4A5-4151-A739-4DAF4F118B89}" destId="{57926B6B-25CC-4629-BA4D-C60C8F71D2D4}" srcOrd="2" destOrd="0" parTransId="{2DDBB919-41A7-4268-AE90-B313BA521350}" sibTransId="{B754F196-E322-4BC1-9715-2F5C9A440D27}"/>
    <dgm:cxn modelId="{20505BB5-8C7A-4661-A6E3-76EAC63B10C9}" type="presOf" srcId="{61E6745F-4BE1-4C9C-8C1E-99483B9B519D}" destId="{9DF21943-462E-4F1B-A851-952471B53290}" srcOrd="0" destOrd="0" presId="urn:microsoft.com/office/officeart/2005/8/layout/hierarchy3"/>
    <dgm:cxn modelId="{1D6DDEB7-31FC-4D95-A7B1-0E2EC71FD2D6}" type="presOf" srcId="{413317AC-93D5-467D-B9E3-60CB61817D1F}" destId="{04B853C0-668F-42D5-8DD6-86FEC2AF7634}" srcOrd="1" destOrd="0" presId="urn:microsoft.com/office/officeart/2005/8/layout/hierarchy3"/>
    <dgm:cxn modelId="{FB1327CC-F833-4A38-8848-ED814ED0F5ED}" type="presOf" srcId="{4105C27A-F4A5-4151-A739-4DAF4F118B89}" destId="{C5604ECB-4171-407F-8401-68A5BAE7FD88}" srcOrd="0" destOrd="0" presId="urn:microsoft.com/office/officeart/2005/8/layout/hierarchy3"/>
    <dgm:cxn modelId="{9D5FFAD9-F76B-4D6B-B1DC-2EB2D37FDF15}" type="presOf" srcId="{5DE70D1F-02D8-4A3B-8BAF-920279C3B0F6}" destId="{C128A9E1-F316-4CE1-BB5A-921D2ECC8695}" srcOrd="0" destOrd="0" presId="urn:microsoft.com/office/officeart/2005/8/layout/hierarchy3"/>
    <dgm:cxn modelId="{C42592DF-A1AA-4F99-9B02-542820FC99C3}" type="presOf" srcId="{63AE57A5-D035-4D6D-AD8F-BCD614E440AA}" destId="{BCD3D389-1A79-4FE0-8422-2D4062BAB6B7}" srcOrd="0" destOrd="0" presId="urn:microsoft.com/office/officeart/2005/8/layout/hierarchy3"/>
    <dgm:cxn modelId="{D95957E6-484D-413E-A900-E786AFB94FD5}" srcId="{5DE70D1F-02D8-4A3B-8BAF-920279C3B0F6}" destId="{4105C27A-F4A5-4151-A739-4DAF4F118B89}" srcOrd="0" destOrd="0" parTransId="{3B039841-B25E-4DC2-A972-372F6B77AE4E}" sibTransId="{5952DE77-A64C-4A00-B01A-C54738856AA9}"/>
    <dgm:cxn modelId="{CF8FC8ED-ED69-4A49-AFC3-996864D4901E}" type="presOf" srcId="{5BD96F53-3831-446B-BD70-A68F21AAFF33}" destId="{AB5CF177-3AC9-4C10-A53A-08B085AD18A7}" srcOrd="0" destOrd="0" presId="urn:microsoft.com/office/officeart/2005/8/layout/hierarchy3"/>
    <dgm:cxn modelId="{1AA69EF8-8E11-4F25-A286-67EA80217981}" srcId="{5DE70D1F-02D8-4A3B-8BAF-920279C3B0F6}" destId="{413317AC-93D5-467D-B9E3-60CB61817D1F}" srcOrd="1" destOrd="0" parTransId="{23F6C6B8-ACC2-4EBB-9354-1F30CDFBEE07}" sibTransId="{A5E16723-A2AB-4CA9-9D92-16A126ED4471}"/>
    <dgm:cxn modelId="{E220FC45-9CD9-4DEE-9933-6FB0E175E08C}" type="presParOf" srcId="{C128A9E1-F316-4CE1-BB5A-921D2ECC8695}" destId="{DF97CA3E-5272-4F9C-95AF-EA35C5595C7B}" srcOrd="0" destOrd="0" presId="urn:microsoft.com/office/officeart/2005/8/layout/hierarchy3"/>
    <dgm:cxn modelId="{B4936B40-0FB9-4D71-9131-3402EE641FB0}" type="presParOf" srcId="{DF97CA3E-5272-4F9C-95AF-EA35C5595C7B}" destId="{F51DD77C-EE59-48D7-8FDF-C57A034353A1}" srcOrd="0" destOrd="0" presId="urn:microsoft.com/office/officeart/2005/8/layout/hierarchy3"/>
    <dgm:cxn modelId="{F5D5D770-35AE-4B8F-BC29-2DFA4FCB85A2}" type="presParOf" srcId="{F51DD77C-EE59-48D7-8FDF-C57A034353A1}" destId="{C5604ECB-4171-407F-8401-68A5BAE7FD88}" srcOrd="0" destOrd="0" presId="urn:microsoft.com/office/officeart/2005/8/layout/hierarchy3"/>
    <dgm:cxn modelId="{AD1E3FBA-45AA-43E7-98CA-BE67CD437616}" type="presParOf" srcId="{F51DD77C-EE59-48D7-8FDF-C57A034353A1}" destId="{4CEB5508-F00C-413D-80A3-AAB825CF7BC0}" srcOrd="1" destOrd="0" presId="urn:microsoft.com/office/officeart/2005/8/layout/hierarchy3"/>
    <dgm:cxn modelId="{808B6D6B-0F28-4F13-BFFA-DFFF38901B09}" type="presParOf" srcId="{DF97CA3E-5272-4F9C-95AF-EA35C5595C7B}" destId="{C2C3661C-F00C-41E0-9BC8-846C3C352A1B}" srcOrd="1" destOrd="0" presId="urn:microsoft.com/office/officeart/2005/8/layout/hierarchy3"/>
    <dgm:cxn modelId="{D92FF386-3E38-4DAA-88DC-7DAB7A0EB38E}" type="presParOf" srcId="{C2C3661C-F00C-41E0-9BC8-846C3C352A1B}" destId="{BB80B84A-11A3-46CA-85C6-6771345576DC}" srcOrd="0" destOrd="0" presId="urn:microsoft.com/office/officeart/2005/8/layout/hierarchy3"/>
    <dgm:cxn modelId="{6CB8C940-B41C-4647-80AB-61E714AFA37B}" type="presParOf" srcId="{C2C3661C-F00C-41E0-9BC8-846C3C352A1B}" destId="{9EBE1845-7C66-42B1-A4B8-56D3E5BEA790}" srcOrd="1" destOrd="0" presId="urn:microsoft.com/office/officeart/2005/8/layout/hierarchy3"/>
    <dgm:cxn modelId="{A7B24A3B-901F-4405-9C9F-ABB477DE8B4A}" type="presParOf" srcId="{C2C3661C-F00C-41E0-9BC8-846C3C352A1B}" destId="{9DF21943-462E-4F1B-A851-952471B53290}" srcOrd="2" destOrd="0" presId="urn:microsoft.com/office/officeart/2005/8/layout/hierarchy3"/>
    <dgm:cxn modelId="{201D22BA-9B9B-46BF-9F78-2997C57D41CC}" type="presParOf" srcId="{C2C3661C-F00C-41E0-9BC8-846C3C352A1B}" destId="{9D0E15D2-6CF5-4292-926A-2127507D354A}" srcOrd="3" destOrd="0" presId="urn:microsoft.com/office/officeart/2005/8/layout/hierarchy3"/>
    <dgm:cxn modelId="{D5B50948-94D8-47A4-BFCD-D2C94920DEB4}" type="presParOf" srcId="{C2C3661C-F00C-41E0-9BC8-846C3C352A1B}" destId="{DCCC1CB5-1921-4B0B-9C42-CE61EA8E62DB}" srcOrd="4" destOrd="0" presId="urn:microsoft.com/office/officeart/2005/8/layout/hierarchy3"/>
    <dgm:cxn modelId="{7EDBFA6E-0565-419F-9C8A-1751E0E04253}" type="presParOf" srcId="{C2C3661C-F00C-41E0-9BC8-846C3C352A1B}" destId="{661FAFF1-4AE8-4C2E-812C-6A733318CE16}" srcOrd="5" destOrd="0" presId="urn:microsoft.com/office/officeart/2005/8/layout/hierarchy3"/>
    <dgm:cxn modelId="{3483A968-3CE3-42DE-8EBA-524F3B31A944}" type="presParOf" srcId="{C2C3661C-F00C-41E0-9BC8-846C3C352A1B}" destId="{AB5CF177-3AC9-4C10-A53A-08B085AD18A7}" srcOrd="6" destOrd="0" presId="urn:microsoft.com/office/officeart/2005/8/layout/hierarchy3"/>
    <dgm:cxn modelId="{1687FA03-9E2F-47D6-80AA-6A49056DA5DB}" type="presParOf" srcId="{C2C3661C-F00C-41E0-9BC8-846C3C352A1B}" destId="{BCD3D389-1A79-4FE0-8422-2D4062BAB6B7}" srcOrd="7" destOrd="0" presId="urn:microsoft.com/office/officeart/2005/8/layout/hierarchy3"/>
    <dgm:cxn modelId="{E7C0586C-094A-4E84-B67B-C6170A8F2017}" type="presParOf" srcId="{C128A9E1-F316-4CE1-BB5A-921D2ECC8695}" destId="{940FCE29-4C82-4823-B3A9-A72AF7BDCD5D}" srcOrd="1" destOrd="0" presId="urn:microsoft.com/office/officeart/2005/8/layout/hierarchy3"/>
    <dgm:cxn modelId="{13A4DB56-FC82-44D3-B2B8-5CC6CE68D11D}" type="presParOf" srcId="{940FCE29-4C82-4823-B3A9-A72AF7BDCD5D}" destId="{DCB48EAF-DA3F-4561-8576-EF0ACFBD7851}" srcOrd="0" destOrd="0" presId="urn:microsoft.com/office/officeart/2005/8/layout/hierarchy3"/>
    <dgm:cxn modelId="{3EA68EAE-CEA7-4BF7-82CA-6646B0AC2549}" type="presParOf" srcId="{DCB48EAF-DA3F-4561-8576-EF0ACFBD7851}" destId="{AFB2C5D0-70ED-4763-AF56-7323923B810A}" srcOrd="0" destOrd="0" presId="urn:microsoft.com/office/officeart/2005/8/layout/hierarchy3"/>
    <dgm:cxn modelId="{9510C92A-FDD9-44A0-A122-B460C6DA042D}" type="presParOf" srcId="{DCB48EAF-DA3F-4561-8576-EF0ACFBD7851}" destId="{04B853C0-668F-42D5-8DD6-86FEC2AF7634}" srcOrd="1" destOrd="0" presId="urn:microsoft.com/office/officeart/2005/8/layout/hierarchy3"/>
    <dgm:cxn modelId="{BC03EBB5-7B82-4744-9417-84B000543BDA}" type="presParOf" srcId="{940FCE29-4C82-4823-B3A9-A72AF7BDCD5D}" destId="{5294A6DB-4694-45E5-B098-E357D359DCEC}" srcOrd="1" destOrd="0" presId="urn:microsoft.com/office/officeart/2005/8/layout/hierarchy3"/>
    <dgm:cxn modelId="{32FCC515-998A-4422-8EAF-A31D1241F869}" type="presParOf" srcId="{5294A6DB-4694-45E5-B098-E357D359DCEC}" destId="{7CF7A6A1-FB7F-4CDC-9968-1C0ECA0BD9CC}" srcOrd="0" destOrd="0" presId="urn:microsoft.com/office/officeart/2005/8/layout/hierarchy3"/>
    <dgm:cxn modelId="{01E28B54-A9F2-4FB9-B07D-E0362F2A90A8}" type="presParOf" srcId="{5294A6DB-4694-45E5-B098-E357D359DCEC}" destId="{534FA957-2247-4669-A5BB-5661B56467E8}" srcOrd="1" destOrd="0" presId="urn:microsoft.com/office/officeart/2005/8/layout/hierarchy3"/>
    <dgm:cxn modelId="{064BFCF6-753E-47D4-8C9E-6466AAAE31DC}" type="presParOf" srcId="{C128A9E1-F316-4CE1-BB5A-921D2ECC8695}" destId="{29D6B911-A325-436D-B344-D6A8EB5006FC}" srcOrd="2" destOrd="0" presId="urn:microsoft.com/office/officeart/2005/8/layout/hierarchy3"/>
    <dgm:cxn modelId="{B2574101-E22E-4F8D-B5A9-F1222FE22274}" type="presParOf" srcId="{29D6B911-A325-436D-B344-D6A8EB5006FC}" destId="{6C61EE5F-8D14-4EB0-859F-23C1DAA2297B}" srcOrd="0" destOrd="0" presId="urn:microsoft.com/office/officeart/2005/8/layout/hierarchy3"/>
    <dgm:cxn modelId="{1B3ADB8A-C9C3-453E-8DEB-B22280B36517}" type="presParOf" srcId="{6C61EE5F-8D14-4EB0-859F-23C1DAA2297B}" destId="{355D2C17-2A25-4BEA-8D5F-70BB48078438}" srcOrd="0" destOrd="0" presId="urn:microsoft.com/office/officeart/2005/8/layout/hierarchy3"/>
    <dgm:cxn modelId="{3718AFD0-DBCC-4966-93A2-3D969BEEB35D}" type="presParOf" srcId="{6C61EE5F-8D14-4EB0-859F-23C1DAA2297B}" destId="{9A106A06-FB9B-4976-BE32-BEB93A11164B}" srcOrd="1" destOrd="0" presId="urn:microsoft.com/office/officeart/2005/8/layout/hierarchy3"/>
    <dgm:cxn modelId="{D822F65B-915A-407E-983E-50F0E0D8BC59}" type="presParOf" srcId="{29D6B911-A325-436D-B344-D6A8EB5006FC}" destId="{F21B5B79-8208-4226-9999-D9C71FA4CF55}" srcOrd="1" destOrd="0" presId="urn:microsoft.com/office/officeart/2005/8/layout/hierarchy3"/>
    <dgm:cxn modelId="{225CE74F-0342-4B6B-9D73-2D39F8678C6E}" type="presParOf" srcId="{F21B5B79-8208-4226-9999-D9C71FA4CF55}" destId="{DCE9C613-BCC4-4D36-821C-BEB08509204B}" srcOrd="0" destOrd="0" presId="urn:microsoft.com/office/officeart/2005/8/layout/hierarchy3"/>
    <dgm:cxn modelId="{A006184D-D1F5-4345-8CFB-987A73D1D869}" type="presParOf" srcId="{F21B5B79-8208-4226-9999-D9C71FA4CF55}" destId="{18586E38-798E-4B22-BD8D-E7781F8E6C57}" srcOrd="1" destOrd="0" presId="urn:microsoft.com/office/officeart/2005/8/layout/hierarchy3"/>
    <dgm:cxn modelId="{176FEC60-917C-4057-AC88-CF1C57BC60C2}" type="presParOf" srcId="{F21B5B79-8208-4226-9999-D9C71FA4CF55}" destId="{80753F40-800E-4C2B-846A-CB0D40529C6E}" srcOrd="2" destOrd="0" presId="urn:microsoft.com/office/officeart/2005/8/layout/hierarchy3"/>
    <dgm:cxn modelId="{9A099C08-C81A-4E85-AE0B-3DFD781BFDF1}" type="presParOf" srcId="{F21B5B79-8208-4226-9999-D9C71FA4CF55}" destId="{9D790C94-666C-418A-838F-27814B8450FF}" srcOrd="3" destOrd="0" presId="urn:microsoft.com/office/officeart/2005/8/layout/hierarchy3"/>
    <dgm:cxn modelId="{8B9AC07B-4B0F-4F64-8DE4-931EDBE6A313}" type="presParOf" srcId="{F21B5B79-8208-4226-9999-D9C71FA4CF55}" destId="{276E3F12-734F-4E91-81E8-C36DA205116D}" srcOrd="4" destOrd="0" presId="urn:microsoft.com/office/officeart/2005/8/layout/hierarchy3"/>
    <dgm:cxn modelId="{85005214-E6CD-4B42-A8B7-87A4A6A5E102}" type="presParOf" srcId="{F21B5B79-8208-4226-9999-D9C71FA4CF55}" destId="{C8E12BB1-FF21-4C0C-BDD7-906DBDB4B7B9}" srcOrd="5" destOrd="0" presId="urn:microsoft.com/office/officeart/2005/8/layout/hierarchy3"/>
    <dgm:cxn modelId="{52EFFCB2-13A1-44B5-88FC-7D673BC2A17B}" type="presParOf" srcId="{C128A9E1-F316-4CE1-BB5A-921D2ECC8695}" destId="{E203ABEF-4CDD-458B-A7BE-950D565DDF23}" srcOrd="3" destOrd="0" presId="urn:microsoft.com/office/officeart/2005/8/layout/hierarchy3"/>
    <dgm:cxn modelId="{6EB47155-C8E0-4E66-AC2C-0DD5BDB0D38B}" type="presParOf" srcId="{E203ABEF-4CDD-458B-A7BE-950D565DDF23}" destId="{9D0E4E80-5B7B-424F-8BBA-95B14DF88B10}" srcOrd="0" destOrd="0" presId="urn:microsoft.com/office/officeart/2005/8/layout/hierarchy3"/>
    <dgm:cxn modelId="{DA9F2E62-2E51-4796-9F64-5D086BF0B302}" type="presParOf" srcId="{9D0E4E80-5B7B-424F-8BBA-95B14DF88B10}" destId="{593BA8EB-2266-40D6-ADBA-E46833ACEB90}" srcOrd="0" destOrd="0" presId="urn:microsoft.com/office/officeart/2005/8/layout/hierarchy3"/>
    <dgm:cxn modelId="{02686939-1FD8-4B18-9178-7D10CEE87514}" type="presParOf" srcId="{9D0E4E80-5B7B-424F-8BBA-95B14DF88B10}" destId="{D898CCC9-8E7B-4A00-ADE7-52F24D81B452}" srcOrd="1" destOrd="0" presId="urn:microsoft.com/office/officeart/2005/8/layout/hierarchy3"/>
    <dgm:cxn modelId="{BA4D5B30-D190-4CD8-93CA-9380E819E607}" type="presParOf" srcId="{E203ABEF-4CDD-458B-A7BE-950D565DDF23}" destId="{E95C5772-2C4D-441F-8117-CA74B2A358CD}"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42A5C803-3149-4630-A545-AF574C565DA7}"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0245C79E-4701-4CAA-9FB7-8E6DE28F5295}">
      <dgm:prSet/>
      <dgm:spPr>
        <a:solidFill>
          <a:srgbClr val="B2CBAE"/>
        </a:solidFill>
      </dgm:spPr>
      <dgm:t>
        <a:bodyPr/>
        <a:lstStyle/>
        <a:p>
          <a:r>
            <a:rPr lang="en-US" b="1"/>
            <a:t>Imbalanced Datasets</a:t>
          </a:r>
          <a:r>
            <a:rPr lang="en-US"/>
            <a:t>:</a:t>
          </a:r>
        </a:p>
      </dgm:t>
    </dgm:pt>
    <dgm:pt modelId="{691B1D49-ADE7-44FB-B2A6-9D7662A92A72}" type="parTrans" cxnId="{AC77A9A4-D70B-47FE-A3F5-2418BFEF3472}">
      <dgm:prSet/>
      <dgm:spPr/>
      <dgm:t>
        <a:bodyPr/>
        <a:lstStyle/>
        <a:p>
          <a:endParaRPr lang="en-US"/>
        </a:p>
      </dgm:t>
    </dgm:pt>
    <dgm:pt modelId="{0EC0CE9A-BC51-4F1E-AC33-4B0B66775226}" type="sibTrans" cxnId="{AC77A9A4-D70B-47FE-A3F5-2418BFEF3472}">
      <dgm:prSet/>
      <dgm:spPr/>
      <dgm:t>
        <a:bodyPr/>
        <a:lstStyle/>
        <a:p>
          <a:endParaRPr lang="en-US"/>
        </a:p>
      </dgm:t>
    </dgm:pt>
    <dgm:pt modelId="{0C4DF088-6787-4940-AE86-52E0FF847FD5}">
      <dgm:prSet/>
      <dgm:spPr/>
      <dgm:t>
        <a:bodyPr/>
        <a:lstStyle/>
        <a:p>
          <a:r>
            <a:rPr lang="en-US" dirty="0"/>
            <a:t>Present unique challenges for machine learning models.</a:t>
          </a:r>
        </a:p>
      </dgm:t>
    </dgm:pt>
    <dgm:pt modelId="{0F2FFE7D-63BB-4CC0-A0F4-260C831A64F9}" type="parTrans" cxnId="{DEBD61E2-6000-48CC-B6F3-E9FA8447FB0A}">
      <dgm:prSet/>
      <dgm:spPr/>
      <dgm:t>
        <a:bodyPr/>
        <a:lstStyle/>
        <a:p>
          <a:endParaRPr lang="en-US"/>
        </a:p>
      </dgm:t>
    </dgm:pt>
    <dgm:pt modelId="{7FDFA7D0-BE0D-4709-BB47-C2D3A68A052F}" type="sibTrans" cxnId="{DEBD61E2-6000-48CC-B6F3-E9FA8447FB0A}">
      <dgm:prSet/>
      <dgm:spPr/>
      <dgm:t>
        <a:bodyPr/>
        <a:lstStyle/>
        <a:p>
          <a:endParaRPr lang="en-US"/>
        </a:p>
      </dgm:t>
    </dgm:pt>
    <dgm:pt modelId="{1B71BD38-62E6-41DF-8F49-76EB8110E506}">
      <dgm:prSet/>
      <dgm:spPr/>
      <dgm:t>
        <a:bodyPr/>
        <a:lstStyle/>
        <a:p>
          <a:r>
            <a:rPr lang="en-US" dirty="0"/>
            <a:t>Require targeted balancing techniques to improve performance.</a:t>
          </a:r>
        </a:p>
      </dgm:t>
    </dgm:pt>
    <dgm:pt modelId="{CE143A58-A4F8-44F8-8950-0DDB68AE4692}" type="parTrans" cxnId="{CDE455A1-A07D-41F0-9258-2BEECA1B9E74}">
      <dgm:prSet/>
      <dgm:spPr/>
      <dgm:t>
        <a:bodyPr/>
        <a:lstStyle/>
        <a:p>
          <a:endParaRPr lang="en-US"/>
        </a:p>
      </dgm:t>
    </dgm:pt>
    <dgm:pt modelId="{02B9F331-1D1F-4A4B-9E0A-B45D31AB0C1F}" type="sibTrans" cxnId="{CDE455A1-A07D-41F0-9258-2BEECA1B9E74}">
      <dgm:prSet/>
      <dgm:spPr/>
      <dgm:t>
        <a:bodyPr/>
        <a:lstStyle/>
        <a:p>
          <a:endParaRPr lang="en-US"/>
        </a:p>
      </dgm:t>
    </dgm:pt>
    <dgm:pt modelId="{790B0836-2ECA-43CD-B366-29A809CCF1F2}">
      <dgm:prSet/>
      <dgm:spPr>
        <a:solidFill>
          <a:srgbClr val="B2CBAE"/>
        </a:solidFill>
      </dgm:spPr>
      <dgm:t>
        <a:bodyPr/>
        <a:lstStyle/>
        <a:p>
          <a:r>
            <a:rPr lang="en-US" b="1"/>
            <a:t>Balancing Techniques</a:t>
          </a:r>
          <a:r>
            <a:rPr lang="en-US"/>
            <a:t>:</a:t>
          </a:r>
        </a:p>
      </dgm:t>
    </dgm:pt>
    <dgm:pt modelId="{5CEBE6B5-D9FE-4549-8F57-45C287A71D15}" type="parTrans" cxnId="{0FC95C72-7E5E-4C89-92FF-13E26D59DA88}">
      <dgm:prSet/>
      <dgm:spPr/>
      <dgm:t>
        <a:bodyPr/>
        <a:lstStyle/>
        <a:p>
          <a:endParaRPr lang="en-US"/>
        </a:p>
      </dgm:t>
    </dgm:pt>
    <dgm:pt modelId="{BD1B0752-E3CA-4F11-B4B5-CFC32FCF60DD}" type="sibTrans" cxnId="{0FC95C72-7E5E-4C89-92FF-13E26D59DA88}">
      <dgm:prSet/>
      <dgm:spPr/>
      <dgm:t>
        <a:bodyPr/>
        <a:lstStyle/>
        <a:p>
          <a:endParaRPr lang="en-US"/>
        </a:p>
      </dgm:t>
    </dgm:pt>
    <dgm:pt modelId="{35029C4D-7E40-400F-98E0-89B770296941}">
      <dgm:prSet/>
      <dgm:spPr/>
      <dgm:t>
        <a:bodyPr/>
        <a:lstStyle/>
        <a:p>
          <a:r>
            <a:rPr lang="en-US"/>
            <a:t>Enhanced </a:t>
          </a:r>
          <a:r>
            <a:rPr lang="en-US" b="1"/>
            <a:t>Precision</a:t>
          </a:r>
          <a:r>
            <a:rPr lang="en-US"/>
            <a:t>, particularly for </a:t>
          </a:r>
          <a:r>
            <a:rPr lang="en-US" b="1"/>
            <a:t>Random Oversampling</a:t>
          </a:r>
          <a:r>
            <a:rPr lang="en-US"/>
            <a:t> and </a:t>
          </a:r>
          <a:r>
            <a:rPr lang="en-US" b="1"/>
            <a:t>B-SMOTE</a:t>
          </a:r>
          <a:r>
            <a:rPr lang="en-US"/>
            <a:t>.</a:t>
          </a:r>
        </a:p>
      </dgm:t>
    </dgm:pt>
    <dgm:pt modelId="{5BA8F62E-E15C-4860-9EBF-3AC7A08861A0}" type="parTrans" cxnId="{345B8BF1-4282-433F-AF51-06B6E188531A}">
      <dgm:prSet/>
      <dgm:spPr/>
      <dgm:t>
        <a:bodyPr/>
        <a:lstStyle/>
        <a:p>
          <a:endParaRPr lang="en-US"/>
        </a:p>
      </dgm:t>
    </dgm:pt>
    <dgm:pt modelId="{3E2D54D3-B815-462C-951B-8EA567A6EA54}" type="sibTrans" cxnId="{345B8BF1-4282-433F-AF51-06B6E188531A}">
      <dgm:prSet/>
      <dgm:spPr/>
      <dgm:t>
        <a:bodyPr/>
        <a:lstStyle/>
        <a:p>
          <a:endParaRPr lang="en-US"/>
        </a:p>
      </dgm:t>
    </dgm:pt>
    <dgm:pt modelId="{631D3ED1-CCD6-47CA-B4AF-B8458BAFF091}">
      <dgm:prSet/>
      <dgm:spPr/>
      <dgm:t>
        <a:bodyPr/>
        <a:lstStyle/>
        <a:p>
          <a:r>
            <a:rPr lang="en-US" dirty="0"/>
            <a:t>Improved </a:t>
          </a:r>
          <a:r>
            <a:rPr lang="en-US" b="1" dirty="0"/>
            <a:t>Recall</a:t>
          </a:r>
          <a:r>
            <a:rPr lang="en-US" dirty="0"/>
            <a:t> with </a:t>
          </a:r>
          <a:r>
            <a:rPr lang="en-US" b="1" dirty="0"/>
            <a:t>SMOTE</a:t>
          </a:r>
          <a:r>
            <a:rPr lang="en-US" dirty="0"/>
            <a:t>, </a:t>
          </a:r>
          <a:r>
            <a:rPr lang="en-US" b="1" dirty="0"/>
            <a:t>B-SMOTE</a:t>
          </a:r>
          <a:r>
            <a:rPr lang="en-US" dirty="0"/>
            <a:t>, and </a:t>
          </a:r>
          <a:r>
            <a:rPr lang="en-US" b="1" dirty="0"/>
            <a:t>ADASYN</a:t>
          </a:r>
          <a:r>
            <a:rPr lang="en-US" dirty="0"/>
            <a:t>.</a:t>
          </a:r>
        </a:p>
      </dgm:t>
    </dgm:pt>
    <dgm:pt modelId="{15D37A7D-2413-4592-AD3F-4AF8C17DC32D}" type="parTrans" cxnId="{EAAC8666-ECA9-494F-8BB2-92A5009F0CF0}">
      <dgm:prSet/>
      <dgm:spPr/>
      <dgm:t>
        <a:bodyPr/>
        <a:lstStyle/>
        <a:p>
          <a:endParaRPr lang="en-US"/>
        </a:p>
      </dgm:t>
    </dgm:pt>
    <dgm:pt modelId="{0BC45EBB-4911-4C36-9682-D01C73FD34C4}" type="sibTrans" cxnId="{EAAC8666-ECA9-494F-8BB2-92A5009F0CF0}">
      <dgm:prSet/>
      <dgm:spPr/>
      <dgm:t>
        <a:bodyPr/>
        <a:lstStyle/>
        <a:p>
          <a:endParaRPr lang="en-US"/>
        </a:p>
      </dgm:t>
    </dgm:pt>
    <dgm:pt modelId="{8EA70353-D02B-4E89-90AE-769740394D95}">
      <dgm:prSet/>
      <dgm:spPr>
        <a:solidFill>
          <a:srgbClr val="B2CBAE"/>
        </a:solidFill>
      </dgm:spPr>
      <dgm:t>
        <a:bodyPr/>
        <a:lstStyle/>
        <a:p>
          <a:r>
            <a:rPr lang="en-US" b="1"/>
            <a:t>Key Metrics:</a:t>
          </a:r>
          <a:endParaRPr lang="en-US"/>
        </a:p>
      </dgm:t>
    </dgm:pt>
    <dgm:pt modelId="{D99CB2D0-89F4-49F4-A62A-252ADE3F326B}" type="parTrans" cxnId="{6F2ACC30-EA61-4AA4-8304-C14348EA6EC1}">
      <dgm:prSet/>
      <dgm:spPr/>
      <dgm:t>
        <a:bodyPr/>
        <a:lstStyle/>
        <a:p>
          <a:endParaRPr lang="en-US"/>
        </a:p>
      </dgm:t>
    </dgm:pt>
    <dgm:pt modelId="{A34A95CE-1F4B-44E3-BA88-712E71C61E36}" type="sibTrans" cxnId="{6F2ACC30-EA61-4AA4-8304-C14348EA6EC1}">
      <dgm:prSet/>
      <dgm:spPr/>
      <dgm:t>
        <a:bodyPr/>
        <a:lstStyle/>
        <a:p>
          <a:endParaRPr lang="en-US"/>
        </a:p>
      </dgm:t>
    </dgm:pt>
    <dgm:pt modelId="{66BEED87-F393-42EF-BEF0-F3DC00123265}">
      <dgm:prSet/>
      <dgm:spPr/>
      <dgm:t>
        <a:bodyPr/>
        <a:lstStyle/>
        <a:p>
          <a:r>
            <a:rPr lang="en-US" b="1" dirty="0"/>
            <a:t>F1 Score</a:t>
          </a:r>
          <a:r>
            <a:rPr lang="en-US" dirty="0"/>
            <a:t>: Balancing techniques achieved better Precision-Recall balance.</a:t>
          </a:r>
        </a:p>
      </dgm:t>
    </dgm:pt>
    <dgm:pt modelId="{1D11010B-A974-4F7C-9B28-FB0CD2F511A3}" type="parTrans" cxnId="{60E714A6-0D92-42D4-9962-2CEC852B7E1E}">
      <dgm:prSet/>
      <dgm:spPr/>
      <dgm:t>
        <a:bodyPr/>
        <a:lstStyle/>
        <a:p>
          <a:endParaRPr lang="en-US"/>
        </a:p>
      </dgm:t>
    </dgm:pt>
    <dgm:pt modelId="{60CD6A52-21E1-430D-B9DE-03FDF7F1CC58}" type="sibTrans" cxnId="{60E714A6-0D92-42D4-9962-2CEC852B7E1E}">
      <dgm:prSet/>
      <dgm:spPr/>
      <dgm:t>
        <a:bodyPr/>
        <a:lstStyle/>
        <a:p>
          <a:endParaRPr lang="en-US"/>
        </a:p>
      </dgm:t>
    </dgm:pt>
    <dgm:pt modelId="{C1E2B0D8-0C4C-431F-8216-9442C57DD551}">
      <dgm:prSet/>
      <dgm:spPr/>
      <dgm:t>
        <a:bodyPr/>
        <a:lstStyle/>
        <a:p>
          <a:r>
            <a:rPr lang="en-US" b="1" dirty="0"/>
            <a:t>Accuracy</a:t>
          </a:r>
          <a:r>
            <a:rPr lang="en-US" dirty="0"/>
            <a:t>: Consistently high but insufficient to measure performance in imbalanced scenarios.</a:t>
          </a:r>
        </a:p>
      </dgm:t>
    </dgm:pt>
    <dgm:pt modelId="{2C74525B-CE37-4657-A7B1-9617059B16D9}" type="parTrans" cxnId="{12971320-0CE7-4F3A-872C-BB1D805FCAD2}">
      <dgm:prSet/>
      <dgm:spPr/>
      <dgm:t>
        <a:bodyPr/>
        <a:lstStyle/>
        <a:p>
          <a:endParaRPr lang="en-US"/>
        </a:p>
      </dgm:t>
    </dgm:pt>
    <dgm:pt modelId="{2B084843-D6B5-49F9-8A2F-4253AAB94FDA}" type="sibTrans" cxnId="{12971320-0CE7-4F3A-872C-BB1D805FCAD2}">
      <dgm:prSet/>
      <dgm:spPr/>
      <dgm:t>
        <a:bodyPr/>
        <a:lstStyle/>
        <a:p>
          <a:endParaRPr lang="en-US"/>
        </a:p>
      </dgm:t>
    </dgm:pt>
    <dgm:pt modelId="{2D9E8C38-CEF0-4D27-9352-C9FDF5E61CE1}">
      <dgm:prSet/>
      <dgm:spPr>
        <a:solidFill>
          <a:srgbClr val="B2CBAE"/>
        </a:solidFill>
      </dgm:spPr>
      <dgm:t>
        <a:bodyPr/>
        <a:lstStyle/>
        <a:p>
          <a:r>
            <a:rPr lang="pt-PT" b="1"/>
            <a:t>Impact on Random Forest:</a:t>
          </a:r>
          <a:endParaRPr lang="en-US"/>
        </a:p>
      </dgm:t>
    </dgm:pt>
    <dgm:pt modelId="{A7C53B6B-FFC9-47F4-8976-24D2FCC3D33D}" type="parTrans" cxnId="{EF3C823C-4312-44F8-956F-6AF34CE48CD3}">
      <dgm:prSet/>
      <dgm:spPr/>
      <dgm:t>
        <a:bodyPr/>
        <a:lstStyle/>
        <a:p>
          <a:endParaRPr lang="en-US"/>
        </a:p>
      </dgm:t>
    </dgm:pt>
    <dgm:pt modelId="{6C9C66B9-BE2A-4B85-9483-4D37B9BACE8D}" type="sibTrans" cxnId="{EF3C823C-4312-44F8-956F-6AF34CE48CD3}">
      <dgm:prSet/>
      <dgm:spPr/>
      <dgm:t>
        <a:bodyPr/>
        <a:lstStyle/>
        <a:p>
          <a:endParaRPr lang="en-US"/>
        </a:p>
      </dgm:t>
    </dgm:pt>
    <dgm:pt modelId="{CDA0004E-78B7-4063-9336-BD4CE93FD52D}">
      <dgm:prSet/>
      <dgm:spPr/>
      <dgm:t>
        <a:bodyPr/>
        <a:lstStyle/>
        <a:p>
          <a:r>
            <a:rPr lang="pt-PT" b="1" dirty="0"/>
            <a:t>Standard </a:t>
          </a:r>
          <a:r>
            <a:rPr lang="pt-PT" b="1" dirty="0" err="1"/>
            <a:t>Random</a:t>
          </a:r>
          <a:r>
            <a:rPr lang="pt-PT" b="1" dirty="0"/>
            <a:t> </a:t>
          </a:r>
          <a:r>
            <a:rPr lang="pt-PT" b="1" dirty="0" err="1"/>
            <a:t>Forest</a:t>
          </a:r>
          <a:r>
            <a:rPr lang="pt-PT" dirty="0"/>
            <a:t>:</a:t>
          </a:r>
          <a:endParaRPr lang="en-US" dirty="0"/>
        </a:p>
      </dgm:t>
    </dgm:pt>
    <dgm:pt modelId="{477569E3-7649-4F45-A1AA-1B39F88EC65F}" type="parTrans" cxnId="{39681B04-AA3D-431D-95DC-621A54AF5675}">
      <dgm:prSet/>
      <dgm:spPr/>
      <dgm:t>
        <a:bodyPr/>
        <a:lstStyle/>
        <a:p>
          <a:endParaRPr lang="en-US"/>
        </a:p>
      </dgm:t>
    </dgm:pt>
    <dgm:pt modelId="{2EA3307D-FAB0-48C3-A16C-2C948475F7E7}" type="sibTrans" cxnId="{39681B04-AA3D-431D-95DC-621A54AF5675}">
      <dgm:prSet/>
      <dgm:spPr/>
      <dgm:t>
        <a:bodyPr/>
        <a:lstStyle/>
        <a:p>
          <a:endParaRPr lang="en-US"/>
        </a:p>
      </dgm:t>
    </dgm:pt>
    <dgm:pt modelId="{884545A5-509A-4E5F-9D9D-0D1984F632E2}">
      <dgm:prSet/>
      <dgm:spPr/>
      <dgm:t>
        <a:bodyPr/>
        <a:lstStyle/>
        <a:p>
          <a:r>
            <a:rPr lang="pt-PT" dirty="0" err="1"/>
            <a:t>Strong</a:t>
          </a:r>
          <a:r>
            <a:rPr lang="pt-PT" dirty="0"/>
            <a:t> </a:t>
          </a:r>
          <a:r>
            <a:rPr lang="pt-PT" dirty="0" err="1"/>
            <a:t>baseline</a:t>
          </a:r>
          <a:r>
            <a:rPr lang="pt-PT" dirty="0"/>
            <a:t> performance.</a:t>
          </a:r>
          <a:endParaRPr lang="en-US" dirty="0"/>
        </a:p>
      </dgm:t>
    </dgm:pt>
    <dgm:pt modelId="{741AF769-87E1-4A16-BE33-A115017C5B77}" type="parTrans" cxnId="{21B8F681-81DF-441E-9A69-6151FF68AC05}">
      <dgm:prSet/>
      <dgm:spPr/>
      <dgm:t>
        <a:bodyPr/>
        <a:lstStyle/>
        <a:p>
          <a:endParaRPr lang="en-US"/>
        </a:p>
      </dgm:t>
    </dgm:pt>
    <dgm:pt modelId="{07BA5B28-5934-46D7-A202-B60799886490}" type="sibTrans" cxnId="{21B8F681-81DF-441E-9A69-6151FF68AC05}">
      <dgm:prSet/>
      <dgm:spPr/>
      <dgm:t>
        <a:bodyPr/>
        <a:lstStyle/>
        <a:p>
          <a:endParaRPr lang="en-US"/>
        </a:p>
      </dgm:t>
    </dgm:pt>
    <dgm:pt modelId="{DF3E8692-1697-4F61-B60C-5F4BB8AE7E01}">
      <dgm:prSet/>
      <dgm:spPr/>
      <dgm:t>
        <a:bodyPr/>
        <a:lstStyle/>
        <a:p>
          <a:r>
            <a:rPr lang="pt-PT" dirty="0" err="1"/>
            <a:t>Outperformed</a:t>
          </a:r>
          <a:r>
            <a:rPr lang="pt-PT" dirty="0"/>
            <a:t> </a:t>
          </a:r>
          <a:r>
            <a:rPr lang="pt-PT" dirty="0" err="1"/>
            <a:t>others</a:t>
          </a:r>
          <a:r>
            <a:rPr lang="pt-PT" dirty="0"/>
            <a:t> in </a:t>
          </a:r>
          <a:r>
            <a:rPr lang="pt-PT" b="1" dirty="0"/>
            <a:t>AUPRCC</a:t>
          </a:r>
          <a:r>
            <a:rPr lang="pt-PT" dirty="0"/>
            <a:t> (</a:t>
          </a:r>
          <a:r>
            <a:rPr lang="pt-PT" dirty="0" err="1"/>
            <a:t>minority</a:t>
          </a:r>
          <a:r>
            <a:rPr lang="pt-PT" dirty="0"/>
            <a:t> </a:t>
          </a:r>
          <a:r>
            <a:rPr lang="pt-PT" dirty="0" err="1"/>
            <a:t>class</a:t>
          </a:r>
          <a:r>
            <a:rPr lang="pt-PT" dirty="0"/>
            <a:t> </a:t>
          </a:r>
          <a:r>
            <a:rPr lang="pt-PT" dirty="0" err="1"/>
            <a:t>focus</a:t>
          </a:r>
          <a:r>
            <a:rPr lang="pt-PT" dirty="0"/>
            <a:t>).</a:t>
          </a:r>
          <a:endParaRPr lang="en-US" dirty="0"/>
        </a:p>
      </dgm:t>
    </dgm:pt>
    <dgm:pt modelId="{3B8A2608-55FB-44F9-8370-86D42571C154}" type="parTrans" cxnId="{69117495-C41C-4924-B154-C07102BE228E}">
      <dgm:prSet/>
      <dgm:spPr/>
      <dgm:t>
        <a:bodyPr/>
        <a:lstStyle/>
        <a:p>
          <a:endParaRPr lang="en-US"/>
        </a:p>
      </dgm:t>
    </dgm:pt>
    <dgm:pt modelId="{24AB0185-1ED5-418E-BEC4-8106C327985E}" type="sibTrans" cxnId="{69117495-C41C-4924-B154-C07102BE228E}">
      <dgm:prSet/>
      <dgm:spPr/>
      <dgm:t>
        <a:bodyPr/>
        <a:lstStyle/>
        <a:p>
          <a:endParaRPr lang="en-US"/>
        </a:p>
      </dgm:t>
    </dgm:pt>
    <dgm:pt modelId="{8C6512A7-039A-43B0-9B3B-E21E65B56C88}">
      <dgm:prSet/>
      <dgm:spPr/>
      <dgm:t>
        <a:bodyPr/>
        <a:lstStyle/>
        <a:p>
          <a:r>
            <a:rPr lang="pt-PT" b="1" dirty="0" err="1"/>
            <a:t>With</a:t>
          </a:r>
          <a:r>
            <a:rPr lang="pt-PT" b="1" dirty="0"/>
            <a:t> </a:t>
          </a:r>
          <a:r>
            <a:rPr lang="pt-PT" b="1" dirty="0" err="1"/>
            <a:t>Balancing</a:t>
          </a:r>
          <a:r>
            <a:rPr lang="pt-PT" b="1" dirty="0"/>
            <a:t> </a:t>
          </a:r>
          <a:r>
            <a:rPr lang="pt-PT" b="1" dirty="0" err="1"/>
            <a:t>Techniques</a:t>
          </a:r>
          <a:r>
            <a:rPr lang="pt-PT" dirty="0"/>
            <a:t>:</a:t>
          </a:r>
          <a:endParaRPr lang="en-US" dirty="0"/>
        </a:p>
      </dgm:t>
    </dgm:pt>
    <dgm:pt modelId="{ECAD26DA-2966-4DBF-9CA6-286D4C64AB87}" type="parTrans" cxnId="{6EF09E0D-8388-41A0-808C-6D46F6EEAD5A}">
      <dgm:prSet/>
      <dgm:spPr/>
      <dgm:t>
        <a:bodyPr/>
        <a:lstStyle/>
        <a:p>
          <a:endParaRPr lang="en-US"/>
        </a:p>
      </dgm:t>
    </dgm:pt>
    <dgm:pt modelId="{7FC8CC02-4B3A-4616-AE32-0858B69AEA27}" type="sibTrans" cxnId="{6EF09E0D-8388-41A0-808C-6D46F6EEAD5A}">
      <dgm:prSet/>
      <dgm:spPr/>
      <dgm:t>
        <a:bodyPr/>
        <a:lstStyle/>
        <a:p>
          <a:endParaRPr lang="en-US"/>
        </a:p>
      </dgm:t>
    </dgm:pt>
    <dgm:pt modelId="{A4181405-DAC9-4341-9BC6-B1C36E28A0E5}">
      <dgm:prSet/>
      <dgm:spPr/>
      <dgm:t>
        <a:bodyPr/>
        <a:lstStyle/>
        <a:p>
          <a:r>
            <a:rPr lang="pt-PT" dirty="0" err="1"/>
            <a:t>Notable</a:t>
          </a:r>
          <a:r>
            <a:rPr lang="pt-PT" dirty="0"/>
            <a:t> </a:t>
          </a:r>
          <a:r>
            <a:rPr lang="pt-PT" dirty="0" err="1"/>
            <a:t>improvements</a:t>
          </a:r>
          <a:r>
            <a:rPr lang="pt-PT" dirty="0"/>
            <a:t> in </a:t>
          </a:r>
          <a:r>
            <a:rPr lang="pt-PT" b="1" dirty="0" err="1"/>
            <a:t>Recall</a:t>
          </a:r>
          <a:r>
            <a:rPr lang="pt-PT" dirty="0"/>
            <a:t> </a:t>
          </a:r>
          <a:r>
            <a:rPr lang="pt-PT" dirty="0" err="1"/>
            <a:t>and</a:t>
          </a:r>
          <a:r>
            <a:rPr lang="pt-PT" dirty="0"/>
            <a:t> </a:t>
          </a:r>
          <a:r>
            <a:rPr lang="pt-PT" b="1" dirty="0"/>
            <a:t>F1 Score</a:t>
          </a:r>
          <a:r>
            <a:rPr lang="pt-PT" dirty="0"/>
            <a:t>.</a:t>
          </a:r>
          <a:endParaRPr lang="en-US" dirty="0"/>
        </a:p>
      </dgm:t>
    </dgm:pt>
    <dgm:pt modelId="{D33502D1-E412-4D79-B59C-124BE47D8668}" type="parTrans" cxnId="{B401A495-9432-4CB3-94E0-16B477681514}">
      <dgm:prSet/>
      <dgm:spPr/>
      <dgm:t>
        <a:bodyPr/>
        <a:lstStyle/>
        <a:p>
          <a:endParaRPr lang="en-US"/>
        </a:p>
      </dgm:t>
    </dgm:pt>
    <dgm:pt modelId="{65BD1C54-C02F-4738-A8F4-434D0BC9B7B5}" type="sibTrans" cxnId="{B401A495-9432-4CB3-94E0-16B477681514}">
      <dgm:prSet/>
      <dgm:spPr/>
      <dgm:t>
        <a:bodyPr/>
        <a:lstStyle/>
        <a:p>
          <a:endParaRPr lang="en-US"/>
        </a:p>
      </dgm:t>
    </dgm:pt>
    <dgm:pt modelId="{216BE942-0DC8-4622-8843-945928EFC836}">
      <dgm:prSet/>
      <dgm:spPr/>
      <dgm:t>
        <a:bodyPr/>
        <a:lstStyle/>
        <a:p>
          <a:r>
            <a:rPr lang="pt-PT" b="1" dirty="0"/>
            <a:t>B-SMOTE</a:t>
          </a:r>
          <a:r>
            <a:rPr lang="pt-PT" dirty="0"/>
            <a:t>, </a:t>
          </a:r>
          <a:r>
            <a:rPr lang="pt-PT" b="1" dirty="0" err="1"/>
            <a:t>Random</a:t>
          </a:r>
          <a:r>
            <a:rPr lang="pt-PT" b="1" dirty="0"/>
            <a:t> </a:t>
          </a:r>
          <a:r>
            <a:rPr lang="pt-PT" b="1" dirty="0" err="1"/>
            <a:t>Oversampling</a:t>
          </a:r>
          <a:r>
            <a:rPr lang="pt-PT" dirty="0"/>
            <a:t>, </a:t>
          </a:r>
          <a:r>
            <a:rPr lang="pt-PT" dirty="0" err="1"/>
            <a:t>and</a:t>
          </a:r>
          <a:r>
            <a:rPr lang="pt-PT" dirty="0"/>
            <a:t> </a:t>
          </a:r>
          <a:r>
            <a:rPr lang="pt-PT" b="1" dirty="0"/>
            <a:t>SMOTE-</a:t>
          </a:r>
          <a:r>
            <a:rPr lang="pt-PT" b="1" dirty="0" err="1"/>
            <a:t>Tomek</a:t>
          </a:r>
          <a:r>
            <a:rPr lang="pt-PT" dirty="0"/>
            <a:t> </a:t>
          </a:r>
          <a:r>
            <a:rPr lang="pt-PT" dirty="0" err="1"/>
            <a:t>boosted</a:t>
          </a:r>
          <a:r>
            <a:rPr lang="pt-PT" dirty="0"/>
            <a:t> </a:t>
          </a:r>
          <a:r>
            <a:rPr lang="pt-PT" dirty="0" err="1"/>
            <a:t>model</a:t>
          </a:r>
          <a:r>
            <a:rPr lang="pt-PT" dirty="0"/>
            <a:t> </a:t>
          </a:r>
          <a:r>
            <a:rPr lang="pt-PT" dirty="0" err="1"/>
            <a:t>robustness</a:t>
          </a:r>
          <a:r>
            <a:rPr lang="pt-PT" dirty="0"/>
            <a:t>.</a:t>
          </a:r>
          <a:endParaRPr lang="en-US" dirty="0"/>
        </a:p>
      </dgm:t>
    </dgm:pt>
    <dgm:pt modelId="{04AD80A6-BB65-472A-B130-68F0439B9145}" type="parTrans" cxnId="{366DADCD-FEEC-48CF-926B-00C35E45252F}">
      <dgm:prSet/>
      <dgm:spPr/>
      <dgm:t>
        <a:bodyPr/>
        <a:lstStyle/>
        <a:p>
          <a:endParaRPr lang="en-US"/>
        </a:p>
      </dgm:t>
    </dgm:pt>
    <dgm:pt modelId="{75C782E3-BF08-447B-9B80-96C6ACC863DE}" type="sibTrans" cxnId="{366DADCD-FEEC-48CF-926B-00C35E45252F}">
      <dgm:prSet/>
      <dgm:spPr/>
      <dgm:t>
        <a:bodyPr/>
        <a:lstStyle/>
        <a:p>
          <a:endParaRPr lang="en-US"/>
        </a:p>
      </dgm:t>
    </dgm:pt>
    <dgm:pt modelId="{59765A0C-0075-4321-9649-4B8EE3329B0D}">
      <dgm:prSet/>
      <dgm:spPr>
        <a:solidFill>
          <a:srgbClr val="B2CBAE"/>
        </a:solidFill>
      </dgm:spPr>
      <dgm:t>
        <a:bodyPr/>
        <a:lstStyle/>
        <a:p>
          <a:r>
            <a:rPr lang="pt-PT" b="1"/>
            <a:t>Impact on XGBoost:</a:t>
          </a:r>
          <a:endParaRPr lang="en-US"/>
        </a:p>
      </dgm:t>
    </dgm:pt>
    <dgm:pt modelId="{92AF3CBD-1F34-4BEC-AD47-763EDCE21E4C}" type="parTrans" cxnId="{0E3264EF-CD5D-4AFC-873A-C6572BD632D6}">
      <dgm:prSet/>
      <dgm:spPr/>
      <dgm:t>
        <a:bodyPr/>
        <a:lstStyle/>
        <a:p>
          <a:endParaRPr lang="en-US"/>
        </a:p>
      </dgm:t>
    </dgm:pt>
    <dgm:pt modelId="{DFC5ABE4-3B8C-4A34-8334-323F9BF20567}" type="sibTrans" cxnId="{0E3264EF-CD5D-4AFC-873A-C6572BD632D6}">
      <dgm:prSet/>
      <dgm:spPr/>
      <dgm:t>
        <a:bodyPr/>
        <a:lstStyle/>
        <a:p>
          <a:endParaRPr lang="en-US"/>
        </a:p>
      </dgm:t>
    </dgm:pt>
    <dgm:pt modelId="{88D537C0-C6EA-409D-B533-0EB9A38BB8D1}">
      <dgm:prSet/>
      <dgm:spPr/>
      <dgm:t>
        <a:bodyPr/>
        <a:lstStyle/>
        <a:p>
          <a:r>
            <a:rPr lang="pt-PT" dirty="0" err="1"/>
            <a:t>Showed</a:t>
          </a:r>
          <a:r>
            <a:rPr lang="pt-PT" dirty="0"/>
            <a:t> </a:t>
          </a:r>
          <a:r>
            <a:rPr lang="pt-PT" dirty="0" err="1"/>
            <a:t>significant</a:t>
          </a:r>
          <a:r>
            <a:rPr lang="pt-PT" dirty="0"/>
            <a:t> performance </a:t>
          </a:r>
          <a:r>
            <a:rPr lang="pt-PT" dirty="0" err="1"/>
            <a:t>improvements</a:t>
          </a:r>
          <a:r>
            <a:rPr lang="pt-PT" dirty="0"/>
            <a:t> </a:t>
          </a:r>
          <a:r>
            <a:rPr lang="pt-PT" dirty="0" err="1"/>
            <a:t>with</a:t>
          </a:r>
          <a:r>
            <a:rPr lang="pt-PT" dirty="0"/>
            <a:t> </a:t>
          </a:r>
          <a:r>
            <a:rPr lang="pt-PT" dirty="0" err="1"/>
            <a:t>balancing</a:t>
          </a:r>
          <a:r>
            <a:rPr lang="pt-PT" dirty="0"/>
            <a:t> </a:t>
          </a:r>
          <a:r>
            <a:rPr lang="pt-PT" dirty="0" err="1"/>
            <a:t>methods</a:t>
          </a:r>
          <a:r>
            <a:rPr lang="pt-PT" dirty="0"/>
            <a:t>.</a:t>
          </a:r>
          <a:endParaRPr lang="en-US" dirty="0"/>
        </a:p>
      </dgm:t>
    </dgm:pt>
    <dgm:pt modelId="{1F2974A8-C225-4D68-AFBE-75AAEA79772B}" type="parTrans" cxnId="{CEDDEFA0-29FA-49E8-B3EE-7D2A73B84F3D}">
      <dgm:prSet/>
      <dgm:spPr/>
      <dgm:t>
        <a:bodyPr/>
        <a:lstStyle/>
        <a:p>
          <a:endParaRPr lang="en-US"/>
        </a:p>
      </dgm:t>
    </dgm:pt>
    <dgm:pt modelId="{881814BF-7F40-4FEB-BAEB-FC8FBF1E1057}" type="sibTrans" cxnId="{CEDDEFA0-29FA-49E8-B3EE-7D2A73B84F3D}">
      <dgm:prSet/>
      <dgm:spPr/>
      <dgm:t>
        <a:bodyPr/>
        <a:lstStyle/>
        <a:p>
          <a:endParaRPr lang="en-US"/>
        </a:p>
      </dgm:t>
    </dgm:pt>
    <dgm:pt modelId="{2655B9F0-98C5-4EDD-BB9E-EB2797E69F40}">
      <dgm:prSet/>
      <dgm:spPr/>
      <dgm:t>
        <a:bodyPr/>
        <a:lstStyle/>
        <a:p>
          <a:r>
            <a:rPr lang="pt-PT" dirty="0" err="1"/>
            <a:t>Techniques</a:t>
          </a:r>
          <a:r>
            <a:rPr lang="pt-PT" dirty="0"/>
            <a:t> </a:t>
          </a:r>
          <a:r>
            <a:rPr lang="pt-PT" dirty="0" err="1"/>
            <a:t>like</a:t>
          </a:r>
          <a:r>
            <a:rPr lang="pt-PT" dirty="0"/>
            <a:t> </a:t>
          </a:r>
          <a:r>
            <a:rPr lang="pt-PT" b="1" dirty="0" err="1"/>
            <a:t>Hybrid</a:t>
          </a:r>
          <a:r>
            <a:rPr lang="pt-PT" b="1" dirty="0"/>
            <a:t> </a:t>
          </a:r>
          <a:r>
            <a:rPr lang="pt-PT" b="1" dirty="0" err="1"/>
            <a:t>Tomek</a:t>
          </a:r>
          <a:r>
            <a:rPr lang="pt-PT" b="1" dirty="0"/>
            <a:t> Links BC-SMOTE</a:t>
          </a:r>
          <a:r>
            <a:rPr lang="pt-PT" dirty="0"/>
            <a:t> </a:t>
          </a:r>
          <a:r>
            <a:rPr lang="pt-PT" dirty="0" err="1"/>
            <a:t>refined</a:t>
          </a:r>
          <a:r>
            <a:rPr lang="pt-PT" dirty="0"/>
            <a:t> </a:t>
          </a:r>
          <a:r>
            <a:rPr lang="pt-PT" dirty="0" err="1"/>
            <a:t>predictions</a:t>
          </a:r>
          <a:r>
            <a:rPr lang="pt-PT" dirty="0"/>
            <a:t> </a:t>
          </a:r>
          <a:r>
            <a:rPr lang="pt-PT" dirty="0" err="1"/>
            <a:t>and</a:t>
          </a:r>
          <a:r>
            <a:rPr lang="pt-PT" dirty="0"/>
            <a:t> </a:t>
          </a:r>
          <a:r>
            <a:rPr lang="pt-PT" dirty="0" err="1"/>
            <a:t>enhanced</a:t>
          </a:r>
          <a:r>
            <a:rPr lang="pt-PT" dirty="0"/>
            <a:t> </a:t>
          </a:r>
          <a:r>
            <a:rPr lang="pt-PT" dirty="0" err="1"/>
            <a:t>decision</a:t>
          </a:r>
          <a:r>
            <a:rPr lang="pt-PT" dirty="0"/>
            <a:t> </a:t>
          </a:r>
          <a:r>
            <a:rPr lang="pt-PT" dirty="0" err="1"/>
            <a:t>boundaries</a:t>
          </a:r>
          <a:r>
            <a:rPr lang="pt-PT" dirty="0"/>
            <a:t>.</a:t>
          </a:r>
          <a:endParaRPr lang="en-US" dirty="0"/>
        </a:p>
      </dgm:t>
    </dgm:pt>
    <dgm:pt modelId="{45353BE6-E557-4A37-B8A3-9D7163F8D598}" type="parTrans" cxnId="{554378FD-D783-49CA-92E2-050C6CD9BD93}">
      <dgm:prSet/>
      <dgm:spPr/>
      <dgm:t>
        <a:bodyPr/>
        <a:lstStyle/>
        <a:p>
          <a:endParaRPr lang="en-US"/>
        </a:p>
      </dgm:t>
    </dgm:pt>
    <dgm:pt modelId="{E68D35AB-89C9-4665-AA5A-AE6EA6BA178A}" type="sibTrans" cxnId="{554378FD-D783-49CA-92E2-050C6CD9BD93}">
      <dgm:prSet/>
      <dgm:spPr/>
      <dgm:t>
        <a:bodyPr/>
        <a:lstStyle/>
        <a:p>
          <a:endParaRPr lang="en-US"/>
        </a:p>
      </dgm:t>
    </dgm:pt>
    <dgm:pt modelId="{2DF3778E-A57D-48F1-8493-DE508E2D3FF1}">
      <dgm:prSet/>
      <dgm:spPr>
        <a:solidFill>
          <a:srgbClr val="B2CBAE"/>
        </a:solidFill>
      </dgm:spPr>
      <dgm:t>
        <a:bodyPr/>
        <a:lstStyle/>
        <a:p>
          <a:r>
            <a:rPr lang="en-US" b="1"/>
            <a:t>Future Directions:</a:t>
          </a:r>
          <a:endParaRPr lang="en-US"/>
        </a:p>
      </dgm:t>
    </dgm:pt>
    <dgm:pt modelId="{87A6106C-A1CF-4817-9EB7-592AC187D7E0}" type="parTrans" cxnId="{92ECE90F-4BA4-4BD9-994B-50CEC9996700}">
      <dgm:prSet/>
      <dgm:spPr/>
      <dgm:t>
        <a:bodyPr/>
        <a:lstStyle/>
        <a:p>
          <a:endParaRPr lang="en-US"/>
        </a:p>
      </dgm:t>
    </dgm:pt>
    <dgm:pt modelId="{20C23731-FDC0-463D-A579-85EFBA035797}" type="sibTrans" cxnId="{92ECE90F-4BA4-4BD9-994B-50CEC9996700}">
      <dgm:prSet/>
      <dgm:spPr/>
      <dgm:t>
        <a:bodyPr/>
        <a:lstStyle/>
        <a:p>
          <a:endParaRPr lang="en-US"/>
        </a:p>
      </dgm:t>
    </dgm:pt>
    <dgm:pt modelId="{612DB33A-D2F9-4665-B5AA-39CADB7DEC20}">
      <dgm:prSet/>
      <dgm:spPr/>
      <dgm:t>
        <a:bodyPr/>
        <a:lstStyle/>
        <a:p>
          <a:r>
            <a:rPr lang="en-US" dirty="0"/>
            <a:t>Further research into hybrid methods to reduce noise while maintaining balance.</a:t>
          </a:r>
        </a:p>
      </dgm:t>
    </dgm:pt>
    <dgm:pt modelId="{2A6BAB29-FCCA-4E9C-8B36-BADF1516C4D8}" type="parTrans" cxnId="{C5E2D0EB-63E2-4871-B85A-426C26342B95}">
      <dgm:prSet/>
      <dgm:spPr/>
      <dgm:t>
        <a:bodyPr/>
        <a:lstStyle/>
        <a:p>
          <a:endParaRPr lang="en-US"/>
        </a:p>
      </dgm:t>
    </dgm:pt>
    <dgm:pt modelId="{B0E30E2E-AAF4-43BA-8818-D7CEF2E4DBFA}" type="sibTrans" cxnId="{C5E2D0EB-63E2-4871-B85A-426C26342B95}">
      <dgm:prSet/>
      <dgm:spPr/>
      <dgm:t>
        <a:bodyPr/>
        <a:lstStyle/>
        <a:p>
          <a:endParaRPr lang="en-US"/>
        </a:p>
      </dgm:t>
    </dgm:pt>
    <dgm:pt modelId="{27F4DE03-C80C-476F-8622-24EB597A8BE1}">
      <dgm:prSet/>
      <dgm:spPr/>
      <dgm:t>
        <a:bodyPr/>
        <a:lstStyle/>
        <a:p>
          <a:r>
            <a:rPr lang="en-US" dirty="0"/>
            <a:t>Explore dataset-specific optimizations to enhance model generalizability.</a:t>
          </a:r>
        </a:p>
      </dgm:t>
    </dgm:pt>
    <dgm:pt modelId="{4566EF3C-2376-4F24-A1A1-948B729B3441}" type="parTrans" cxnId="{BF241A01-6AAE-4AC5-B41F-4E76B509119F}">
      <dgm:prSet/>
      <dgm:spPr/>
      <dgm:t>
        <a:bodyPr/>
        <a:lstStyle/>
        <a:p>
          <a:endParaRPr lang="en-US"/>
        </a:p>
      </dgm:t>
    </dgm:pt>
    <dgm:pt modelId="{D5F308DC-867D-4844-85D0-8AE23E380C53}" type="sibTrans" cxnId="{BF241A01-6AAE-4AC5-B41F-4E76B509119F}">
      <dgm:prSet/>
      <dgm:spPr/>
      <dgm:t>
        <a:bodyPr/>
        <a:lstStyle/>
        <a:p>
          <a:endParaRPr lang="en-US"/>
        </a:p>
      </dgm:t>
    </dgm:pt>
    <dgm:pt modelId="{6AEDB52D-9C12-40F0-A172-A9220AEFEC49}" type="pres">
      <dgm:prSet presAssocID="{42A5C803-3149-4630-A545-AF574C565DA7}" presName="linear" presStyleCnt="0">
        <dgm:presLayoutVars>
          <dgm:animLvl val="lvl"/>
          <dgm:resizeHandles val="exact"/>
        </dgm:presLayoutVars>
      </dgm:prSet>
      <dgm:spPr/>
    </dgm:pt>
    <dgm:pt modelId="{C223D371-6ADA-4A3A-B371-2BB20C3DDD13}" type="pres">
      <dgm:prSet presAssocID="{0245C79E-4701-4CAA-9FB7-8E6DE28F5295}" presName="parentText" presStyleLbl="node1" presStyleIdx="0" presStyleCnt="6">
        <dgm:presLayoutVars>
          <dgm:chMax val="0"/>
          <dgm:bulletEnabled val="1"/>
        </dgm:presLayoutVars>
      </dgm:prSet>
      <dgm:spPr/>
    </dgm:pt>
    <dgm:pt modelId="{15C47DF4-25E8-4A54-8731-0A0B63A3B73C}" type="pres">
      <dgm:prSet presAssocID="{0245C79E-4701-4CAA-9FB7-8E6DE28F5295}" presName="childText" presStyleLbl="revTx" presStyleIdx="0" presStyleCnt="6">
        <dgm:presLayoutVars>
          <dgm:bulletEnabled val="1"/>
        </dgm:presLayoutVars>
      </dgm:prSet>
      <dgm:spPr/>
    </dgm:pt>
    <dgm:pt modelId="{7D9EAD88-2DE1-4C5A-8BD0-AD686A5ECA0F}" type="pres">
      <dgm:prSet presAssocID="{790B0836-2ECA-43CD-B366-29A809CCF1F2}" presName="parentText" presStyleLbl="node1" presStyleIdx="1" presStyleCnt="6">
        <dgm:presLayoutVars>
          <dgm:chMax val="0"/>
          <dgm:bulletEnabled val="1"/>
        </dgm:presLayoutVars>
      </dgm:prSet>
      <dgm:spPr/>
    </dgm:pt>
    <dgm:pt modelId="{3DDAB8C9-E270-456A-910D-94B2A9BA0D8A}" type="pres">
      <dgm:prSet presAssocID="{790B0836-2ECA-43CD-B366-29A809CCF1F2}" presName="childText" presStyleLbl="revTx" presStyleIdx="1" presStyleCnt="6">
        <dgm:presLayoutVars>
          <dgm:bulletEnabled val="1"/>
        </dgm:presLayoutVars>
      </dgm:prSet>
      <dgm:spPr/>
    </dgm:pt>
    <dgm:pt modelId="{5BF375C5-A3CD-4F99-B799-785C10DD95F4}" type="pres">
      <dgm:prSet presAssocID="{8EA70353-D02B-4E89-90AE-769740394D95}" presName="parentText" presStyleLbl="node1" presStyleIdx="2" presStyleCnt="6">
        <dgm:presLayoutVars>
          <dgm:chMax val="0"/>
          <dgm:bulletEnabled val="1"/>
        </dgm:presLayoutVars>
      </dgm:prSet>
      <dgm:spPr/>
    </dgm:pt>
    <dgm:pt modelId="{422E6E7D-C7CF-41A3-ADD6-EC30A31B7927}" type="pres">
      <dgm:prSet presAssocID="{8EA70353-D02B-4E89-90AE-769740394D95}" presName="childText" presStyleLbl="revTx" presStyleIdx="2" presStyleCnt="6">
        <dgm:presLayoutVars>
          <dgm:bulletEnabled val="1"/>
        </dgm:presLayoutVars>
      </dgm:prSet>
      <dgm:spPr/>
    </dgm:pt>
    <dgm:pt modelId="{E87A22FC-C351-4A68-B64D-6A8DA015976C}" type="pres">
      <dgm:prSet presAssocID="{2D9E8C38-CEF0-4D27-9352-C9FDF5E61CE1}" presName="parentText" presStyleLbl="node1" presStyleIdx="3" presStyleCnt="6">
        <dgm:presLayoutVars>
          <dgm:chMax val="0"/>
          <dgm:bulletEnabled val="1"/>
        </dgm:presLayoutVars>
      </dgm:prSet>
      <dgm:spPr/>
    </dgm:pt>
    <dgm:pt modelId="{F455C02C-9586-4C0B-86AF-3B2123943ECD}" type="pres">
      <dgm:prSet presAssocID="{2D9E8C38-CEF0-4D27-9352-C9FDF5E61CE1}" presName="childText" presStyleLbl="revTx" presStyleIdx="3" presStyleCnt="6">
        <dgm:presLayoutVars>
          <dgm:bulletEnabled val="1"/>
        </dgm:presLayoutVars>
      </dgm:prSet>
      <dgm:spPr/>
    </dgm:pt>
    <dgm:pt modelId="{DB0E6DFE-2D92-43F1-A08E-D4752933CD7A}" type="pres">
      <dgm:prSet presAssocID="{59765A0C-0075-4321-9649-4B8EE3329B0D}" presName="parentText" presStyleLbl="node1" presStyleIdx="4" presStyleCnt="6">
        <dgm:presLayoutVars>
          <dgm:chMax val="0"/>
          <dgm:bulletEnabled val="1"/>
        </dgm:presLayoutVars>
      </dgm:prSet>
      <dgm:spPr/>
    </dgm:pt>
    <dgm:pt modelId="{82103A52-A26A-43FF-991A-B075D89EA257}" type="pres">
      <dgm:prSet presAssocID="{59765A0C-0075-4321-9649-4B8EE3329B0D}" presName="childText" presStyleLbl="revTx" presStyleIdx="4" presStyleCnt="6">
        <dgm:presLayoutVars>
          <dgm:bulletEnabled val="1"/>
        </dgm:presLayoutVars>
      </dgm:prSet>
      <dgm:spPr/>
    </dgm:pt>
    <dgm:pt modelId="{B77C5FD5-745D-47C0-9072-A20F926BE318}" type="pres">
      <dgm:prSet presAssocID="{2DF3778E-A57D-48F1-8493-DE508E2D3FF1}" presName="parentText" presStyleLbl="node1" presStyleIdx="5" presStyleCnt="6">
        <dgm:presLayoutVars>
          <dgm:chMax val="0"/>
          <dgm:bulletEnabled val="1"/>
        </dgm:presLayoutVars>
      </dgm:prSet>
      <dgm:spPr/>
    </dgm:pt>
    <dgm:pt modelId="{AAE8B983-E3DC-4586-8520-FE323C6AB68F}" type="pres">
      <dgm:prSet presAssocID="{2DF3778E-A57D-48F1-8493-DE508E2D3FF1}" presName="childText" presStyleLbl="revTx" presStyleIdx="5" presStyleCnt="6">
        <dgm:presLayoutVars>
          <dgm:bulletEnabled val="1"/>
        </dgm:presLayoutVars>
      </dgm:prSet>
      <dgm:spPr/>
    </dgm:pt>
  </dgm:ptLst>
  <dgm:cxnLst>
    <dgm:cxn modelId="{BF241A01-6AAE-4AC5-B41F-4E76B509119F}" srcId="{2DF3778E-A57D-48F1-8493-DE508E2D3FF1}" destId="{27F4DE03-C80C-476F-8622-24EB597A8BE1}" srcOrd="1" destOrd="0" parTransId="{4566EF3C-2376-4F24-A1A1-948B729B3441}" sibTransId="{D5F308DC-867D-4844-85D0-8AE23E380C53}"/>
    <dgm:cxn modelId="{C08A6403-5727-4D04-8B18-3A0D1C275D03}" type="presOf" srcId="{790B0836-2ECA-43CD-B366-29A809CCF1F2}" destId="{7D9EAD88-2DE1-4C5A-8BD0-AD686A5ECA0F}" srcOrd="0" destOrd="0" presId="urn:microsoft.com/office/officeart/2005/8/layout/vList2"/>
    <dgm:cxn modelId="{39681B04-AA3D-431D-95DC-621A54AF5675}" srcId="{2D9E8C38-CEF0-4D27-9352-C9FDF5E61CE1}" destId="{CDA0004E-78B7-4063-9336-BD4CE93FD52D}" srcOrd="0" destOrd="0" parTransId="{477569E3-7649-4F45-A1AA-1B39F88EC65F}" sibTransId="{2EA3307D-FAB0-48C3-A16C-2C948475F7E7}"/>
    <dgm:cxn modelId="{6EF09E0D-8388-41A0-808C-6D46F6EEAD5A}" srcId="{2D9E8C38-CEF0-4D27-9352-C9FDF5E61CE1}" destId="{8C6512A7-039A-43B0-9B3B-E21E65B56C88}" srcOrd="1" destOrd="0" parTransId="{ECAD26DA-2966-4DBF-9CA6-286D4C64AB87}" sibTransId="{7FC8CC02-4B3A-4616-AE32-0858B69AEA27}"/>
    <dgm:cxn modelId="{92ECE90F-4BA4-4BD9-994B-50CEC9996700}" srcId="{42A5C803-3149-4630-A545-AF574C565DA7}" destId="{2DF3778E-A57D-48F1-8493-DE508E2D3FF1}" srcOrd="5" destOrd="0" parTransId="{87A6106C-A1CF-4817-9EB7-592AC187D7E0}" sibTransId="{20C23731-FDC0-463D-A579-85EFBA035797}"/>
    <dgm:cxn modelId="{F2E55D12-88F2-48EA-B1B1-9F915AC27FE5}" type="presOf" srcId="{CDA0004E-78B7-4063-9336-BD4CE93FD52D}" destId="{F455C02C-9586-4C0B-86AF-3B2123943ECD}" srcOrd="0" destOrd="0" presId="urn:microsoft.com/office/officeart/2005/8/layout/vList2"/>
    <dgm:cxn modelId="{EC599F16-B444-485F-B3D5-599B4BE27002}" type="presOf" srcId="{DF3E8692-1697-4F61-B60C-5F4BB8AE7E01}" destId="{F455C02C-9586-4C0B-86AF-3B2123943ECD}" srcOrd="0" destOrd="2" presId="urn:microsoft.com/office/officeart/2005/8/layout/vList2"/>
    <dgm:cxn modelId="{12971320-0CE7-4F3A-872C-BB1D805FCAD2}" srcId="{8EA70353-D02B-4E89-90AE-769740394D95}" destId="{C1E2B0D8-0C4C-431F-8216-9442C57DD551}" srcOrd="1" destOrd="0" parTransId="{2C74525B-CE37-4657-A7B1-9617059B16D9}" sibTransId="{2B084843-D6B5-49F9-8A2F-4253AAB94FDA}"/>
    <dgm:cxn modelId="{FFE9F522-C344-49EE-9737-6E311D9B03F9}" type="presOf" srcId="{8EA70353-D02B-4E89-90AE-769740394D95}" destId="{5BF375C5-A3CD-4F99-B799-785C10DD95F4}" srcOrd="0" destOrd="0" presId="urn:microsoft.com/office/officeart/2005/8/layout/vList2"/>
    <dgm:cxn modelId="{6E12A627-7614-462B-A4F0-689CBD0CACDF}" type="presOf" srcId="{C1E2B0D8-0C4C-431F-8216-9442C57DD551}" destId="{422E6E7D-C7CF-41A3-ADD6-EC30A31B7927}" srcOrd="0" destOrd="1" presId="urn:microsoft.com/office/officeart/2005/8/layout/vList2"/>
    <dgm:cxn modelId="{6F2ACC30-EA61-4AA4-8304-C14348EA6EC1}" srcId="{42A5C803-3149-4630-A545-AF574C565DA7}" destId="{8EA70353-D02B-4E89-90AE-769740394D95}" srcOrd="2" destOrd="0" parTransId="{D99CB2D0-89F4-49F4-A62A-252ADE3F326B}" sibTransId="{A34A95CE-1F4B-44E3-BA88-712E71C61E36}"/>
    <dgm:cxn modelId="{CDDA2635-9C7A-4CF2-A442-91194D0FABBB}" type="presOf" srcId="{0C4DF088-6787-4940-AE86-52E0FF847FD5}" destId="{15C47DF4-25E8-4A54-8731-0A0B63A3B73C}" srcOrd="0" destOrd="0" presId="urn:microsoft.com/office/officeart/2005/8/layout/vList2"/>
    <dgm:cxn modelId="{EF3C823C-4312-44F8-956F-6AF34CE48CD3}" srcId="{42A5C803-3149-4630-A545-AF574C565DA7}" destId="{2D9E8C38-CEF0-4D27-9352-C9FDF5E61CE1}" srcOrd="3" destOrd="0" parTransId="{A7C53B6B-FFC9-47F4-8976-24D2FCC3D33D}" sibTransId="{6C9C66B9-BE2A-4B85-9483-4D37B9BACE8D}"/>
    <dgm:cxn modelId="{A1703A3D-7810-4AAD-AD3C-04F21085A5B7}" type="presOf" srcId="{631D3ED1-CCD6-47CA-B4AF-B8458BAFF091}" destId="{3DDAB8C9-E270-456A-910D-94B2A9BA0D8A}" srcOrd="0" destOrd="1" presId="urn:microsoft.com/office/officeart/2005/8/layout/vList2"/>
    <dgm:cxn modelId="{2917793E-61D0-487C-89D2-4BA7E31E4C91}" type="presOf" srcId="{0245C79E-4701-4CAA-9FB7-8E6DE28F5295}" destId="{C223D371-6ADA-4A3A-B371-2BB20C3DDD13}" srcOrd="0" destOrd="0" presId="urn:microsoft.com/office/officeart/2005/8/layout/vList2"/>
    <dgm:cxn modelId="{630C1364-5237-47A4-B7B0-78BE0AFC63AA}" type="presOf" srcId="{2D9E8C38-CEF0-4D27-9352-C9FDF5E61CE1}" destId="{E87A22FC-C351-4A68-B64D-6A8DA015976C}" srcOrd="0" destOrd="0" presId="urn:microsoft.com/office/officeart/2005/8/layout/vList2"/>
    <dgm:cxn modelId="{EAAC8666-ECA9-494F-8BB2-92A5009F0CF0}" srcId="{790B0836-2ECA-43CD-B366-29A809CCF1F2}" destId="{631D3ED1-CCD6-47CA-B4AF-B8458BAFF091}" srcOrd="1" destOrd="0" parTransId="{15D37A7D-2413-4592-AD3F-4AF8C17DC32D}" sibTransId="{0BC45EBB-4911-4C36-9682-D01C73FD34C4}"/>
    <dgm:cxn modelId="{CDA2DD48-727A-4AE2-9DA3-E47D41F74482}" type="presOf" srcId="{8C6512A7-039A-43B0-9B3B-E21E65B56C88}" destId="{F455C02C-9586-4C0B-86AF-3B2123943ECD}" srcOrd="0" destOrd="3" presId="urn:microsoft.com/office/officeart/2005/8/layout/vList2"/>
    <dgm:cxn modelId="{2F49336C-0AB2-4218-889E-C711266A51E1}" type="presOf" srcId="{35029C4D-7E40-400F-98E0-89B770296941}" destId="{3DDAB8C9-E270-456A-910D-94B2A9BA0D8A}" srcOrd="0" destOrd="0" presId="urn:microsoft.com/office/officeart/2005/8/layout/vList2"/>
    <dgm:cxn modelId="{0FC95C72-7E5E-4C89-92FF-13E26D59DA88}" srcId="{42A5C803-3149-4630-A545-AF574C565DA7}" destId="{790B0836-2ECA-43CD-B366-29A809CCF1F2}" srcOrd="1" destOrd="0" parTransId="{5CEBE6B5-D9FE-4549-8F57-45C287A71D15}" sibTransId="{BD1B0752-E3CA-4F11-B4B5-CFC32FCF60DD}"/>
    <dgm:cxn modelId="{E140807F-21C6-43F7-A787-A051E953B8D4}" type="presOf" srcId="{1B71BD38-62E6-41DF-8F49-76EB8110E506}" destId="{15C47DF4-25E8-4A54-8731-0A0B63A3B73C}" srcOrd="0" destOrd="1" presId="urn:microsoft.com/office/officeart/2005/8/layout/vList2"/>
    <dgm:cxn modelId="{C59E6E81-62AA-4463-89F4-9691D2F80A80}" type="presOf" srcId="{66BEED87-F393-42EF-BEF0-F3DC00123265}" destId="{422E6E7D-C7CF-41A3-ADD6-EC30A31B7927}" srcOrd="0" destOrd="0" presId="urn:microsoft.com/office/officeart/2005/8/layout/vList2"/>
    <dgm:cxn modelId="{02828881-6857-46CE-B813-01EDA9F5EF1E}" type="presOf" srcId="{612DB33A-D2F9-4665-B5AA-39CADB7DEC20}" destId="{AAE8B983-E3DC-4586-8520-FE323C6AB68F}" srcOrd="0" destOrd="0" presId="urn:microsoft.com/office/officeart/2005/8/layout/vList2"/>
    <dgm:cxn modelId="{21B8F681-81DF-441E-9A69-6151FF68AC05}" srcId="{CDA0004E-78B7-4063-9336-BD4CE93FD52D}" destId="{884545A5-509A-4E5F-9D9D-0D1984F632E2}" srcOrd="0" destOrd="0" parTransId="{741AF769-87E1-4A16-BE33-A115017C5B77}" sibTransId="{07BA5B28-5934-46D7-A202-B60799886490}"/>
    <dgm:cxn modelId="{69117495-C41C-4924-B154-C07102BE228E}" srcId="{CDA0004E-78B7-4063-9336-BD4CE93FD52D}" destId="{DF3E8692-1697-4F61-B60C-5F4BB8AE7E01}" srcOrd="1" destOrd="0" parTransId="{3B8A2608-55FB-44F9-8370-86D42571C154}" sibTransId="{24AB0185-1ED5-418E-BEC4-8106C327985E}"/>
    <dgm:cxn modelId="{B401A495-9432-4CB3-94E0-16B477681514}" srcId="{8C6512A7-039A-43B0-9B3B-E21E65B56C88}" destId="{A4181405-DAC9-4341-9BC6-B1C36E28A0E5}" srcOrd="0" destOrd="0" parTransId="{D33502D1-E412-4D79-B59C-124BE47D8668}" sibTransId="{65BD1C54-C02F-4738-A8F4-434D0BC9B7B5}"/>
    <dgm:cxn modelId="{C605BA96-4DF3-44E9-90F3-F067697B8524}" type="presOf" srcId="{88D537C0-C6EA-409D-B533-0EB9A38BB8D1}" destId="{82103A52-A26A-43FF-991A-B075D89EA257}" srcOrd="0" destOrd="0" presId="urn:microsoft.com/office/officeart/2005/8/layout/vList2"/>
    <dgm:cxn modelId="{DF461A9A-ACEB-4B82-AA78-1DFFE0098390}" type="presOf" srcId="{884545A5-509A-4E5F-9D9D-0D1984F632E2}" destId="{F455C02C-9586-4C0B-86AF-3B2123943ECD}" srcOrd="0" destOrd="1" presId="urn:microsoft.com/office/officeart/2005/8/layout/vList2"/>
    <dgm:cxn modelId="{CEDDEFA0-29FA-49E8-B3EE-7D2A73B84F3D}" srcId="{59765A0C-0075-4321-9649-4B8EE3329B0D}" destId="{88D537C0-C6EA-409D-B533-0EB9A38BB8D1}" srcOrd="0" destOrd="0" parTransId="{1F2974A8-C225-4D68-AFBE-75AAEA79772B}" sibTransId="{881814BF-7F40-4FEB-BAEB-FC8FBF1E1057}"/>
    <dgm:cxn modelId="{CDE455A1-A07D-41F0-9258-2BEECA1B9E74}" srcId="{0245C79E-4701-4CAA-9FB7-8E6DE28F5295}" destId="{1B71BD38-62E6-41DF-8F49-76EB8110E506}" srcOrd="1" destOrd="0" parTransId="{CE143A58-A4F8-44F8-8950-0DDB68AE4692}" sibTransId="{02B9F331-1D1F-4A4B-9E0A-B45D31AB0C1F}"/>
    <dgm:cxn modelId="{AC77A9A4-D70B-47FE-A3F5-2418BFEF3472}" srcId="{42A5C803-3149-4630-A545-AF574C565DA7}" destId="{0245C79E-4701-4CAA-9FB7-8E6DE28F5295}" srcOrd="0" destOrd="0" parTransId="{691B1D49-ADE7-44FB-B2A6-9D7662A92A72}" sibTransId="{0EC0CE9A-BC51-4F1E-AC33-4B0B66775226}"/>
    <dgm:cxn modelId="{60E714A6-0D92-42D4-9962-2CEC852B7E1E}" srcId="{8EA70353-D02B-4E89-90AE-769740394D95}" destId="{66BEED87-F393-42EF-BEF0-F3DC00123265}" srcOrd="0" destOrd="0" parTransId="{1D11010B-A974-4F7C-9B28-FB0CD2F511A3}" sibTransId="{60CD6A52-21E1-430D-B9DE-03FDF7F1CC58}"/>
    <dgm:cxn modelId="{B27D68A6-2D2F-4FBA-B77A-4FC6A7F7E9CD}" type="presOf" srcId="{42A5C803-3149-4630-A545-AF574C565DA7}" destId="{6AEDB52D-9C12-40F0-A172-A9220AEFEC49}" srcOrd="0" destOrd="0" presId="urn:microsoft.com/office/officeart/2005/8/layout/vList2"/>
    <dgm:cxn modelId="{42047CC2-CA7F-4851-AB36-F2BDFC1678D7}" type="presOf" srcId="{59765A0C-0075-4321-9649-4B8EE3329B0D}" destId="{DB0E6DFE-2D92-43F1-A08E-D4752933CD7A}" srcOrd="0" destOrd="0" presId="urn:microsoft.com/office/officeart/2005/8/layout/vList2"/>
    <dgm:cxn modelId="{366DADCD-FEEC-48CF-926B-00C35E45252F}" srcId="{8C6512A7-039A-43B0-9B3B-E21E65B56C88}" destId="{216BE942-0DC8-4622-8843-945928EFC836}" srcOrd="1" destOrd="0" parTransId="{04AD80A6-BB65-472A-B130-68F0439B9145}" sibTransId="{75C782E3-BF08-447B-9B80-96C6ACC863DE}"/>
    <dgm:cxn modelId="{536945D1-2300-4EDB-A678-5E5D9581C11F}" type="presOf" srcId="{2DF3778E-A57D-48F1-8493-DE508E2D3FF1}" destId="{B77C5FD5-745D-47C0-9072-A20F926BE318}" srcOrd="0" destOrd="0" presId="urn:microsoft.com/office/officeart/2005/8/layout/vList2"/>
    <dgm:cxn modelId="{DEBD61E2-6000-48CC-B6F3-E9FA8447FB0A}" srcId="{0245C79E-4701-4CAA-9FB7-8E6DE28F5295}" destId="{0C4DF088-6787-4940-AE86-52E0FF847FD5}" srcOrd="0" destOrd="0" parTransId="{0F2FFE7D-63BB-4CC0-A0F4-260C831A64F9}" sibTransId="{7FDFA7D0-BE0D-4709-BB47-C2D3A68A052F}"/>
    <dgm:cxn modelId="{F073DAE3-BD45-42C9-B63F-6DE360494388}" type="presOf" srcId="{2655B9F0-98C5-4EDD-BB9E-EB2797E69F40}" destId="{82103A52-A26A-43FF-991A-B075D89EA257}" srcOrd="0" destOrd="1" presId="urn:microsoft.com/office/officeart/2005/8/layout/vList2"/>
    <dgm:cxn modelId="{980E9EEA-15E9-404D-A064-F2B2CC2244B4}" type="presOf" srcId="{27F4DE03-C80C-476F-8622-24EB597A8BE1}" destId="{AAE8B983-E3DC-4586-8520-FE323C6AB68F}" srcOrd="0" destOrd="1" presId="urn:microsoft.com/office/officeart/2005/8/layout/vList2"/>
    <dgm:cxn modelId="{C5E2D0EB-63E2-4871-B85A-426C26342B95}" srcId="{2DF3778E-A57D-48F1-8493-DE508E2D3FF1}" destId="{612DB33A-D2F9-4665-B5AA-39CADB7DEC20}" srcOrd="0" destOrd="0" parTransId="{2A6BAB29-FCCA-4E9C-8B36-BADF1516C4D8}" sibTransId="{B0E30E2E-AAF4-43BA-8818-D7CEF2E4DBFA}"/>
    <dgm:cxn modelId="{0E3264EF-CD5D-4AFC-873A-C6572BD632D6}" srcId="{42A5C803-3149-4630-A545-AF574C565DA7}" destId="{59765A0C-0075-4321-9649-4B8EE3329B0D}" srcOrd="4" destOrd="0" parTransId="{92AF3CBD-1F34-4BEC-AD47-763EDCE21E4C}" sibTransId="{DFC5ABE4-3B8C-4A34-8334-323F9BF20567}"/>
    <dgm:cxn modelId="{345B8BF1-4282-433F-AF51-06B6E188531A}" srcId="{790B0836-2ECA-43CD-B366-29A809CCF1F2}" destId="{35029C4D-7E40-400F-98E0-89B770296941}" srcOrd="0" destOrd="0" parTransId="{5BA8F62E-E15C-4860-9EBF-3AC7A08861A0}" sibTransId="{3E2D54D3-B815-462C-951B-8EA567A6EA54}"/>
    <dgm:cxn modelId="{38B4CFF8-A477-400B-8837-B43DB82E469B}" type="presOf" srcId="{A4181405-DAC9-4341-9BC6-B1C36E28A0E5}" destId="{F455C02C-9586-4C0B-86AF-3B2123943ECD}" srcOrd="0" destOrd="4" presId="urn:microsoft.com/office/officeart/2005/8/layout/vList2"/>
    <dgm:cxn modelId="{554378FD-D783-49CA-92E2-050C6CD9BD93}" srcId="{59765A0C-0075-4321-9649-4B8EE3329B0D}" destId="{2655B9F0-98C5-4EDD-BB9E-EB2797E69F40}" srcOrd="1" destOrd="0" parTransId="{45353BE6-E557-4A37-B8A3-9D7163F8D598}" sibTransId="{E68D35AB-89C9-4665-AA5A-AE6EA6BA178A}"/>
    <dgm:cxn modelId="{7B6F98FE-AF9D-49CC-A411-FAE5FDEDC678}" type="presOf" srcId="{216BE942-0DC8-4622-8843-945928EFC836}" destId="{F455C02C-9586-4C0B-86AF-3B2123943ECD}" srcOrd="0" destOrd="5" presId="urn:microsoft.com/office/officeart/2005/8/layout/vList2"/>
    <dgm:cxn modelId="{1F711789-5C05-46AD-B009-4FDAF2A76EDC}" type="presParOf" srcId="{6AEDB52D-9C12-40F0-A172-A9220AEFEC49}" destId="{C223D371-6ADA-4A3A-B371-2BB20C3DDD13}" srcOrd="0" destOrd="0" presId="urn:microsoft.com/office/officeart/2005/8/layout/vList2"/>
    <dgm:cxn modelId="{EBE67A2A-25E6-4404-9462-92AC6954A86E}" type="presParOf" srcId="{6AEDB52D-9C12-40F0-A172-A9220AEFEC49}" destId="{15C47DF4-25E8-4A54-8731-0A0B63A3B73C}" srcOrd="1" destOrd="0" presId="urn:microsoft.com/office/officeart/2005/8/layout/vList2"/>
    <dgm:cxn modelId="{68BFF422-8B89-4CE4-9E2E-57A30B99E2CA}" type="presParOf" srcId="{6AEDB52D-9C12-40F0-A172-A9220AEFEC49}" destId="{7D9EAD88-2DE1-4C5A-8BD0-AD686A5ECA0F}" srcOrd="2" destOrd="0" presId="urn:microsoft.com/office/officeart/2005/8/layout/vList2"/>
    <dgm:cxn modelId="{83DBCF07-14DA-4B7B-90B1-6FB730717B22}" type="presParOf" srcId="{6AEDB52D-9C12-40F0-A172-A9220AEFEC49}" destId="{3DDAB8C9-E270-456A-910D-94B2A9BA0D8A}" srcOrd="3" destOrd="0" presId="urn:microsoft.com/office/officeart/2005/8/layout/vList2"/>
    <dgm:cxn modelId="{5DE3DE25-2EC1-4BA2-8C26-6F2B9216221F}" type="presParOf" srcId="{6AEDB52D-9C12-40F0-A172-A9220AEFEC49}" destId="{5BF375C5-A3CD-4F99-B799-785C10DD95F4}" srcOrd="4" destOrd="0" presId="urn:microsoft.com/office/officeart/2005/8/layout/vList2"/>
    <dgm:cxn modelId="{6A398557-246E-482A-9A88-3D31D8AA7F6D}" type="presParOf" srcId="{6AEDB52D-9C12-40F0-A172-A9220AEFEC49}" destId="{422E6E7D-C7CF-41A3-ADD6-EC30A31B7927}" srcOrd="5" destOrd="0" presId="urn:microsoft.com/office/officeart/2005/8/layout/vList2"/>
    <dgm:cxn modelId="{99F67894-FC4E-407D-9F32-88812B81ED63}" type="presParOf" srcId="{6AEDB52D-9C12-40F0-A172-A9220AEFEC49}" destId="{E87A22FC-C351-4A68-B64D-6A8DA015976C}" srcOrd="6" destOrd="0" presId="urn:microsoft.com/office/officeart/2005/8/layout/vList2"/>
    <dgm:cxn modelId="{ABF12DA3-61D6-4425-9130-D3B9FF75F7B2}" type="presParOf" srcId="{6AEDB52D-9C12-40F0-A172-A9220AEFEC49}" destId="{F455C02C-9586-4C0B-86AF-3B2123943ECD}" srcOrd="7" destOrd="0" presId="urn:microsoft.com/office/officeart/2005/8/layout/vList2"/>
    <dgm:cxn modelId="{B2DCE39F-B45F-449F-BDFC-163ECED82144}" type="presParOf" srcId="{6AEDB52D-9C12-40F0-A172-A9220AEFEC49}" destId="{DB0E6DFE-2D92-43F1-A08E-D4752933CD7A}" srcOrd="8" destOrd="0" presId="urn:microsoft.com/office/officeart/2005/8/layout/vList2"/>
    <dgm:cxn modelId="{F7D38B51-62BC-4264-8F41-F9E9070A092E}" type="presParOf" srcId="{6AEDB52D-9C12-40F0-A172-A9220AEFEC49}" destId="{82103A52-A26A-43FF-991A-B075D89EA257}" srcOrd="9" destOrd="0" presId="urn:microsoft.com/office/officeart/2005/8/layout/vList2"/>
    <dgm:cxn modelId="{BFEC3AB8-A66D-427B-BD4B-19616F7F875E}" type="presParOf" srcId="{6AEDB52D-9C12-40F0-A172-A9220AEFEC49}" destId="{B77C5FD5-745D-47C0-9072-A20F926BE318}" srcOrd="10" destOrd="0" presId="urn:microsoft.com/office/officeart/2005/8/layout/vList2"/>
    <dgm:cxn modelId="{A8DB0D09-69DD-4DF3-911D-8FFF735987C9}" type="presParOf" srcId="{6AEDB52D-9C12-40F0-A172-A9220AEFEC49}" destId="{AAE8B983-E3DC-4586-8520-FE323C6AB68F}" srcOrd="1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647FB1-1D56-4C0A-A749-B53C72FE62ED}">
      <dsp:nvSpPr>
        <dsp:cNvPr id="0" name=""/>
        <dsp:cNvSpPr/>
      </dsp:nvSpPr>
      <dsp:spPr>
        <a:xfrm>
          <a:off x="1480989" y="2350480"/>
          <a:ext cx="2773603" cy="1849993"/>
        </a:xfrm>
        <a:prstGeom prst="rect">
          <a:avLst/>
        </a:prstGeom>
        <a:solidFill>
          <a:srgbClr val="DEE8DC">
            <a:alpha val="89804"/>
          </a:srgbClr>
        </a:solidFill>
        <a:ln w="6350" cap="flat" cmpd="sng" algn="ctr">
          <a:solidFill>
            <a:schemeClr val="accent4">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192024" rIns="192024" bIns="192024" numCol="1" spcCol="1270" anchor="ctr" anchorCtr="0">
          <a:noAutofit/>
        </a:bodyPr>
        <a:lstStyle/>
        <a:p>
          <a:pPr marL="0" lvl="0" indent="0" algn="l" defTabSz="1200150">
            <a:lnSpc>
              <a:spcPct val="90000"/>
            </a:lnSpc>
            <a:spcBef>
              <a:spcPct val="0"/>
            </a:spcBef>
            <a:spcAft>
              <a:spcPct val="35000"/>
            </a:spcAft>
            <a:buNone/>
          </a:pPr>
          <a:r>
            <a:rPr lang="pt-PT" sz="2700" kern="1200" dirty="0" err="1"/>
            <a:t>Robust</a:t>
          </a:r>
          <a:r>
            <a:rPr lang="pt-PT" sz="2700" kern="1200" dirty="0"/>
            <a:t> to </a:t>
          </a:r>
          <a:r>
            <a:rPr lang="pt-PT" sz="2700" kern="1200" dirty="0" err="1"/>
            <a:t>imbalanced</a:t>
          </a:r>
          <a:r>
            <a:rPr lang="pt-PT" sz="2700" kern="1200" dirty="0"/>
            <a:t> data</a:t>
          </a:r>
        </a:p>
      </dsp:txBody>
      <dsp:txXfrm>
        <a:off x="1924765" y="2350480"/>
        <a:ext cx="2329826" cy="1849993"/>
      </dsp:txXfrm>
    </dsp:sp>
    <dsp:sp modelId="{49D58A52-603B-491E-A1DC-A60353FF1A31}">
      <dsp:nvSpPr>
        <dsp:cNvPr id="0" name=""/>
        <dsp:cNvSpPr/>
      </dsp:nvSpPr>
      <dsp:spPr>
        <a:xfrm>
          <a:off x="0" y="1599185"/>
          <a:ext cx="1849068" cy="1849068"/>
        </a:xfrm>
        <a:prstGeom prst="ellipse">
          <a:avLst/>
        </a:prstGeom>
        <a:solidFill>
          <a:srgbClr val="B2CBAE"/>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155700">
            <a:lnSpc>
              <a:spcPct val="90000"/>
            </a:lnSpc>
            <a:spcBef>
              <a:spcPct val="0"/>
            </a:spcBef>
            <a:spcAft>
              <a:spcPct val="35000"/>
            </a:spcAft>
            <a:buNone/>
          </a:pPr>
          <a:r>
            <a:rPr lang="pt-PT" sz="2600" kern="1200" dirty="0" err="1"/>
            <a:t>Random</a:t>
          </a:r>
          <a:r>
            <a:rPr lang="pt-PT" sz="2600" kern="1200" dirty="0"/>
            <a:t> </a:t>
          </a:r>
          <a:r>
            <a:rPr lang="pt-PT" sz="2600" kern="1200" dirty="0" err="1"/>
            <a:t>Forest</a:t>
          </a:r>
          <a:endParaRPr lang="pt-PT" sz="2600" kern="1200" dirty="0"/>
        </a:p>
      </dsp:txBody>
      <dsp:txXfrm>
        <a:off x="270790" y="1869975"/>
        <a:ext cx="1307488" cy="1307488"/>
      </dsp:txXfrm>
    </dsp:sp>
    <dsp:sp modelId="{9C2BF86E-3E25-4340-A7C9-638BEC67EE9F}">
      <dsp:nvSpPr>
        <dsp:cNvPr id="0" name=""/>
        <dsp:cNvSpPr/>
      </dsp:nvSpPr>
      <dsp:spPr>
        <a:xfrm>
          <a:off x="6103660" y="2350480"/>
          <a:ext cx="2773603" cy="1849993"/>
        </a:xfrm>
        <a:prstGeom prst="rect">
          <a:avLst/>
        </a:prstGeom>
        <a:solidFill>
          <a:srgbClr val="DEE8DC">
            <a:alpha val="89804"/>
          </a:srgbClr>
        </a:solidFill>
        <a:ln w="6350" cap="flat" cmpd="sng" algn="ctr">
          <a:solidFill>
            <a:schemeClr val="accent4">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192024" rIns="192024" bIns="192024" numCol="1" spcCol="1270" anchor="ctr" anchorCtr="0">
          <a:noAutofit/>
        </a:bodyPr>
        <a:lstStyle/>
        <a:p>
          <a:pPr marL="0" lvl="0" indent="0" algn="l" defTabSz="1200150">
            <a:lnSpc>
              <a:spcPct val="90000"/>
            </a:lnSpc>
            <a:spcBef>
              <a:spcPct val="0"/>
            </a:spcBef>
            <a:spcAft>
              <a:spcPct val="35000"/>
            </a:spcAft>
            <a:buNone/>
          </a:pPr>
          <a:r>
            <a:rPr lang="pt-PT" sz="2700" kern="1200" dirty="0" err="1"/>
            <a:t>Reliable</a:t>
          </a:r>
          <a:r>
            <a:rPr lang="pt-PT" sz="2700" kern="1200" dirty="0"/>
            <a:t> </a:t>
          </a:r>
          <a:r>
            <a:rPr lang="pt-PT" sz="2700" kern="1200" dirty="0" err="1"/>
            <a:t>and</a:t>
          </a:r>
          <a:r>
            <a:rPr lang="pt-PT" sz="2700" kern="1200" dirty="0"/>
            <a:t> </a:t>
          </a:r>
          <a:r>
            <a:rPr lang="pt-PT" sz="2700" kern="1200" dirty="0" err="1"/>
            <a:t>adaptable</a:t>
          </a:r>
          <a:r>
            <a:rPr lang="pt-PT" sz="2700" kern="1200" dirty="0"/>
            <a:t> to </a:t>
          </a:r>
          <a:r>
            <a:rPr lang="pt-PT" sz="2700" kern="1200" dirty="0" err="1"/>
            <a:t>various</a:t>
          </a:r>
          <a:r>
            <a:rPr lang="pt-PT" sz="2700" kern="1200" dirty="0"/>
            <a:t> </a:t>
          </a:r>
          <a:r>
            <a:rPr lang="pt-PT" sz="2700" kern="1200" dirty="0" err="1"/>
            <a:t>techniques</a:t>
          </a:r>
          <a:endParaRPr lang="pt-PT" sz="2700" kern="1200" dirty="0"/>
        </a:p>
      </dsp:txBody>
      <dsp:txXfrm>
        <a:off x="6547437" y="2350480"/>
        <a:ext cx="2329826" cy="1849993"/>
      </dsp:txXfrm>
    </dsp:sp>
    <dsp:sp modelId="{9848CED3-7DCA-47E1-84E9-019AD7AA5790}">
      <dsp:nvSpPr>
        <dsp:cNvPr id="0" name=""/>
        <dsp:cNvSpPr/>
      </dsp:nvSpPr>
      <dsp:spPr>
        <a:xfrm>
          <a:off x="4624405" y="1610853"/>
          <a:ext cx="1849068" cy="1849068"/>
        </a:xfrm>
        <a:prstGeom prst="ellipse">
          <a:avLst/>
        </a:prstGeom>
        <a:solidFill>
          <a:srgbClr val="B2CBAE"/>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155700">
            <a:lnSpc>
              <a:spcPct val="90000"/>
            </a:lnSpc>
            <a:spcBef>
              <a:spcPct val="0"/>
            </a:spcBef>
            <a:spcAft>
              <a:spcPct val="35000"/>
            </a:spcAft>
            <a:buNone/>
          </a:pPr>
          <a:r>
            <a:rPr lang="pt-PT" sz="2600" kern="1200" dirty="0" err="1"/>
            <a:t>XGBoost</a:t>
          </a:r>
          <a:endParaRPr lang="pt-PT" sz="2600" kern="1200" dirty="0"/>
        </a:p>
      </dsp:txBody>
      <dsp:txXfrm>
        <a:off x="4895195" y="1881643"/>
        <a:ext cx="1307488" cy="13074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604ECB-4171-407F-8401-68A5BAE7FD88}">
      <dsp:nvSpPr>
        <dsp:cNvPr id="0" name=""/>
        <dsp:cNvSpPr/>
      </dsp:nvSpPr>
      <dsp:spPr>
        <a:xfrm>
          <a:off x="1354446" y="191"/>
          <a:ext cx="1459178" cy="729589"/>
        </a:xfrm>
        <a:prstGeom prst="roundRect">
          <a:avLst>
            <a:gd name="adj" fmla="val 10000"/>
          </a:avLst>
        </a:prstGeom>
        <a:solidFill>
          <a:srgbClr val="B2CBAE"/>
        </a:solidFill>
        <a:ln w="12700"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pt-PT" sz="1700" kern="1200" dirty="0" err="1"/>
            <a:t>Oversampling</a:t>
          </a:r>
          <a:endParaRPr lang="pt-PT" sz="1700" kern="1200" dirty="0"/>
        </a:p>
      </dsp:txBody>
      <dsp:txXfrm>
        <a:off x="1375815" y="21560"/>
        <a:ext cx="1416440" cy="686851"/>
      </dsp:txXfrm>
    </dsp:sp>
    <dsp:sp modelId="{BB80B84A-11A3-46CA-85C6-6771345576DC}">
      <dsp:nvSpPr>
        <dsp:cNvPr id="0" name=""/>
        <dsp:cNvSpPr/>
      </dsp:nvSpPr>
      <dsp:spPr>
        <a:xfrm>
          <a:off x="1500364" y="729780"/>
          <a:ext cx="145917" cy="547191"/>
        </a:xfrm>
        <a:custGeom>
          <a:avLst/>
          <a:gdLst/>
          <a:ahLst/>
          <a:cxnLst/>
          <a:rect l="0" t="0" r="0" b="0"/>
          <a:pathLst>
            <a:path>
              <a:moveTo>
                <a:pt x="0" y="0"/>
              </a:moveTo>
              <a:lnTo>
                <a:pt x="0" y="547191"/>
              </a:lnTo>
              <a:lnTo>
                <a:pt x="145917" y="547191"/>
              </a:lnTo>
            </a:path>
          </a:pathLst>
        </a:custGeom>
        <a:noFill/>
        <a:ln w="12700" cap="flat" cmpd="sng" algn="ctr">
          <a:solidFill>
            <a:srgbClr val="B2CBAE"/>
          </a:solidFill>
          <a:prstDash val="solid"/>
        </a:ln>
        <a:effectLst/>
      </dsp:spPr>
      <dsp:style>
        <a:lnRef idx="2">
          <a:scrgbClr r="0" g="0" b="0"/>
        </a:lnRef>
        <a:fillRef idx="0">
          <a:scrgbClr r="0" g="0" b="0"/>
        </a:fillRef>
        <a:effectRef idx="0">
          <a:scrgbClr r="0" g="0" b="0"/>
        </a:effectRef>
        <a:fontRef idx="minor"/>
      </dsp:style>
    </dsp:sp>
    <dsp:sp modelId="{9EBE1845-7C66-42B1-A4B8-56D3E5BEA790}">
      <dsp:nvSpPr>
        <dsp:cNvPr id="0" name=""/>
        <dsp:cNvSpPr/>
      </dsp:nvSpPr>
      <dsp:spPr>
        <a:xfrm>
          <a:off x="1646282" y="912177"/>
          <a:ext cx="1167342" cy="729589"/>
        </a:xfrm>
        <a:prstGeom prst="roundRect">
          <a:avLst>
            <a:gd name="adj" fmla="val 10000"/>
          </a:avLst>
        </a:prstGeom>
        <a:solidFill>
          <a:schemeClr val="lt1">
            <a:alpha val="90000"/>
            <a:hueOff val="0"/>
            <a:satOff val="0"/>
            <a:lumOff val="0"/>
            <a:alphaOff val="0"/>
          </a:schemeClr>
        </a:solidFill>
        <a:ln w="12700" cap="flat" cmpd="sng" algn="ctr">
          <a:solidFill>
            <a:srgbClr val="B2CBAE"/>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pt-PT" sz="1600" kern="1200" dirty="0" err="1"/>
            <a:t>Random</a:t>
          </a:r>
          <a:r>
            <a:rPr lang="pt-PT" sz="1600" kern="1200" dirty="0"/>
            <a:t> </a:t>
          </a:r>
        </a:p>
      </dsp:txBody>
      <dsp:txXfrm>
        <a:off x="1667651" y="933546"/>
        <a:ext cx="1124604" cy="686851"/>
      </dsp:txXfrm>
    </dsp:sp>
    <dsp:sp modelId="{9DF21943-462E-4F1B-A851-952471B53290}">
      <dsp:nvSpPr>
        <dsp:cNvPr id="0" name=""/>
        <dsp:cNvSpPr/>
      </dsp:nvSpPr>
      <dsp:spPr>
        <a:xfrm>
          <a:off x="1500364" y="729780"/>
          <a:ext cx="145917" cy="1459178"/>
        </a:xfrm>
        <a:custGeom>
          <a:avLst/>
          <a:gdLst/>
          <a:ahLst/>
          <a:cxnLst/>
          <a:rect l="0" t="0" r="0" b="0"/>
          <a:pathLst>
            <a:path>
              <a:moveTo>
                <a:pt x="0" y="0"/>
              </a:moveTo>
              <a:lnTo>
                <a:pt x="0" y="1459178"/>
              </a:lnTo>
              <a:lnTo>
                <a:pt x="145917" y="1459178"/>
              </a:lnTo>
            </a:path>
          </a:pathLst>
        </a:custGeom>
        <a:noFill/>
        <a:ln w="12700" cap="flat" cmpd="sng" algn="ctr">
          <a:solidFill>
            <a:srgbClr val="B2CBAE"/>
          </a:solidFill>
          <a:prstDash val="solid"/>
        </a:ln>
        <a:effectLst/>
      </dsp:spPr>
      <dsp:style>
        <a:lnRef idx="2">
          <a:scrgbClr r="0" g="0" b="0"/>
        </a:lnRef>
        <a:fillRef idx="0">
          <a:scrgbClr r="0" g="0" b="0"/>
        </a:fillRef>
        <a:effectRef idx="0">
          <a:scrgbClr r="0" g="0" b="0"/>
        </a:effectRef>
        <a:fontRef idx="minor"/>
      </dsp:style>
    </dsp:sp>
    <dsp:sp modelId="{9D0E15D2-6CF5-4292-926A-2127507D354A}">
      <dsp:nvSpPr>
        <dsp:cNvPr id="0" name=""/>
        <dsp:cNvSpPr/>
      </dsp:nvSpPr>
      <dsp:spPr>
        <a:xfrm>
          <a:off x="1646282" y="1824163"/>
          <a:ext cx="1167342" cy="729589"/>
        </a:xfrm>
        <a:prstGeom prst="roundRect">
          <a:avLst>
            <a:gd name="adj" fmla="val 10000"/>
          </a:avLst>
        </a:prstGeom>
        <a:solidFill>
          <a:schemeClr val="lt1">
            <a:alpha val="90000"/>
            <a:hueOff val="0"/>
            <a:satOff val="0"/>
            <a:lumOff val="0"/>
            <a:alphaOff val="0"/>
          </a:schemeClr>
        </a:solidFill>
        <a:ln w="12700" cap="flat" cmpd="sng" algn="ctr">
          <a:solidFill>
            <a:srgbClr val="B2CBAE"/>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pt-PT" sz="1600" kern="1200" dirty="0"/>
            <a:t>SMOTE</a:t>
          </a:r>
        </a:p>
      </dsp:txBody>
      <dsp:txXfrm>
        <a:off x="1667651" y="1845532"/>
        <a:ext cx="1124604" cy="686851"/>
      </dsp:txXfrm>
    </dsp:sp>
    <dsp:sp modelId="{DCCC1CB5-1921-4B0B-9C42-CE61EA8E62DB}">
      <dsp:nvSpPr>
        <dsp:cNvPr id="0" name=""/>
        <dsp:cNvSpPr/>
      </dsp:nvSpPr>
      <dsp:spPr>
        <a:xfrm>
          <a:off x="1500364" y="729780"/>
          <a:ext cx="145917" cy="2371164"/>
        </a:xfrm>
        <a:custGeom>
          <a:avLst/>
          <a:gdLst/>
          <a:ahLst/>
          <a:cxnLst/>
          <a:rect l="0" t="0" r="0" b="0"/>
          <a:pathLst>
            <a:path>
              <a:moveTo>
                <a:pt x="0" y="0"/>
              </a:moveTo>
              <a:lnTo>
                <a:pt x="0" y="2371164"/>
              </a:lnTo>
              <a:lnTo>
                <a:pt x="145917" y="2371164"/>
              </a:lnTo>
            </a:path>
          </a:pathLst>
        </a:custGeom>
        <a:noFill/>
        <a:ln w="12700" cap="flat" cmpd="sng" algn="ctr">
          <a:solidFill>
            <a:srgbClr val="B2CBAE"/>
          </a:solidFill>
          <a:prstDash val="solid"/>
        </a:ln>
        <a:effectLst/>
      </dsp:spPr>
      <dsp:style>
        <a:lnRef idx="2">
          <a:scrgbClr r="0" g="0" b="0"/>
        </a:lnRef>
        <a:fillRef idx="0">
          <a:scrgbClr r="0" g="0" b="0"/>
        </a:fillRef>
        <a:effectRef idx="0">
          <a:scrgbClr r="0" g="0" b="0"/>
        </a:effectRef>
        <a:fontRef idx="minor"/>
      </dsp:style>
    </dsp:sp>
    <dsp:sp modelId="{661FAFF1-4AE8-4C2E-812C-6A733318CE16}">
      <dsp:nvSpPr>
        <dsp:cNvPr id="0" name=""/>
        <dsp:cNvSpPr/>
      </dsp:nvSpPr>
      <dsp:spPr>
        <a:xfrm>
          <a:off x="1646282" y="2736150"/>
          <a:ext cx="1167342" cy="729589"/>
        </a:xfrm>
        <a:prstGeom prst="roundRect">
          <a:avLst>
            <a:gd name="adj" fmla="val 10000"/>
          </a:avLst>
        </a:prstGeom>
        <a:solidFill>
          <a:schemeClr val="lt1">
            <a:alpha val="90000"/>
            <a:hueOff val="0"/>
            <a:satOff val="0"/>
            <a:lumOff val="0"/>
            <a:alphaOff val="0"/>
          </a:schemeClr>
        </a:solidFill>
        <a:ln w="12700" cap="flat" cmpd="sng" algn="ctr">
          <a:solidFill>
            <a:srgbClr val="B2CBAE"/>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pt-PT" sz="1600" kern="1200" dirty="0"/>
            <a:t>B-SMOTE</a:t>
          </a:r>
        </a:p>
      </dsp:txBody>
      <dsp:txXfrm>
        <a:off x="1667651" y="2757519"/>
        <a:ext cx="1124604" cy="686851"/>
      </dsp:txXfrm>
    </dsp:sp>
    <dsp:sp modelId="{AB5CF177-3AC9-4C10-A53A-08B085AD18A7}">
      <dsp:nvSpPr>
        <dsp:cNvPr id="0" name=""/>
        <dsp:cNvSpPr/>
      </dsp:nvSpPr>
      <dsp:spPr>
        <a:xfrm>
          <a:off x="1500364" y="729780"/>
          <a:ext cx="145917" cy="3283151"/>
        </a:xfrm>
        <a:custGeom>
          <a:avLst/>
          <a:gdLst/>
          <a:ahLst/>
          <a:cxnLst/>
          <a:rect l="0" t="0" r="0" b="0"/>
          <a:pathLst>
            <a:path>
              <a:moveTo>
                <a:pt x="0" y="0"/>
              </a:moveTo>
              <a:lnTo>
                <a:pt x="0" y="3283151"/>
              </a:lnTo>
              <a:lnTo>
                <a:pt x="145917" y="3283151"/>
              </a:lnTo>
            </a:path>
          </a:pathLst>
        </a:custGeom>
        <a:noFill/>
        <a:ln w="12700" cap="flat" cmpd="sng" algn="ctr">
          <a:solidFill>
            <a:srgbClr val="B2CBAE"/>
          </a:solidFill>
          <a:prstDash val="solid"/>
        </a:ln>
        <a:effectLst/>
      </dsp:spPr>
      <dsp:style>
        <a:lnRef idx="2">
          <a:scrgbClr r="0" g="0" b="0"/>
        </a:lnRef>
        <a:fillRef idx="0">
          <a:scrgbClr r="0" g="0" b="0"/>
        </a:fillRef>
        <a:effectRef idx="0">
          <a:scrgbClr r="0" g="0" b="0"/>
        </a:effectRef>
        <a:fontRef idx="minor"/>
      </dsp:style>
    </dsp:sp>
    <dsp:sp modelId="{BCD3D389-1A79-4FE0-8422-2D4062BAB6B7}">
      <dsp:nvSpPr>
        <dsp:cNvPr id="0" name=""/>
        <dsp:cNvSpPr/>
      </dsp:nvSpPr>
      <dsp:spPr>
        <a:xfrm>
          <a:off x="1646282" y="3648136"/>
          <a:ext cx="1167342" cy="729589"/>
        </a:xfrm>
        <a:prstGeom prst="roundRect">
          <a:avLst>
            <a:gd name="adj" fmla="val 10000"/>
          </a:avLst>
        </a:prstGeom>
        <a:solidFill>
          <a:schemeClr val="lt1">
            <a:alpha val="90000"/>
            <a:hueOff val="0"/>
            <a:satOff val="0"/>
            <a:lumOff val="0"/>
            <a:alphaOff val="0"/>
          </a:schemeClr>
        </a:solidFill>
        <a:ln w="12700" cap="flat" cmpd="sng" algn="ctr">
          <a:solidFill>
            <a:srgbClr val="B2CBAE"/>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pt-PT" sz="1600" kern="1200" dirty="0"/>
            <a:t>ADASYN</a:t>
          </a:r>
        </a:p>
      </dsp:txBody>
      <dsp:txXfrm>
        <a:off x="1667651" y="3669505"/>
        <a:ext cx="1124604" cy="686851"/>
      </dsp:txXfrm>
    </dsp:sp>
    <dsp:sp modelId="{AFB2C5D0-70ED-4763-AF56-7323923B810A}">
      <dsp:nvSpPr>
        <dsp:cNvPr id="0" name=""/>
        <dsp:cNvSpPr/>
      </dsp:nvSpPr>
      <dsp:spPr>
        <a:xfrm>
          <a:off x="3178419" y="191"/>
          <a:ext cx="1459178" cy="729589"/>
        </a:xfrm>
        <a:prstGeom prst="roundRect">
          <a:avLst>
            <a:gd name="adj" fmla="val 10000"/>
          </a:avLst>
        </a:prstGeom>
        <a:solidFill>
          <a:srgbClr val="B2CBAE"/>
        </a:solidFill>
        <a:ln w="12700"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pt-PT" sz="1700" kern="1200" dirty="0" err="1"/>
            <a:t>Undersampling</a:t>
          </a:r>
          <a:endParaRPr lang="pt-PT" sz="1700" kern="1200" dirty="0"/>
        </a:p>
      </dsp:txBody>
      <dsp:txXfrm>
        <a:off x="3199788" y="21560"/>
        <a:ext cx="1416440" cy="686851"/>
      </dsp:txXfrm>
    </dsp:sp>
    <dsp:sp modelId="{7CF7A6A1-FB7F-4CDC-9968-1C0ECA0BD9CC}">
      <dsp:nvSpPr>
        <dsp:cNvPr id="0" name=""/>
        <dsp:cNvSpPr/>
      </dsp:nvSpPr>
      <dsp:spPr>
        <a:xfrm>
          <a:off x="3324337" y="729780"/>
          <a:ext cx="145917" cy="547191"/>
        </a:xfrm>
        <a:custGeom>
          <a:avLst/>
          <a:gdLst/>
          <a:ahLst/>
          <a:cxnLst/>
          <a:rect l="0" t="0" r="0" b="0"/>
          <a:pathLst>
            <a:path>
              <a:moveTo>
                <a:pt x="0" y="0"/>
              </a:moveTo>
              <a:lnTo>
                <a:pt x="0" y="547191"/>
              </a:lnTo>
              <a:lnTo>
                <a:pt x="145917" y="547191"/>
              </a:lnTo>
            </a:path>
          </a:pathLst>
        </a:custGeom>
        <a:noFill/>
        <a:ln w="12700" cap="flat" cmpd="sng" algn="ctr">
          <a:solidFill>
            <a:srgbClr val="B2CBAE"/>
          </a:solidFill>
          <a:prstDash val="solid"/>
        </a:ln>
        <a:effectLst/>
      </dsp:spPr>
      <dsp:style>
        <a:lnRef idx="2">
          <a:scrgbClr r="0" g="0" b="0"/>
        </a:lnRef>
        <a:fillRef idx="0">
          <a:scrgbClr r="0" g="0" b="0"/>
        </a:fillRef>
        <a:effectRef idx="0">
          <a:scrgbClr r="0" g="0" b="0"/>
        </a:effectRef>
        <a:fontRef idx="minor"/>
      </dsp:style>
    </dsp:sp>
    <dsp:sp modelId="{534FA957-2247-4669-A5BB-5661B56467E8}">
      <dsp:nvSpPr>
        <dsp:cNvPr id="0" name=""/>
        <dsp:cNvSpPr/>
      </dsp:nvSpPr>
      <dsp:spPr>
        <a:xfrm>
          <a:off x="3470255" y="912177"/>
          <a:ext cx="1167342" cy="729589"/>
        </a:xfrm>
        <a:prstGeom prst="roundRect">
          <a:avLst>
            <a:gd name="adj" fmla="val 10000"/>
          </a:avLst>
        </a:prstGeom>
        <a:solidFill>
          <a:schemeClr val="lt1">
            <a:alpha val="90000"/>
            <a:hueOff val="0"/>
            <a:satOff val="0"/>
            <a:lumOff val="0"/>
            <a:alphaOff val="0"/>
          </a:schemeClr>
        </a:solidFill>
        <a:ln w="12700" cap="flat" cmpd="sng" algn="ctr">
          <a:solidFill>
            <a:srgbClr val="B2CBAE"/>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pt-PT" sz="1600" kern="1200" dirty="0" err="1"/>
            <a:t>Random</a:t>
          </a:r>
          <a:endParaRPr lang="pt-PT" sz="1600" kern="1200" dirty="0"/>
        </a:p>
      </dsp:txBody>
      <dsp:txXfrm>
        <a:off x="3491624" y="933546"/>
        <a:ext cx="1124604" cy="686851"/>
      </dsp:txXfrm>
    </dsp:sp>
    <dsp:sp modelId="{355D2C17-2A25-4BEA-8D5F-70BB48078438}">
      <dsp:nvSpPr>
        <dsp:cNvPr id="0" name=""/>
        <dsp:cNvSpPr/>
      </dsp:nvSpPr>
      <dsp:spPr>
        <a:xfrm>
          <a:off x="5002392" y="191"/>
          <a:ext cx="1459178" cy="729589"/>
        </a:xfrm>
        <a:prstGeom prst="roundRect">
          <a:avLst>
            <a:gd name="adj" fmla="val 10000"/>
          </a:avLst>
        </a:prstGeom>
        <a:solidFill>
          <a:srgbClr val="B2CBAE"/>
        </a:solidFill>
        <a:ln w="12700"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pt-PT" sz="1700" kern="1200" dirty="0" err="1"/>
            <a:t>Hybrid</a:t>
          </a:r>
          <a:r>
            <a:rPr lang="pt-PT" sz="1700" kern="1200" dirty="0"/>
            <a:t> </a:t>
          </a:r>
          <a:r>
            <a:rPr lang="pt-PT" sz="1700" kern="1200" dirty="0" err="1"/>
            <a:t>Techniques</a:t>
          </a:r>
          <a:endParaRPr lang="pt-PT" sz="1700" kern="1200" dirty="0"/>
        </a:p>
      </dsp:txBody>
      <dsp:txXfrm>
        <a:off x="5023761" y="21560"/>
        <a:ext cx="1416440" cy="686851"/>
      </dsp:txXfrm>
    </dsp:sp>
    <dsp:sp modelId="{DCE9C613-BCC4-4D36-821C-BEB08509204B}">
      <dsp:nvSpPr>
        <dsp:cNvPr id="0" name=""/>
        <dsp:cNvSpPr/>
      </dsp:nvSpPr>
      <dsp:spPr>
        <a:xfrm>
          <a:off x="5148310" y="729780"/>
          <a:ext cx="145917" cy="547191"/>
        </a:xfrm>
        <a:custGeom>
          <a:avLst/>
          <a:gdLst/>
          <a:ahLst/>
          <a:cxnLst/>
          <a:rect l="0" t="0" r="0" b="0"/>
          <a:pathLst>
            <a:path>
              <a:moveTo>
                <a:pt x="0" y="0"/>
              </a:moveTo>
              <a:lnTo>
                <a:pt x="0" y="547191"/>
              </a:lnTo>
              <a:lnTo>
                <a:pt x="145917" y="547191"/>
              </a:lnTo>
            </a:path>
          </a:pathLst>
        </a:custGeom>
        <a:noFill/>
        <a:ln w="12700" cap="flat" cmpd="sng" algn="ctr">
          <a:solidFill>
            <a:srgbClr val="B2CBAE"/>
          </a:solidFill>
          <a:prstDash val="solid"/>
        </a:ln>
        <a:effectLst/>
      </dsp:spPr>
      <dsp:style>
        <a:lnRef idx="2">
          <a:scrgbClr r="0" g="0" b="0"/>
        </a:lnRef>
        <a:fillRef idx="0">
          <a:scrgbClr r="0" g="0" b="0"/>
        </a:fillRef>
        <a:effectRef idx="0">
          <a:scrgbClr r="0" g="0" b="0"/>
        </a:effectRef>
        <a:fontRef idx="minor"/>
      </dsp:style>
    </dsp:sp>
    <dsp:sp modelId="{18586E38-798E-4B22-BD8D-E7781F8E6C57}">
      <dsp:nvSpPr>
        <dsp:cNvPr id="0" name=""/>
        <dsp:cNvSpPr/>
      </dsp:nvSpPr>
      <dsp:spPr>
        <a:xfrm>
          <a:off x="5294228" y="912177"/>
          <a:ext cx="1167342" cy="729589"/>
        </a:xfrm>
        <a:prstGeom prst="roundRect">
          <a:avLst>
            <a:gd name="adj" fmla="val 10000"/>
          </a:avLst>
        </a:prstGeom>
        <a:solidFill>
          <a:schemeClr val="lt1">
            <a:alpha val="90000"/>
            <a:hueOff val="0"/>
            <a:satOff val="0"/>
            <a:lumOff val="0"/>
            <a:alphaOff val="0"/>
          </a:schemeClr>
        </a:solidFill>
        <a:ln w="12700" cap="flat" cmpd="sng" algn="ctr">
          <a:solidFill>
            <a:srgbClr val="B2CBAE"/>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pt-PT" sz="1600" kern="1200" dirty="0"/>
            <a:t>SMOTEENN</a:t>
          </a:r>
        </a:p>
      </dsp:txBody>
      <dsp:txXfrm>
        <a:off x="5315597" y="933546"/>
        <a:ext cx="1124604" cy="686851"/>
      </dsp:txXfrm>
    </dsp:sp>
    <dsp:sp modelId="{80753F40-800E-4C2B-846A-CB0D40529C6E}">
      <dsp:nvSpPr>
        <dsp:cNvPr id="0" name=""/>
        <dsp:cNvSpPr/>
      </dsp:nvSpPr>
      <dsp:spPr>
        <a:xfrm>
          <a:off x="5148310" y="729780"/>
          <a:ext cx="145917" cy="1459178"/>
        </a:xfrm>
        <a:custGeom>
          <a:avLst/>
          <a:gdLst/>
          <a:ahLst/>
          <a:cxnLst/>
          <a:rect l="0" t="0" r="0" b="0"/>
          <a:pathLst>
            <a:path>
              <a:moveTo>
                <a:pt x="0" y="0"/>
              </a:moveTo>
              <a:lnTo>
                <a:pt x="0" y="1459178"/>
              </a:lnTo>
              <a:lnTo>
                <a:pt x="145917" y="1459178"/>
              </a:lnTo>
            </a:path>
          </a:pathLst>
        </a:custGeom>
        <a:noFill/>
        <a:ln w="12700" cap="flat" cmpd="sng" algn="ctr">
          <a:solidFill>
            <a:srgbClr val="B2CBAE"/>
          </a:solidFill>
          <a:prstDash val="solid"/>
        </a:ln>
        <a:effectLst/>
      </dsp:spPr>
      <dsp:style>
        <a:lnRef idx="2">
          <a:scrgbClr r="0" g="0" b="0"/>
        </a:lnRef>
        <a:fillRef idx="0">
          <a:scrgbClr r="0" g="0" b="0"/>
        </a:fillRef>
        <a:effectRef idx="0">
          <a:scrgbClr r="0" g="0" b="0"/>
        </a:effectRef>
        <a:fontRef idx="minor"/>
      </dsp:style>
    </dsp:sp>
    <dsp:sp modelId="{9D790C94-666C-418A-838F-27814B8450FF}">
      <dsp:nvSpPr>
        <dsp:cNvPr id="0" name=""/>
        <dsp:cNvSpPr/>
      </dsp:nvSpPr>
      <dsp:spPr>
        <a:xfrm>
          <a:off x="5294228" y="1824163"/>
          <a:ext cx="1167342" cy="729589"/>
        </a:xfrm>
        <a:prstGeom prst="roundRect">
          <a:avLst>
            <a:gd name="adj" fmla="val 10000"/>
          </a:avLst>
        </a:prstGeom>
        <a:solidFill>
          <a:schemeClr val="lt1">
            <a:alpha val="90000"/>
            <a:hueOff val="0"/>
            <a:satOff val="0"/>
            <a:lumOff val="0"/>
            <a:alphaOff val="0"/>
          </a:schemeClr>
        </a:solidFill>
        <a:ln w="12700" cap="flat" cmpd="sng" algn="ctr">
          <a:solidFill>
            <a:srgbClr val="B2CBAE"/>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pt-PT" sz="1600" kern="1200" dirty="0" err="1"/>
            <a:t>Hybrid</a:t>
          </a:r>
          <a:r>
            <a:rPr lang="pt-PT" sz="1600" kern="1200" dirty="0"/>
            <a:t> </a:t>
          </a:r>
          <a:r>
            <a:rPr lang="pt-PT" sz="1600" kern="1200" dirty="0" err="1"/>
            <a:t>tomek</a:t>
          </a:r>
          <a:r>
            <a:rPr lang="pt-PT" sz="1600" kern="1200" dirty="0"/>
            <a:t> link BCBSMOTE</a:t>
          </a:r>
        </a:p>
      </dsp:txBody>
      <dsp:txXfrm>
        <a:off x="5315597" y="1845532"/>
        <a:ext cx="1124604" cy="686851"/>
      </dsp:txXfrm>
    </dsp:sp>
    <dsp:sp modelId="{276E3F12-734F-4E91-81E8-C36DA205116D}">
      <dsp:nvSpPr>
        <dsp:cNvPr id="0" name=""/>
        <dsp:cNvSpPr/>
      </dsp:nvSpPr>
      <dsp:spPr>
        <a:xfrm>
          <a:off x="5148310" y="729780"/>
          <a:ext cx="145917" cy="2371164"/>
        </a:xfrm>
        <a:custGeom>
          <a:avLst/>
          <a:gdLst/>
          <a:ahLst/>
          <a:cxnLst/>
          <a:rect l="0" t="0" r="0" b="0"/>
          <a:pathLst>
            <a:path>
              <a:moveTo>
                <a:pt x="0" y="0"/>
              </a:moveTo>
              <a:lnTo>
                <a:pt x="0" y="2371164"/>
              </a:lnTo>
              <a:lnTo>
                <a:pt x="145917" y="2371164"/>
              </a:lnTo>
            </a:path>
          </a:pathLst>
        </a:custGeom>
        <a:noFill/>
        <a:ln w="12700" cap="flat" cmpd="sng" algn="ctr">
          <a:solidFill>
            <a:srgbClr val="B2CBAE"/>
          </a:solidFill>
          <a:prstDash val="solid"/>
        </a:ln>
        <a:effectLst/>
      </dsp:spPr>
      <dsp:style>
        <a:lnRef idx="2">
          <a:scrgbClr r="0" g="0" b="0"/>
        </a:lnRef>
        <a:fillRef idx="0">
          <a:scrgbClr r="0" g="0" b="0"/>
        </a:fillRef>
        <a:effectRef idx="0">
          <a:scrgbClr r="0" g="0" b="0"/>
        </a:effectRef>
        <a:fontRef idx="minor"/>
      </dsp:style>
    </dsp:sp>
    <dsp:sp modelId="{C8E12BB1-FF21-4C0C-BDD7-906DBDB4B7B9}">
      <dsp:nvSpPr>
        <dsp:cNvPr id="0" name=""/>
        <dsp:cNvSpPr/>
      </dsp:nvSpPr>
      <dsp:spPr>
        <a:xfrm>
          <a:off x="5294228" y="2736150"/>
          <a:ext cx="1167342" cy="729589"/>
        </a:xfrm>
        <a:prstGeom prst="roundRect">
          <a:avLst>
            <a:gd name="adj" fmla="val 10000"/>
          </a:avLst>
        </a:prstGeom>
        <a:solidFill>
          <a:schemeClr val="lt1">
            <a:alpha val="90000"/>
            <a:hueOff val="0"/>
            <a:satOff val="0"/>
            <a:lumOff val="0"/>
            <a:alphaOff val="0"/>
          </a:schemeClr>
        </a:solidFill>
        <a:ln w="12700" cap="flat" cmpd="sng" algn="ctr">
          <a:solidFill>
            <a:srgbClr val="B2CBAE"/>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pt-PT" sz="1600" kern="1200" dirty="0"/>
            <a:t>SMOTE-</a:t>
          </a:r>
          <a:r>
            <a:rPr lang="pt-PT" sz="1600" kern="1200" dirty="0" err="1"/>
            <a:t>Tomek</a:t>
          </a:r>
          <a:endParaRPr lang="pt-PT" sz="1600" kern="1200" dirty="0"/>
        </a:p>
      </dsp:txBody>
      <dsp:txXfrm>
        <a:off x="5315597" y="2757519"/>
        <a:ext cx="1124604" cy="686851"/>
      </dsp:txXfrm>
    </dsp:sp>
    <dsp:sp modelId="{593BA8EB-2266-40D6-ADBA-E46833ACEB90}">
      <dsp:nvSpPr>
        <dsp:cNvPr id="0" name=""/>
        <dsp:cNvSpPr/>
      </dsp:nvSpPr>
      <dsp:spPr>
        <a:xfrm>
          <a:off x="6826365" y="191"/>
          <a:ext cx="1459178" cy="729589"/>
        </a:xfrm>
        <a:prstGeom prst="roundRect">
          <a:avLst>
            <a:gd name="adj" fmla="val 10000"/>
          </a:avLst>
        </a:prstGeom>
        <a:solidFill>
          <a:srgbClr val="B2CBAE"/>
        </a:solidFill>
        <a:ln w="12700"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pt-PT" sz="1700" kern="1200" dirty="0" err="1"/>
            <a:t>Class</a:t>
          </a:r>
          <a:r>
            <a:rPr lang="pt-PT" sz="1700" kern="1200" dirty="0"/>
            <a:t> </a:t>
          </a:r>
          <a:r>
            <a:rPr lang="pt-PT" sz="1700" kern="1200" dirty="0" err="1"/>
            <a:t>Weights</a:t>
          </a:r>
          <a:endParaRPr lang="pt-PT" sz="1700" kern="1200" dirty="0"/>
        </a:p>
      </dsp:txBody>
      <dsp:txXfrm>
        <a:off x="6847734" y="21560"/>
        <a:ext cx="1416440" cy="68685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23D371-6ADA-4A3A-B371-2BB20C3DDD13}">
      <dsp:nvSpPr>
        <dsp:cNvPr id="0" name=""/>
        <dsp:cNvSpPr/>
      </dsp:nvSpPr>
      <dsp:spPr>
        <a:xfrm>
          <a:off x="0" y="176039"/>
          <a:ext cx="6305529" cy="374400"/>
        </a:xfrm>
        <a:prstGeom prst="roundRect">
          <a:avLst/>
        </a:prstGeom>
        <a:solidFill>
          <a:srgbClr val="B2CBAE"/>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Imbalanced Datasets</a:t>
          </a:r>
          <a:r>
            <a:rPr lang="en-US" sz="1600" kern="1200"/>
            <a:t>:</a:t>
          </a:r>
        </a:p>
      </dsp:txBody>
      <dsp:txXfrm>
        <a:off x="18277" y="194316"/>
        <a:ext cx="6268975" cy="337846"/>
      </dsp:txXfrm>
    </dsp:sp>
    <dsp:sp modelId="{15C47DF4-25E8-4A54-8731-0A0B63A3B73C}">
      <dsp:nvSpPr>
        <dsp:cNvPr id="0" name=""/>
        <dsp:cNvSpPr/>
      </dsp:nvSpPr>
      <dsp:spPr>
        <a:xfrm>
          <a:off x="0" y="550439"/>
          <a:ext cx="6305529"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0201"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dirty="0"/>
            <a:t>Present unique challenges for machine learning models.</a:t>
          </a:r>
        </a:p>
        <a:p>
          <a:pPr marL="114300" lvl="1" indent="-114300" algn="l" defTabSz="533400">
            <a:lnSpc>
              <a:spcPct val="90000"/>
            </a:lnSpc>
            <a:spcBef>
              <a:spcPct val="0"/>
            </a:spcBef>
            <a:spcAft>
              <a:spcPct val="20000"/>
            </a:spcAft>
            <a:buChar char="•"/>
          </a:pPr>
          <a:r>
            <a:rPr lang="en-US" sz="1200" kern="1200" dirty="0"/>
            <a:t>Require targeted balancing techniques to improve performance.</a:t>
          </a:r>
        </a:p>
      </dsp:txBody>
      <dsp:txXfrm>
        <a:off x="0" y="550439"/>
        <a:ext cx="6305529" cy="397440"/>
      </dsp:txXfrm>
    </dsp:sp>
    <dsp:sp modelId="{7D9EAD88-2DE1-4C5A-8BD0-AD686A5ECA0F}">
      <dsp:nvSpPr>
        <dsp:cNvPr id="0" name=""/>
        <dsp:cNvSpPr/>
      </dsp:nvSpPr>
      <dsp:spPr>
        <a:xfrm>
          <a:off x="0" y="947879"/>
          <a:ext cx="6305529" cy="374400"/>
        </a:xfrm>
        <a:prstGeom prst="roundRect">
          <a:avLst/>
        </a:prstGeom>
        <a:solidFill>
          <a:srgbClr val="B2CBAE"/>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Balancing Techniques</a:t>
          </a:r>
          <a:r>
            <a:rPr lang="en-US" sz="1600" kern="1200"/>
            <a:t>:</a:t>
          </a:r>
        </a:p>
      </dsp:txBody>
      <dsp:txXfrm>
        <a:off x="18277" y="966156"/>
        <a:ext cx="6268975" cy="337846"/>
      </dsp:txXfrm>
    </dsp:sp>
    <dsp:sp modelId="{3DDAB8C9-E270-456A-910D-94B2A9BA0D8A}">
      <dsp:nvSpPr>
        <dsp:cNvPr id="0" name=""/>
        <dsp:cNvSpPr/>
      </dsp:nvSpPr>
      <dsp:spPr>
        <a:xfrm>
          <a:off x="0" y="1322279"/>
          <a:ext cx="6305529"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0201"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a:t>Enhanced </a:t>
          </a:r>
          <a:r>
            <a:rPr lang="en-US" sz="1200" b="1" kern="1200"/>
            <a:t>Precision</a:t>
          </a:r>
          <a:r>
            <a:rPr lang="en-US" sz="1200" kern="1200"/>
            <a:t>, particularly for </a:t>
          </a:r>
          <a:r>
            <a:rPr lang="en-US" sz="1200" b="1" kern="1200"/>
            <a:t>Random Oversampling</a:t>
          </a:r>
          <a:r>
            <a:rPr lang="en-US" sz="1200" kern="1200"/>
            <a:t> and </a:t>
          </a:r>
          <a:r>
            <a:rPr lang="en-US" sz="1200" b="1" kern="1200"/>
            <a:t>B-SMOTE</a:t>
          </a:r>
          <a:r>
            <a:rPr lang="en-US" sz="1200" kern="1200"/>
            <a:t>.</a:t>
          </a:r>
        </a:p>
        <a:p>
          <a:pPr marL="114300" lvl="1" indent="-114300" algn="l" defTabSz="533400">
            <a:lnSpc>
              <a:spcPct val="90000"/>
            </a:lnSpc>
            <a:spcBef>
              <a:spcPct val="0"/>
            </a:spcBef>
            <a:spcAft>
              <a:spcPct val="20000"/>
            </a:spcAft>
            <a:buChar char="•"/>
          </a:pPr>
          <a:r>
            <a:rPr lang="en-US" sz="1200" kern="1200" dirty="0"/>
            <a:t>Improved </a:t>
          </a:r>
          <a:r>
            <a:rPr lang="en-US" sz="1200" b="1" kern="1200" dirty="0"/>
            <a:t>Recall</a:t>
          </a:r>
          <a:r>
            <a:rPr lang="en-US" sz="1200" kern="1200" dirty="0"/>
            <a:t> with </a:t>
          </a:r>
          <a:r>
            <a:rPr lang="en-US" sz="1200" b="1" kern="1200" dirty="0"/>
            <a:t>SMOTE</a:t>
          </a:r>
          <a:r>
            <a:rPr lang="en-US" sz="1200" kern="1200" dirty="0"/>
            <a:t>, </a:t>
          </a:r>
          <a:r>
            <a:rPr lang="en-US" sz="1200" b="1" kern="1200" dirty="0"/>
            <a:t>B-SMOTE</a:t>
          </a:r>
          <a:r>
            <a:rPr lang="en-US" sz="1200" kern="1200" dirty="0"/>
            <a:t>, and </a:t>
          </a:r>
          <a:r>
            <a:rPr lang="en-US" sz="1200" b="1" kern="1200" dirty="0"/>
            <a:t>ADASYN</a:t>
          </a:r>
          <a:r>
            <a:rPr lang="en-US" sz="1200" kern="1200" dirty="0"/>
            <a:t>.</a:t>
          </a:r>
        </a:p>
      </dsp:txBody>
      <dsp:txXfrm>
        <a:off x="0" y="1322279"/>
        <a:ext cx="6305529" cy="397440"/>
      </dsp:txXfrm>
    </dsp:sp>
    <dsp:sp modelId="{5BF375C5-A3CD-4F99-B799-785C10DD95F4}">
      <dsp:nvSpPr>
        <dsp:cNvPr id="0" name=""/>
        <dsp:cNvSpPr/>
      </dsp:nvSpPr>
      <dsp:spPr>
        <a:xfrm>
          <a:off x="0" y="1719719"/>
          <a:ext cx="6305529" cy="374400"/>
        </a:xfrm>
        <a:prstGeom prst="roundRect">
          <a:avLst/>
        </a:prstGeom>
        <a:solidFill>
          <a:srgbClr val="B2CBAE"/>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Key Metrics:</a:t>
          </a:r>
          <a:endParaRPr lang="en-US" sz="1600" kern="1200"/>
        </a:p>
      </dsp:txBody>
      <dsp:txXfrm>
        <a:off x="18277" y="1737996"/>
        <a:ext cx="6268975" cy="337846"/>
      </dsp:txXfrm>
    </dsp:sp>
    <dsp:sp modelId="{422E6E7D-C7CF-41A3-ADD6-EC30A31B7927}">
      <dsp:nvSpPr>
        <dsp:cNvPr id="0" name=""/>
        <dsp:cNvSpPr/>
      </dsp:nvSpPr>
      <dsp:spPr>
        <a:xfrm>
          <a:off x="0" y="2094119"/>
          <a:ext cx="6305529"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0201"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b="1" kern="1200" dirty="0"/>
            <a:t>F1 Score</a:t>
          </a:r>
          <a:r>
            <a:rPr lang="en-US" sz="1200" kern="1200" dirty="0"/>
            <a:t>: Balancing techniques achieved better Precision-Recall balance.</a:t>
          </a:r>
        </a:p>
        <a:p>
          <a:pPr marL="114300" lvl="1" indent="-114300" algn="l" defTabSz="533400">
            <a:lnSpc>
              <a:spcPct val="90000"/>
            </a:lnSpc>
            <a:spcBef>
              <a:spcPct val="0"/>
            </a:spcBef>
            <a:spcAft>
              <a:spcPct val="20000"/>
            </a:spcAft>
            <a:buChar char="•"/>
          </a:pPr>
          <a:r>
            <a:rPr lang="en-US" sz="1200" b="1" kern="1200" dirty="0"/>
            <a:t>Accuracy</a:t>
          </a:r>
          <a:r>
            <a:rPr lang="en-US" sz="1200" kern="1200" dirty="0"/>
            <a:t>: Consistently high but insufficient to measure performance in imbalanced scenarios.</a:t>
          </a:r>
        </a:p>
      </dsp:txBody>
      <dsp:txXfrm>
        <a:off x="0" y="2094119"/>
        <a:ext cx="6305529" cy="397440"/>
      </dsp:txXfrm>
    </dsp:sp>
    <dsp:sp modelId="{E87A22FC-C351-4A68-B64D-6A8DA015976C}">
      <dsp:nvSpPr>
        <dsp:cNvPr id="0" name=""/>
        <dsp:cNvSpPr/>
      </dsp:nvSpPr>
      <dsp:spPr>
        <a:xfrm>
          <a:off x="0" y="2491559"/>
          <a:ext cx="6305529" cy="374400"/>
        </a:xfrm>
        <a:prstGeom prst="roundRect">
          <a:avLst/>
        </a:prstGeom>
        <a:solidFill>
          <a:srgbClr val="B2CBAE"/>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pt-PT" sz="1600" b="1" kern="1200"/>
            <a:t>Impact on Random Forest:</a:t>
          </a:r>
          <a:endParaRPr lang="en-US" sz="1600" kern="1200"/>
        </a:p>
      </dsp:txBody>
      <dsp:txXfrm>
        <a:off x="18277" y="2509836"/>
        <a:ext cx="6268975" cy="337846"/>
      </dsp:txXfrm>
    </dsp:sp>
    <dsp:sp modelId="{F455C02C-9586-4C0B-86AF-3B2123943ECD}">
      <dsp:nvSpPr>
        <dsp:cNvPr id="0" name=""/>
        <dsp:cNvSpPr/>
      </dsp:nvSpPr>
      <dsp:spPr>
        <a:xfrm>
          <a:off x="0" y="2865960"/>
          <a:ext cx="6305529" cy="119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0201"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pt-PT" sz="1200" b="1" kern="1200" dirty="0"/>
            <a:t>Standard </a:t>
          </a:r>
          <a:r>
            <a:rPr lang="pt-PT" sz="1200" b="1" kern="1200" dirty="0" err="1"/>
            <a:t>Random</a:t>
          </a:r>
          <a:r>
            <a:rPr lang="pt-PT" sz="1200" b="1" kern="1200" dirty="0"/>
            <a:t> </a:t>
          </a:r>
          <a:r>
            <a:rPr lang="pt-PT" sz="1200" b="1" kern="1200" dirty="0" err="1"/>
            <a:t>Forest</a:t>
          </a:r>
          <a:r>
            <a:rPr lang="pt-PT" sz="1200" kern="1200" dirty="0"/>
            <a:t>:</a:t>
          </a:r>
          <a:endParaRPr lang="en-US" sz="1200" kern="1200" dirty="0"/>
        </a:p>
        <a:p>
          <a:pPr marL="228600" lvl="2" indent="-114300" algn="l" defTabSz="533400">
            <a:lnSpc>
              <a:spcPct val="90000"/>
            </a:lnSpc>
            <a:spcBef>
              <a:spcPct val="0"/>
            </a:spcBef>
            <a:spcAft>
              <a:spcPct val="20000"/>
            </a:spcAft>
            <a:buChar char="•"/>
          </a:pPr>
          <a:r>
            <a:rPr lang="pt-PT" sz="1200" kern="1200" dirty="0" err="1"/>
            <a:t>Strong</a:t>
          </a:r>
          <a:r>
            <a:rPr lang="pt-PT" sz="1200" kern="1200" dirty="0"/>
            <a:t> </a:t>
          </a:r>
          <a:r>
            <a:rPr lang="pt-PT" sz="1200" kern="1200" dirty="0" err="1"/>
            <a:t>baseline</a:t>
          </a:r>
          <a:r>
            <a:rPr lang="pt-PT" sz="1200" kern="1200" dirty="0"/>
            <a:t> performance.</a:t>
          </a:r>
          <a:endParaRPr lang="en-US" sz="1200" kern="1200" dirty="0"/>
        </a:p>
        <a:p>
          <a:pPr marL="228600" lvl="2" indent="-114300" algn="l" defTabSz="533400">
            <a:lnSpc>
              <a:spcPct val="90000"/>
            </a:lnSpc>
            <a:spcBef>
              <a:spcPct val="0"/>
            </a:spcBef>
            <a:spcAft>
              <a:spcPct val="20000"/>
            </a:spcAft>
            <a:buChar char="•"/>
          </a:pPr>
          <a:r>
            <a:rPr lang="pt-PT" sz="1200" kern="1200" dirty="0" err="1"/>
            <a:t>Outperformed</a:t>
          </a:r>
          <a:r>
            <a:rPr lang="pt-PT" sz="1200" kern="1200" dirty="0"/>
            <a:t> </a:t>
          </a:r>
          <a:r>
            <a:rPr lang="pt-PT" sz="1200" kern="1200" dirty="0" err="1"/>
            <a:t>others</a:t>
          </a:r>
          <a:r>
            <a:rPr lang="pt-PT" sz="1200" kern="1200" dirty="0"/>
            <a:t> in </a:t>
          </a:r>
          <a:r>
            <a:rPr lang="pt-PT" sz="1200" b="1" kern="1200" dirty="0"/>
            <a:t>AUPRCC</a:t>
          </a:r>
          <a:r>
            <a:rPr lang="pt-PT" sz="1200" kern="1200" dirty="0"/>
            <a:t> (</a:t>
          </a:r>
          <a:r>
            <a:rPr lang="pt-PT" sz="1200" kern="1200" dirty="0" err="1"/>
            <a:t>minority</a:t>
          </a:r>
          <a:r>
            <a:rPr lang="pt-PT" sz="1200" kern="1200" dirty="0"/>
            <a:t> </a:t>
          </a:r>
          <a:r>
            <a:rPr lang="pt-PT" sz="1200" kern="1200" dirty="0" err="1"/>
            <a:t>class</a:t>
          </a:r>
          <a:r>
            <a:rPr lang="pt-PT" sz="1200" kern="1200" dirty="0"/>
            <a:t> </a:t>
          </a:r>
          <a:r>
            <a:rPr lang="pt-PT" sz="1200" kern="1200" dirty="0" err="1"/>
            <a:t>focus</a:t>
          </a:r>
          <a:r>
            <a:rPr lang="pt-PT" sz="1200" kern="1200" dirty="0"/>
            <a:t>).</a:t>
          </a:r>
          <a:endParaRPr lang="en-US" sz="1200" kern="1200" dirty="0"/>
        </a:p>
        <a:p>
          <a:pPr marL="114300" lvl="1" indent="-114300" algn="l" defTabSz="533400">
            <a:lnSpc>
              <a:spcPct val="90000"/>
            </a:lnSpc>
            <a:spcBef>
              <a:spcPct val="0"/>
            </a:spcBef>
            <a:spcAft>
              <a:spcPct val="20000"/>
            </a:spcAft>
            <a:buChar char="•"/>
          </a:pPr>
          <a:r>
            <a:rPr lang="pt-PT" sz="1200" b="1" kern="1200" dirty="0" err="1"/>
            <a:t>With</a:t>
          </a:r>
          <a:r>
            <a:rPr lang="pt-PT" sz="1200" b="1" kern="1200" dirty="0"/>
            <a:t> </a:t>
          </a:r>
          <a:r>
            <a:rPr lang="pt-PT" sz="1200" b="1" kern="1200" dirty="0" err="1"/>
            <a:t>Balancing</a:t>
          </a:r>
          <a:r>
            <a:rPr lang="pt-PT" sz="1200" b="1" kern="1200" dirty="0"/>
            <a:t> </a:t>
          </a:r>
          <a:r>
            <a:rPr lang="pt-PT" sz="1200" b="1" kern="1200" dirty="0" err="1"/>
            <a:t>Techniques</a:t>
          </a:r>
          <a:r>
            <a:rPr lang="pt-PT" sz="1200" kern="1200" dirty="0"/>
            <a:t>:</a:t>
          </a:r>
          <a:endParaRPr lang="en-US" sz="1200" kern="1200" dirty="0"/>
        </a:p>
        <a:p>
          <a:pPr marL="228600" lvl="2" indent="-114300" algn="l" defTabSz="533400">
            <a:lnSpc>
              <a:spcPct val="90000"/>
            </a:lnSpc>
            <a:spcBef>
              <a:spcPct val="0"/>
            </a:spcBef>
            <a:spcAft>
              <a:spcPct val="20000"/>
            </a:spcAft>
            <a:buChar char="•"/>
          </a:pPr>
          <a:r>
            <a:rPr lang="pt-PT" sz="1200" kern="1200" dirty="0" err="1"/>
            <a:t>Notable</a:t>
          </a:r>
          <a:r>
            <a:rPr lang="pt-PT" sz="1200" kern="1200" dirty="0"/>
            <a:t> </a:t>
          </a:r>
          <a:r>
            <a:rPr lang="pt-PT" sz="1200" kern="1200" dirty="0" err="1"/>
            <a:t>improvements</a:t>
          </a:r>
          <a:r>
            <a:rPr lang="pt-PT" sz="1200" kern="1200" dirty="0"/>
            <a:t> in </a:t>
          </a:r>
          <a:r>
            <a:rPr lang="pt-PT" sz="1200" b="1" kern="1200" dirty="0" err="1"/>
            <a:t>Recall</a:t>
          </a:r>
          <a:r>
            <a:rPr lang="pt-PT" sz="1200" kern="1200" dirty="0"/>
            <a:t> </a:t>
          </a:r>
          <a:r>
            <a:rPr lang="pt-PT" sz="1200" kern="1200" dirty="0" err="1"/>
            <a:t>and</a:t>
          </a:r>
          <a:r>
            <a:rPr lang="pt-PT" sz="1200" kern="1200" dirty="0"/>
            <a:t> </a:t>
          </a:r>
          <a:r>
            <a:rPr lang="pt-PT" sz="1200" b="1" kern="1200" dirty="0"/>
            <a:t>F1 Score</a:t>
          </a:r>
          <a:r>
            <a:rPr lang="pt-PT" sz="1200" kern="1200" dirty="0"/>
            <a:t>.</a:t>
          </a:r>
          <a:endParaRPr lang="en-US" sz="1200" kern="1200" dirty="0"/>
        </a:p>
        <a:p>
          <a:pPr marL="228600" lvl="2" indent="-114300" algn="l" defTabSz="533400">
            <a:lnSpc>
              <a:spcPct val="90000"/>
            </a:lnSpc>
            <a:spcBef>
              <a:spcPct val="0"/>
            </a:spcBef>
            <a:spcAft>
              <a:spcPct val="20000"/>
            </a:spcAft>
            <a:buChar char="•"/>
          </a:pPr>
          <a:r>
            <a:rPr lang="pt-PT" sz="1200" b="1" kern="1200" dirty="0"/>
            <a:t>B-SMOTE</a:t>
          </a:r>
          <a:r>
            <a:rPr lang="pt-PT" sz="1200" kern="1200" dirty="0"/>
            <a:t>, </a:t>
          </a:r>
          <a:r>
            <a:rPr lang="pt-PT" sz="1200" b="1" kern="1200" dirty="0" err="1"/>
            <a:t>Random</a:t>
          </a:r>
          <a:r>
            <a:rPr lang="pt-PT" sz="1200" b="1" kern="1200" dirty="0"/>
            <a:t> </a:t>
          </a:r>
          <a:r>
            <a:rPr lang="pt-PT" sz="1200" b="1" kern="1200" dirty="0" err="1"/>
            <a:t>Oversampling</a:t>
          </a:r>
          <a:r>
            <a:rPr lang="pt-PT" sz="1200" kern="1200" dirty="0"/>
            <a:t>, </a:t>
          </a:r>
          <a:r>
            <a:rPr lang="pt-PT" sz="1200" kern="1200" dirty="0" err="1"/>
            <a:t>and</a:t>
          </a:r>
          <a:r>
            <a:rPr lang="pt-PT" sz="1200" kern="1200" dirty="0"/>
            <a:t> </a:t>
          </a:r>
          <a:r>
            <a:rPr lang="pt-PT" sz="1200" b="1" kern="1200" dirty="0"/>
            <a:t>SMOTE-</a:t>
          </a:r>
          <a:r>
            <a:rPr lang="pt-PT" sz="1200" b="1" kern="1200" dirty="0" err="1"/>
            <a:t>Tomek</a:t>
          </a:r>
          <a:r>
            <a:rPr lang="pt-PT" sz="1200" kern="1200" dirty="0"/>
            <a:t> </a:t>
          </a:r>
          <a:r>
            <a:rPr lang="pt-PT" sz="1200" kern="1200" dirty="0" err="1"/>
            <a:t>boosted</a:t>
          </a:r>
          <a:r>
            <a:rPr lang="pt-PT" sz="1200" kern="1200" dirty="0"/>
            <a:t> </a:t>
          </a:r>
          <a:r>
            <a:rPr lang="pt-PT" sz="1200" kern="1200" dirty="0" err="1"/>
            <a:t>model</a:t>
          </a:r>
          <a:r>
            <a:rPr lang="pt-PT" sz="1200" kern="1200" dirty="0"/>
            <a:t> </a:t>
          </a:r>
          <a:r>
            <a:rPr lang="pt-PT" sz="1200" kern="1200" dirty="0" err="1"/>
            <a:t>robustness</a:t>
          </a:r>
          <a:r>
            <a:rPr lang="pt-PT" sz="1200" kern="1200" dirty="0"/>
            <a:t>.</a:t>
          </a:r>
          <a:endParaRPr lang="en-US" sz="1200" kern="1200" dirty="0"/>
        </a:p>
      </dsp:txBody>
      <dsp:txXfrm>
        <a:off x="0" y="2865960"/>
        <a:ext cx="6305529" cy="1192320"/>
      </dsp:txXfrm>
    </dsp:sp>
    <dsp:sp modelId="{DB0E6DFE-2D92-43F1-A08E-D4752933CD7A}">
      <dsp:nvSpPr>
        <dsp:cNvPr id="0" name=""/>
        <dsp:cNvSpPr/>
      </dsp:nvSpPr>
      <dsp:spPr>
        <a:xfrm>
          <a:off x="0" y="4058280"/>
          <a:ext cx="6305529" cy="374400"/>
        </a:xfrm>
        <a:prstGeom prst="roundRect">
          <a:avLst/>
        </a:prstGeom>
        <a:solidFill>
          <a:srgbClr val="B2CBAE"/>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pt-PT" sz="1600" b="1" kern="1200"/>
            <a:t>Impact on XGBoost:</a:t>
          </a:r>
          <a:endParaRPr lang="en-US" sz="1600" kern="1200"/>
        </a:p>
      </dsp:txBody>
      <dsp:txXfrm>
        <a:off x="18277" y="4076557"/>
        <a:ext cx="6268975" cy="337846"/>
      </dsp:txXfrm>
    </dsp:sp>
    <dsp:sp modelId="{82103A52-A26A-43FF-991A-B075D89EA257}">
      <dsp:nvSpPr>
        <dsp:cNvPr id="0" name=""/>
        <dsp:cNvSpPr/>
      </dsp:nvSpPr>
      <dsp:spPr>
        <a:xfrm>
          <a:off x="0" y="4432680"/>
          <a:ext cx="6305529" cy="563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0201"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pt-PT" sz="1200" kern="1200" dirty="0" err="1"/>
            <a:t>Showed</a:t>
          </a:r>
          <a:r>
            <a:rPr lang="pt-PT" sz="1200" kern="1200" dirty="0"/>
            <a:t> </a:t>
          </a:r>
          <a:r>
            <a:rPr lang="pt-PT" sz="1200" kern="1200" dirty="0" err="1"/>
            <a:t>significant</a:t>
          </a:r>
          <a:r>
            <a:rPr lang="pt-PT" sz="1200" kern="1200" dirty="0"/>
            <a:t> performance </a:t>
          </a:r>
          <a:r>
            <a:rPr lang="pt-PT" sz="1200" kern="1200" dirty="0" err="1"/>
            <a:t>improvements</a:t>
          </a:r>
          <a:r>
            <a:rPr lang="pt-PT" sz="1200" kern="1200" dirty="0"/>
            <a:t> </a:t>
          </a:r>
          <a:r>
            <a:rPr lang="pt-PT" sz="1200" kern="1200" dirty="0" err="1"/>
            <a:t>with</a:t>
          </a:r>
          <a:r>
            <a:rPr lang="pt-PT" sz="1200" kern="1200" dirty="0"/>
            <a:t> </a:t>
          </a:r>
          <a:r>
            <a:rPr lang="pt-PT" sz="1200" kern="1200" dirty="0" err="1"/>
            <a:t>balancing</a:t>
          </a:r>
          <a:r>
            <a:rPr lang="pt-PT" sz="1200" kern="1200" dirty="0"/>
            <a:t> </a:t>
          </a:r>
          <a:r>
            <a:rPr lang="pt-PT" sz="1200" kern="1200" dirty="0" err="1"/>
            <a:t>methods</a:t>
          </a:r>
          <a:r>
            <a:rPr lang="pt-PT" sz="1200" kern="1200" dirty="0"/>
            <a:t>.</a:t>
          </a:r>
          <a:endParaRPr lang="en-US" sz="1200" kern="1200" dirty="0"/>
        </a:p>
        <a:p>
          <a:pPr marL="114300" lvl="1" indent="-114300" algn="l" defTabSz="533400">
            <a:lnSpc>
              <a:spcPct val="90000"/>
            </a:lnSpc>
            <a:spcBef>
              <a:spcPct val="0"/>
            </a:spcBef>
            <a:spcAft>
              <a:spcPct val="20000"/>
            </a:spcAft>
            <a:buChar char="•"/>
          </a:pPr>
          <a:r>
            <a:rPr lang="pt-PT" sz="1200" kern="1200" dirty="0" err="1"/>
            <a:t>Techniques</a:t>
          </a:r>
          <a:r>
            <a:rPr lang="pt-PT" sz="1200" kern="1200" dirty="0"/>
            <a:t> </a:t>
          </a:r>
          <a:r>
            <a:rPr lang="pt-PT" sz="1200" kern="1200" dirty="0" err="1"/>
            <a:t>like</a:t>
          </a:r>
          <a:r>
            <a:rPr lang="pt-PT" sz="1200" kern="1200" dirty="0"/>
            <a:t> </a:t>
          </a:r>
          <a:r>
            <a:rPr lang="pt-PT" sz="1200" b="1" kern="1200" dirty="0" err="1"/>
            <a:t>Hybrid</a:t>
          </a:r>
          <a:r>
            <a:rPr lang="pt-PT" sz="1200" b="1" kern="1200" dirty="0"/>
            <a:t> </a:t>
          </a:r>
          <a:r>
            <a:rPr lang="pt-PT" sz="1200" b="1" kern="1200" dirty="0" err="1"/>
            <a:t>Tomek</a:t>
          </a:r>
          <a:r>
            <a:rPr lang="pt-PT" sz="1200" b="1" kern="1200" dirty="0"/>
            <a:t> Links BC-SMOTE</a:t>
          </a:r>
          <a:r>
            <a:rPr lang="pt-PT" sz="1200" kern="1200" dirty="0"/>
            <a:t> </a:t>
          </a:r>
          <a:r>
            <a:rPr lang="pt-PT" sz="1200" kern="1200" dirty="0" err="1"/>
            <a:t>refined</a:t>
          </a:r>
          <a:r>
            <a:rPr lang="pt-PT" sz="1200" kern="1200" dirty="0"/>
            <a:t> </a:t>
          </a:r>
          <a:r>
            <a:rPr lang="pt-PT" sz="1200" kern="1200" dirty="0" err="1"/>
            <a:t>predictions</a:t>
          </a:r>
          <a:r>
            <a:rPr lang="pt-PT" sz="1200" kern="1200" dirty="0"/>
            <a:t> </a:t>
          </a:r>
          <a:r>
            <a:rPr lang="pt-PT" sz="1200" kern="1200" dirty="0" err="1"/>
            <a:t>and</a:t>
          </a:r>
          <a:r>
            <a:rPr lang="pt-PT" sz="1200" kern="1200" dirty="0"/>
            <a:t> </a:t>
          </a:r>
          <a:r>
            <a:rPr lang="pt-PT" sz="1200" kern="1200" dirty="0" err="1"/>
            <a:t>enhanced</a:t>
          </a:r>
          <a:r>
            <a:rPr lang="pt-PT" sz="1200" kern="1200" dirty="0"/>
            <a:t> </a:t>
          </a:r>
          <a:r>
            <a:rPr lang="pt-PT" sz="1200" kern="1200" dirty="0" err="1"/>
            <a:t>decision</a:t>
          </a:r>
          <a:r>
            <a:rPr lang="pt-PT" sz="1200" kern="1200" dirty="0"/>
            <a:t> </a:t>
          </a:r>
          <a:r>
            <a:rPr lang="pt-PT" sz="1200" kern="1200" dirty="0" err="1"/>
            <a:t>boundaries</a:t>
          </a:r>
          <a:r>
            <a:rPr lang="pt-PT" sz="1200" kern="1200" dirty="0"/>
            <a:t>.</a:t>
          </a:r>
          <a:endParaRPr lang="en-US" sz="1200" kern="1200" dirty="0"/>
        </a:p>
      </dsp:txBody>
      <dsp:txXfrm>
        <a:off x="0" y="4432680"/>
        <a:ext cx="6305529" cy="563040"/>
      </dsp:txXfrm>
    </dsp:sp>
    <dsp:sp modelId="{B77C5FD5-745D-47C0-9072-A20F926BE318}">
      <dsp:nvSpPr>
        <dsp:cNvPr id="0" name=""/>
        <dsp:cNvSpPr/>
      </dsp:nvSpPr>
      <dsp:spPr>
        <a:xfrm>
          <a:off x="0" y="4995720"/>
          <a:ext cx="6305529" cy="374400"/>
        </a:xfrm>
        <a:prstGeom prst="roundRect">
          <a:avLst/>
        </a:prstGeom>
        <a:solidFill>
          <a:srgbClr val="B2CBAE"/>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Future Directions:</a:t>
          </a:r>
          <a:endParaRPr lang="en-US" sz="1600" kern="1200"/>
        </a:p>
      </dsp:txBody>
      <dsp:txXfrm>
        <a:off x="18277" y="5013997"/>
        <a:ext cx="6268975" cy="337846"/>
      </dsp:txXfrm>
    </dsp:sp>
    <dsp:sp modelId="{AAE8B983-E3DC-4586-8520-FE323C6AB68F}">
      <dsp:nvSpPr>
        <dsp:cNvPr id="0" name=""/>
        <dsp:cNvSpPr/>
      </dsp:nvSpPr>
      <dsp:spPr>
        <a:xfrm>
          <a:off x="0" y="5370120"/>
          <a:ext cx="6305529"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0201"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dirty="0"/>
            <a:t>Further research into hybrid methods to reduce noise while maintaining balance.</a:t>
          </a:r>
        </a:p>
        <a:p>
          <a:pPr marL="114300" lvl="1" indent="-114300" algn="l" defTabSz="533400">
            <a:lnSpc>
              <a:spcPct val="90000"/>
            </a:lnSpc>
            <a:spcBef>
              <a:spcPct val="0"/>
            </a:spcBef>
            <a:spcAft>
              <a:spcPct val="20000"/>
            </a:spcAft>
            <a:buChar char="•"/>
          </a:pPr>
          <a:r>
            <a:rPr lang="en-US" sz="1200" kern="1200" dirty="0"/>
            <a:t>Explore dataset-specific optimizations to enhance model generalizability.</a:t>
          </a:r>
        </a:p>
      </dsp:txBody>
      <dsp:txXfrm>
        <a:off x="0" y="5370120"/>
        <a:ext cx="6305529" cy="397440"/>
      </dsp:txXfrm>
    </dsp:sp>
  </dsp:spTree>
</dsp:drawing>
</file>

<file path=ppt/diagrams/layout1.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0FA83B-A815-4FC1-9309-B79667FFA61C}" type="datetimeFigureOut">
              <a:rPr lang="pt-PT" smtClean="0"/>
              <a:t>06/12/2024</a:t>
            </a:fld>
            <a:endParaRPr lang="pt-PT"/>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PT"/>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1B9CEB-BF53-49FC-B677-A6A019229240}" type="slidenum">
              <a:rPr lang="pt-PT" smtClean="0"/>
              <a:t>‹nº›</a:t>
            </a:fld>
            <a:endParaRPr lang="pt-PT"/>
          </a:p>
        </p:txBody>
      </p:sp>
    </p:spTree>
    <p:extLst>
      <p:ext uri="{BB962C8B-B14F-4D97-AF65-F5344CB8AC3E}">
        <p14:creationId xmlns:p14="http://schemas.microsoft.com/office/powerpoint/2010/main" val="2062629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a:buFont typeface="Arial" panose="020B0604020202020204" pitchFamily="34" charset="0"/>
              <a:buChar char="•"/>
            </a:pPr>
            <a:r>
              <a:rPr lang="en-US" b="1" dirty="0"/>
              <a:t>MATHEUS</a:t>
            </a:r>
          </a:p>
          <a:p>
            <a:pPr>
              <a:buFont typeface="Arial" panose="020B0604020202020204" pitchFamily="34" charset="0"/>
              <a:buChar char="•"/>
            </a:pPr>
            <a:r>
              <a:rPr lang="en-US" b="1" dirty="0"/>
              <a:t>Source of Bias</a:t>
            </a:r>
            <a:r>
              <a:rPr lang="en-US" dirty="0"/>
              <a:t>:</a:t>
            </a:r>
          </a:p>
          <a:p>
            <a:pPr marL="742950" lvl="1" indent="-285750">
              <a:buFont typeface="Arial" panose="020B0604020202020204" pitchFamily="34" charset="0"/>
              <a:buChar char="•"/>
            </a:pPr>
            <a:r>
              <a:rPr lang="en-US" dirty="0"/>
              <a:t>Class Imbalances in training data.</a:t>
            </a:r>
          </a:p>
          <a:p>
            <a:pPr marL="742950" lvl="1" indent="-285750">
              <a:buFont typeface="Arial" panose="020B0604020202020204" pitchFamily="34" charset="0"/>
              <a:buChar char="•"/>
            </a:pPr>
            <a:r>
              <a:rPr lang="en-US" dirty="0"/>
              <a:t>Underrepresentation of certain groups leads to skewed outputs.</a:t>
            </a:r>
          </a:p>
          <a:p>
            <a:pPr marL="742950" lvl="1" indent="-285750">
              <a:buFont typeface="Arial" panose="020B0604020202020204" pitchFamily="34" charset="0"/>
              <a:buChar char="•"/>
            </a:pPr>
            <a:r>
              <a:rPr lang="en-US" dirty="0"/>
              <a:t>Dominant groups disproportionately reflected.</a:t>
            </a:r>
          </a:p>
          <a:p>
            <a:r>
              <a:rPr lang="en-US" b="1" dirty="0"/>
              <a:t>Societal Impact</a:t>
            </a:r>
          </a:p>
          <a:p>
            <a:pPr>
              <a:buFont typeface="Arial" panose="020B0604020202020204" pitchFamily="34" charset="0"/>
              <a:buChar char="•"/>
            </a:pPr>
            <a:r>
              <a:rPr lang="en-US" dirty="0"/>
              <a:t>Raises critical concerns about:</a:t>
            </a:r>
          </a:p>
          <a:p>
            <a:pPr marL="742950" lvl="1" indent="-285750">
              <a:buFont typeface="Arial" panose="020B0604020202020204" pitchFamily="34" charset="0"/>
              <a:buChar char="•"/>
            </a:pPr>
            <a:r>
              <a:rPr lang="en-US" dirty="0"/>
              <a:t>Ethics and Accountability.</a:t>
            </a:r>
          </a:p>
          <a:p>
            <a:pPr marL="742950" lvl="1" indent="-285750">
              <a:buFont typeface="Arial" panose="020B0604020202020204" pitchFamily="34" charset="0"/>
              <a:buChar char="•"/>
            </a:pPr>
            <a:r>
              <a:rPr lang="en-US" dirty="0"/>
              <a:t>Developers’ and researchers’ responsibility.</a:t>
            </a:r>
          </a:p>
          <a:p>
            <a:pPr>
              <a:buFont typeface="Arial" panose="020B0604020202020204" pitchFamily="34" charset="0"/>
              <a:buChar char="•"/>
            </a:pPr>
            <a:r>
              <a:rPr lang="en-US" dirty="0"/>
              <a:t>Objective of the case study: Foster fair and inclusive AI technologies.</a:t>
            </a:r>
          </a:p>
          <a:p>
            <a:endParaRPr lang="pt-PT" dirty="0"/>
          </a:p>
        </p:txBody>
      </p:sp>
      <p:sp>
        <p:nvSpPr>
          <p:cNvPr id="4" name="Marcador de Posição do Número do Diapositivo 3"/>
          <p:cNvSpPr>
            <a:spLocks noGrp="1"/>
          </p:cNvSpPr>
          <p:nvPr>
            <p:ph type="sldNum" sz="quarter" idx="5"/>
          </p:nvPr>
        </p:nvSpPr>
        <p:spPr/>
        <p:txBody>
          <a:bodyPr/>
          <a:lstStyle/>
          <a:p>
            <a:fld id="{021B9CEB-BF53-49FC-B677-A6A019229240}" type="slidenum">
              <a:rPr lang="pt-PT" smtClean="0"/>
              <a:t>2</a:t>
            </a:fld>
            <a:endParaRPr lang="pt-PT"/>
          </a:p>
        </p:txBody>
      </p:sp>
    </p:spTree>
    <p:extLst>
      <p:ext uri="{BB962C8B-B14F-4D97-AF65-F5344CB8AC3E}">
        <p14:creationId xmlns:p14="http://schemas.microsoft.com/office/powerpoint/2010/main" val="3997274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200" b="1" i="0" u="none" strike="noStrike" cap="none" normalizeH="0" baseline="0">
                <a:ln>
                  <a:noFill/>
                </a:ln>
                <a:solidFill>
                  <a:schemeClr val="tx1"/>
                </a:solidFill>
                <a:effectLst/>
                <a:latin typeface="Arial" panose="020B0604020202020204" pitchFamily="34" charset="0"/>
              </a:rPr>
              <a:t>MATHEUS</a:t>
            </a:r>
            <a:endParaRPr kumimoji="0" lang="pt-PT" altLang="pt-PT"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200" b="1" i="0" u="none" strike="noStrike" cap="none" normalizeH="0" baseline="0" dirty="0">
                <a:ln>
                  <a:noFill/>
                </a:ln>
                <a:solidFill>
                  <a:schemeClr val="tx1"/>
                </a:solidFill>
                <a:effectLst/>
                <a:latin typeface="Arial" panose="020B0604020202020204" pitchFamily="34" charset="0"/>
              </a:rPr>
              <a:t>Data</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Credit</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Card</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Fraud</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Detection</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dataset</a:t>
            </a:r>
            <a:endParaRPr kumimoji="0" lang="pt-PT" altLang="pt-PT"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PT" sz="1200" b="0" i="0" u="none" strike="noStrike" cap="none" normalizeH="0" baseline="0" dirty="0">
                <a:ln>
                  <a:noFill/>
                </a:ln>
                <a:solidFill>
                  <a:schemeClr val="tx1"/>
                </a:solidFill>
                <a:effectLst/>
                <a:latin typeface="Arial" panose="020B0604020202020204" pitchFamily="34" charset="0"/>
              </a:rPr>
              <a:t>            </a:t>
            </a:r>
            <a:r>
              <a:rPr lang="pt-PT" dirty="0" err="1"/>
              <a:t>Transactions</a:t>
            </a:r>
            <a:r>
              <a:rPr lang="pt-PT" dirty="0"/>
              <a:t>: 284,807 (</a:t>
            </a:r>
            <a:r>
              <a:rPr lang="en-US" b="0" i="0" dirty="0">
                <a:solidFill>
                  <a:srgbClr val="212529"/>
                </a:solidFill>
                <a:effectLst/>
                <a:latin typeface="Verdana" panose="020B0604030504040204" pitchFamily="34" charset="0"/>
              </a:rPr>
              <a:t>two hundred eighty-four thousand eight hundred seven)</a:t>
            </a:r>
            <a:endParaRPr lang="pt-PT" dirty="0"/>
          </a:p>
          <a:p>
            <a:pPr lvl="1"/>
            <a:r>
              <a:rPr lang="pt-PT" dirty="0" err="1"/>
              <a:t>Fraudulent</a:t>
            </a:r>
            <a:r>
              <a:rPr lang="pt-PT" dirty="0"/>
              <a:t> Cases: 492 (~0.172% </a:t>
            </a:r>
            <a:r>
              <a:rPr lang="pt-PT" dirty="0" err="1"/>
              <a:t>of</a:t>
            </a:r>
            <a:r>
              <a:rPr lang="pt-PT" dirty="0"/>
              <a:t> total)</a:t>
            </a:r>
          </a:p>
          <a:p>
            <a:pPr lvl="1"/>
            <a:r>
              <a:rPr lang="pt-PT" dirty="0" err="1"/>
              <a:t>Highly</a:t>
            </a:r>
            <a:r>
              <a:rPr lang="pt-PT" dirty="0"/>
              <a:t> </a:t>
            </a:r>
            <a:r>
              <a:rPr lang="pt-PT" dirty="0" err="1"/>
              <a:t>imbalanced</a:t>
            </a:r>
            <a:r>
              <a:rPr lang="pt-PT" dirty="0"/>
              <a:t> </a:t>
            </a:r>
            <a:r>
              <a:rPr lang="pt-PT" dirty="0" err="1"/>
              <a:t>dataset</a:t>
            </a:r>
            <a:r>
              <a:rPr lang="pt-PT" dirty="0"/>
              <a:t>.</a:t>
            </a:r>
          </a:p>
          <a:p>
            <a:pPr lvl="1"/>
            <a:r>
              <a:rPr lang="pt-PT" b="1" dirty="0" err="1"/>
              <a:t>Features</a:t>
            </a:r>
            <a:r>
              <a:rPr lang="pt-PT" b="1" dirty="0"/>
              <a:t>:</a:t>
            </a:r>
          </a:p>
          <a:p>
            <a:pPr marL="228600" lvl="1" indent="0">
              <a:buNone/>
            </a:pPr>
            <a:r>
              <a:rPr lang="pt-PT" dirty="0"/>
              <a:t>	28 </a:t>
            </a:r>
            <a:r>
              <a:rPr lang="pt-PT" dirty="0" err="1"/>
              <a:t>anonymized</a:t>
            </a:r>
            <a:r>
              <a:rPr lang="pt-PT" dirty="0"/>
              <a:t> </a:t>
            </a:r>
            <a:r>
              <a:rPr lang="pt-PT" dirty="0" err="1"/>
              <a:t>numerical</a:t>
            </a:r>
            <a:r>
              <a:rPr lang="pt-PT" dirty="0"/>
              <a:t> </a:t>
            </a:r>
            <a:r>
              <a:rPr lang="pt-PT" dirty="0" err="1"/>
              <a:t>features</a:t>
            </a:r>
            <a:r>
              <a:rPr lang="pt-PT" dirty="0"/>
              <a:t> (via PCA).</a:t>
            </a:r>
          </a:p>
          <a:p>
            <a:pPr marL="228600" lvl="1" indent="0">
              <a:buNone/>
            </a:pPr>
            <a:r>
              <a:rPr lang="pt-PT" dirty="0"/>
              <a:t>	Non-</a:t>
            </a:r>
            <a:r>
              <a:rPr lang="pt-PT" dirty="0" err="1"/>
              <a:t>transformed</a:t>
            </a:r>
            <a:r>
              <a:rPr lang="pt-PT" dirty="0"/>
              <a:t>: Time, </a:t>
            </a:r>
            <a:r>
              <a:rPr lang="pt-PT" dirty="0" err="1"/>
              <a:t>Amount</a:t>
            </a:r>
            <a:r>
              <a:rPr lang="pt-PT" dirty="0"/>
              <a:t>.</a:t>
            </a:r>
          </a:p>
          <a:p>
            <a:pPr marL="228600" lvl="1" indent="0">
              <a:buNone/>
            </a:pPr>
            <a:r>
              <a:rPr lang="pt-PT" dirty="0"/>
              <a:t>	Target </a:t>
            </a:r>
            <a:r>
              <a:rPr lang="pt-PT" dirty="0" err="1"/>
              <a:t>variable</a:t>
            </a:r>
            <a:r>
              <a:rPr lang="pt-PT" dirty="0"/>
              <a:t>: </a:t>
            </a:r>
            <a:r>
              <a:rPr lang="pt-PT" dirty="0" err="1"/>
              <a:t>Class</a:t>
            </a:r>
            <a:r>
              <a:rPr lang="pt-PT" dirty="0"/>
              <a:t> (1 = </a:t>
            </a:r>
            <a:r>
              <a:rPr lang="pt-PT" dirty="0" err="1"/>
              <a:t>Fraudulent</a:t>
            </a:r>
            <a:r>
              <a:rPr lang="pt-PT" dirty="0"/>
              <a:t>, 0 = Non-</a:t>
            </a:r>
            <a:r>
              <a:rPr lang="pt-PT" dirty="0" err="1"/>
              <a:t>Fraudulent</a:t>
            </a:r>
            <a:r>
              <a:rPr lang="pt-PT" dirty="0"/>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t-PT" altLang="pt-PT"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200" b="1" i="0" u="none" strike="noStrike" cap="none" normalizeH="0" baseline="0" dirty="0" err="1">
                <a:ln>
                  <a:noFill/>
                </a:ln>
                <a:solidFill>
                  <a:schemeClr val="tx1"/>
                </a:solidFill>
                <a:effectLst/>
                <a:latin typeface="Arial" panose="020B0604020202020204" pitchFamily="34" charset="0"/>
              </a:rPr>
              <a:t>Goals</a:t>
            </a:r>
            <a:r>
              <a:rPr kumimoji="0" lang="pt-PT" altLang="pt-PT" sz="1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pt-PT" altLang="pt-PT" sz="1200" b="0" i="0" u="none" strike="noStrike" cap="none" normalizeH="0" baseline="0" dirty="0" err="1">
                <a:ln>
                  <a:noFill/>
                </a:ln>
                <a:solidFill>
                  <a:schemeClr val="tx1"/>
                </a:solidFill>
                <a:effectLst/>
                <a:latin typeface="Arial" panose="020B0604020202020204" pitchFamily="34" charset="0"/>
              </a:rPr>
              <a:t>Analyze</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imbalances</a:t>
            </a:r>
            <a:r>
              <a:rPr kumimoji="0" lang="pt-PT" altLang="pt-PT" sz="1200" b="0" i="0" u="none" strike="noStrike" cap="none" normalizeH="0" baseline="0" dirty="0">
                <a:ln>
                  <a:noFill/>
                </a:ln>
                <a:solidFill>
                  <a:schemeClr val="tx1"/>
                </a:solidFill>
                <a:effectLst/>
                <a:latin typeface="Arial" panose="020B0604020202020204" pitchFamily="34" charset="0"/>
              </a:rPr>
              <a:t> in </a:t>
            </a:r>
            <a:r>
              <a:rPr kumimoji="0" lang="pt-PT" altLang="pt-PT" sz="1200" b="0" i="0" u="none" strike="noStrike" cap="none" normalizeH="0" baseline="0" dirty="0" err="1">
                <a:ln>
                  <a:noFill/>
                </a:ln>
                <a:solidFill>
                  <a:schemeClr val="tx1"/>
                </a:solidFill>
                <a:effectLst/>
                <a:latin typeface="Arial" panose="020B0604020202020204" pitchFamily="34" charset="0"/>
              </a:rPr>
              <a:t>dataset</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structure</a:t>
            </a:r>
            <a:r>
              <a:rPr kumimoji="0" lang="pt-PT" altLang="pt-PT" sz="1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pt-PT" altLang="pt-PT" sz="1200" b="0" i="0" u="none" strike="noStrike" cap="none" normalizeH="0" baseline="0" dirty="0" err="1">
                <a:ln>
                  <a:noFill/>
                </a:ln>
                <a:solidFill>
                  <a:schemeClr val="tx1"/>
                </a:solidFill>
                <a:effectLst/>
                <a:latin typeface="Arial" panose="020B0604020202020204" pitchFamily="34" charset="0"/>
              </a:rPr>
              <a:t>Train</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models</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on</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raw</a:t>
            </a:r>
            <a:r>
              <a:rPr kumimoji="0" lang="pt-PT" altLang="pt-PT" sz="1200" b="0" i="0" u="none" strike="noStrike" cap="none" normalizeH="0" baseline="0" dirty="0">
                <a:ln>
                  <a:noFill/>
                </a:ln>
                <a:solidFill>
                  <a:schemeClr val="tx1"/>
                </a:solidFill>
                <a:effectLst/>
                <a:latin typeface="Arial" panose="020B0604020202020204" pitchFamily="34" charset="0"/>
              </a:rPr>
              <a:t> data to observe </a:t>
            </a:r>
            <a:r>
              <a:rPr kumimoji="0" lang="pt-PT" altLang="pt-PT" sz="1200" b="0" i="0" u="none" strike="noStrike" cap="none" normalizeH="0" baseline="0" dirty="0" err="1">
                <a:ln>
                  <a:noFill/>
                </a:ln>
                <a:solidFill>
                  <a:schemeClr val="tx1"/>
                </a:solidFill>
                <a:effectLst/>
                <a:latin typeface="Arial" panose="020B0604020202020204" pitchFamily="34" charset="0"/>
              </a:rPr>
              <a:t>imbalance</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effects</a:t>
            </a:r>
            <a:r>
              <a:rPr kumimoji="0" lang="pt-PT" altLang="pt-PT" sz="1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pt-PT" altLang="pt-PT" sz="1200" b="0" i="0" u="none" strike="noStrike" cap="none" normalizeH="0" baseline="0" dirty="0" err="1">
                <a:ln>
                  <a:noFill/>
                </a:ln>
                <a:solidFill>
                  <a:schemeClr val="tx1"/>
                </a:solidFill>
                <a:effectLst/>
                <a:latin typeface="Arial" panose="020B0604020202020204" pitchFamily="34" charset="0"/>
              </a:rPr>
              <a:t>Apply</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resampling</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techniques</a:t>
            </a:r>
            <a:r>
              <a:rPr kumimoji="0" lang="pt-PT" altLang="pt-PT" sz="1200" b="0" i="0" u="none" strike="noStrike" cap="none" normalizeH="0" baseline="0" dirty="0">
                <a:ln>
                  <a:noFill/>
                </a:ln>
                <a:solidFill>
                  <a:schemeClr val="tx1"/>
                </a:solidFill>
                <a:effectLst/>
                <a:latin typeface="Arial" panose="020B0604020202020204" pitchFamily="34" charset="0"/>
              </a:rPr>
              <a:t> to </a:t>
            </a:r>
            <a:r>
              <a:rPr kumimoji="0" lang="pt-PT" altLang="pt-PT" sz="1200" b="0" i="0" u="none" strike="noStrike" cap="none" normalizeH="0" baseline="0" dirty="0" err="1">
                <a:ln>
                  <a:noFill/>
                </a:ln>
                <a:solidFill>
                  <a:schemeClr val="tx1"/>
                </a:solidFill>
                <a:effectLst/>
                <a:latin typeface="Arial" panose="020B0604020202020204" pitchFamily="34" charset="0"/>
              </a:rPr>
              <a:t>address</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class</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imbalance</a:t>
            </a:r>
            <a:r>
              <a:rPr kumimoji="0" lang="pt-PT" altLang="pt-PT" sz="1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pt-PT" altLang="pt-PT" sz="1200" b="0" i="0" u="none" strike="noStrike" cap="none" normalizeH="0" baseline="0" dirty="0">
                <a:ln>
                  <a:noFill/>
                </a:ln>
                <a:solidFill>
                  <a:schemeClr val="tx1"/>
                </a:solidFill>
                <a:effectLst/>
                <a:latin typeface="Arial" panose="020B0604020202020204" pitchFamily="34" charset="0"/>
              </a:rPr>
              <a:t>Compare </a:t>
            </a:r>
            <a:r>
              <a:rPr kumimoji="0" lang="pt-PT" altLang="pt-PT" sz="1200" b="0" i="0" u="none" strike="noStrike" cap="none" normalizeH="0" baseline="0" dirty="0" err="1">
                <a:ln>
                  <a:noFill/>
                </a:ln>
                <a:solidFill>
                  <a:schemeClr val="tx1"/>
                </a:solidFill>
                <a:effectLst/>
                <a:latin typeface="Arial" panose="020B0604020202020204" pitchFamily="34" charset="0"/>
              </a:rPr>
              <a:t>model</a:t>
            </a:r>
            <a:r>
              <a:rPr kumimoji="0" lang="pt-PT" altLang="pt-PT" sz="1200" b="0" i="0" u="none" strike="noStrike" cap="none" normalizeH="0" baseline="0" dirty="0">
                <a:ln>
                  <a:noFill/>
                </a:ln>
                <a:solidFill>
                  <a:schemeClr val="tx1"/>
                </a:solidFill>
                <a:effectLst/>
                <a:latin typeface="Arial" panose="020B0604020202020204" pitchFamily="34" charset="0"/>
              </a:rPr>
              <a:t> performance </a:t>
            </a:r>
            <a:r>
              <a:rPr kumimoji="0" lang="pt-PT" altLang="pt-PT" sz="1200" b="0" i="0" u="none" strike="noStrike" cap="none" normalizeH="0" baseline="0" dirty="0" err="1">
                <a:ln>
                  <a:noFill/>
                </a:ln>
                <a:solidFill>
                  <a:schemeClr val="tx1"/>
                </a:solidFill>
                <a:effectLst/>
                <a:latin typeface="Arial" panose="020B0604020202020204" pitchFamily="34" charset="0"/>
              </a:rPr>
              <a:t>before</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and</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after</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resampling</a:t>
            </a:r>
            <a:r>
              <a:rPr kumimoji="0" lang="pt-PT" altLang="pt-PT" sz="1200" b="0" i="0" u="none" strike="noStrike" cap="none" normalizeH="0" baseline="0" dirty="0">
                <a:ln>
                  <a:noFill/>
                </a:ln>
                <a:solidFill>
                  <a:schemeClr val="tx1"/>
                </a:solidFill>
                <a:effectLst/>
                <a:latin typeface="Arial" panose="020B0604020202020204" pitchFamily="34" charset="0"/>
              </a:rPr>
              <a:t>.</a:t>
            </a:r>
          </a:p>
          <a:p>
            <a:endParaRPr lang="pt-PT" dirty="0"/>
          </a:p>
        </p:txBody>
      </p:sp>
      <p:sp>
        <p:nvSpPr>
          <p:cNvPr id="4" name="Marcador de Posição do Número do Diapositivo 3"/>
          <p:cNvSpPr>
            <a:spLocks noGrp="1"/>
          </p:cNvSpPr>
          <p:nvPr>
            <p:ph type="sldNum" sz="quarter" idx="5"/>
          </p:nvPr>
        </p:nvSpPr>
        <p:spPr/>
        <p:txBody>
          <a:bodyPr/>
          <a:lstStyle/>
          <a:p>
            <a:fld id="{021B9CEB-BF53-49FC-B677-A6A019229240}" type="slidenum">
              <a:rPr lang="pt-PT" smtClean="0"/>
              <a:t>3</a:t>
            </a:fld>
            <a:endParaRPr lang="pt-PT"/>
          </a:p>
        </p:txBody>
      </p:sp>
    </p:spTree>
    <p:extLst>
      <p:ext uri="{BB962C8B-B14F-4D97-AF65-F5344CB8AC3E}">
        <p14:creationId xmlns:p14="http://schemas.microsoft.com/office/powerpoint/2010/main" val="2914600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a:buFont typeface="Arial" panose="020B0604020202020204" pitchFamily="34" charset="0"/>
              <a:buChar char="•"/>
            </a:pPr>
            <a:r>
              <a:rPr lang="pt-PT" b="1" dirty="0"/>
              <a:t>CATARINA</a:t>
            </a:r>
          </a:p>
          <a:p>
            <a:pPr>
              <a:buFont typeface="Arial" panose="020B0604020202020204" pitchFamily="34" charset="0"/>
              <a:buChar char="•"/>
            </a:pPr>
            <a:r>
              <a:rPr lang="pt-PT" b="1" dirty="0" err="1"/>
              <a:t>Class</a:t>
            </a:r>
            <a:r>
              <a:rPr lang="pt-PT" b="1" dirty="0"/>
              <a:t> </a:t>
            </a:r>
            <a:r>
              <a:rPr lang="pt-PT" b="1" dirty="0" err="1"/>
              <a:t>Skewness</a:t>
            </a:r>
            <a:r>
              <a:rPr lang="pt-PT" dirty="0"/>
              <a:t>:</a:t>
            </a:r>
          </a:p>
          <a:p>
            <a:pPr marL="742950" lvl="1" indent="-285750">
              <a:buFont typeface="Arial" panose="020B0604020202020204" pitchFamily="34" charset="0"/>
              <a:buChar char="•"/>
            </a:pPr>
            <a:r>
              <a:rPr lang="pt-PT" dirty="0" err="1"/>
              <a:t>Class</a:t>
            </a:r>
            <a:r>
              <a:rPr lang="pt-PT" dirty="0"/>
              <a:t> 0 (Non-</a:t>
            </a:r>
            <a:r>
              <a:rPr lang="pt-PT" dirty="0" err="1"/>
              <a:t>Fraudulent</a:t>
            </a:r>
            <a:r>
              <a:rPr lang="pt-PT" dirty="0"/>
              <a:t>)</a:t>
            </a:r>
          </a:p>
          <a:p>
            <a:pPr marL="742950" lvl="1" indent="-285750">
              <a:buFont typeface="Arial" panose="020B0604020202020204" pitchFamily="34" charset="0"/>
              <a:buChar char="•"/>
            </a:pPr>
            <a:r>
              <a:rPr lang="pt-PT" dirty="0" err="1"/>
              <a:t>Class</a:t>
            </a:r>
            <a:r>
              <a:rPr lang="pt-PT" dirty="0"/>
              <a:t> 1 (</a:t>
            </a:r>
            <a:r>
              <a:rPr lang="pt-PT" dirty="0" err="1"/>
              <a:t>Fraudulent</a:t>
            </a:r>
            <a:r>
              <a:rPr lang="pt-PT" dirty="0"/>
              <a:t>)</a:t>
            </a:r>
          </a:p>
          <a:p>
            <a:pPr marL="457200" lvl="1" indent="0">
              <a:buFont typeface="Arial" panose="020B0604020202020204" pitchFamily="34" charset="0"/>
              <a:buNone/>
            </a:pPr>
            <a:endParaRPr lang="pt-PT" dirty="0"/>
          </a:p>
          <a:p>
            <a:r>
              <a:rPr lang="en-US" dirty="0"/>
              <a:t>The count of non-fraudulent transactions (class 0) is in the range of hundreds of thousands, while fraudulent transactions (class 1) are nearly negligible in comparison, barely visible on the chart. This imbalance is typical for fraud detection datasets, as fraudulent activities represent a small fraction of all transactions. </a:t>
            </a:r>
            <a:endParaRPr lang="pt-PT" dirty="0"/>
          </a:p>
        </p:txBody>
      </p:sp>
      <p:sp>
        <p:nvSpPr>
          <p:cNvPr id="4" name="Marcador de Posição do Número do Diapositivo 3"/>
          <p:cNvSpPr>
            <a:spLocks noGrp="1"/>
          </p:cNvSpPr>
          <p:nvPr>
            <p:ph type="sldNum" sz="quarter" idx="5"/>
          </p:nvPr>
        </p:nvSpPr>
        <p:spPr/>
        <p:txBody>
          <a:bodyPr/>
          <a:lstStyle/>
          <a:p>
            <a:fld id="{021B9CEB-BF53-49FC-B677-A6A019229240}" type="slidenum">
              <a:rPr lang="pt-PT" smtClean="0"/>
              <a:t>4</a:t>
            </a:fld>
            <a:endParaRPr lang="pt-PT"/>
          </a:p>
        </p:txBody>
      </p:sp>
    </p:spTree>
    <p:extLst>
      <p:ext uri="{BB962C8B-B14F-4D97-AF65-F5344CB8AC3E}">
        <p14:creationId xmlns:p14="http://schemas.microsoft.com/office/powerpoint/2010/main" val="21703617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6171B-5C6E-FE68-0D30-A9D760E33475}"/>
            </a:ext>
          </a:extLst>
        </p:cNvPr>
        <p:cNvGrpSpPr/>
        <p:nvPr/>
      </p:nvGrpSpPr>
      <p:grpSpPr>
        <a:xfrm>
          <a:off x="0" y="0"/>
          <a:ext cx="0" cy="0"/>
          <a:chOff x="0" y="0"/>
          <a:chExt cx="0" cy="0"/>
        </a:xfrm>
      </p:grpSpPr>
      <p:sp>
        <p:nvSpPr>
          <p:cNvPr id="2" name="Marcador de Posição da Imagem do Diapositivo 1">
            <a:extLst>
              <a:ext uri="{FF2B5EF4-FFF2-40B4-BE49-F238E27FC236}">
                <a16:creationId xmlns:a16="http://schemas.microsoft.com/office/drawing/2014/main" id="{D5E13512-F38D-634A-1FEB-BA250A529D56}"/>
              </a:ext>
            </a:extLst>
          </p:cNvPr>
          <p:cNvSpPr>
            <a:spLocks noGrp="1" noRot="1" noChangeAspect="1"/>
          </p:cNvSpPr>
          <p:nvPr>
            <p:ph type="sldImg"/>
          </p:nvPr>
        </p:nvSpPr>
        <p:spPr/>
      </p:sp>
      <p:sp>
        <p:nvSpPr>
          <p:cNvPr id="3" name="Marcador de Posição de Notas 2">
            <a:extLst>
              <a:ext uri="{FF2B5EF4-FFF2-40B4-BE49-F238E27FC236}">
                <a16:creationId xmlns:a16="http://schemas.microsoft.com/office/drawing/2014/main" id="{C8711159-6347-0211-00FD-3D7AE20803B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CCCCCC"/>
                </a:solidFill>
                <a:effectLst/>
                <a:latin typeface="Consolas" panose="020B0609020204030204" pitchFamily="49" charset="0"/>
              </a:rPr>
              <a:t>CATARINA</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0" dirty="0">
                <a:solidFill>
                  <a:srgbClr val="CCCCCC"/>
                </a:solidFill>
                <a:effectLst/>
                <a:latin typeface="Consolas" panose="020B0609020204030204" pitchFamily="49" charset="0"/>
              </a:rPr>
              <a:t>The Time attribute, which measures the elapsed time since the first transaction in the dataset, is spread across the day without evident clustering. In contrast, the Amount attribute shows a sharp decline in frequency, indicating that most transactions involve smaller values</a:t>
            </a:r>
          </a:p>
          <a:p>
            <a:pPr>
              <a:buFont typeface="Arial" panose="020B0604020202020204" pitchFamily="34" charset="0"/>
              <a:buNone/>
            </a:pPr>
            <a:endParaRPr lang="pt-PT" dirty="0"/>
          </a:p>
        </p:txBody>
      </p:sp>
      <p:sp>
        <p:nvSpPr>
          <p:cNvPr id="4" name="Marcador de Posição do Número do Diapositivo 3">
            <a:extLst>
              <a:ext uri="{FF2B5EF4-FFF2-40B4-BE49-F238E27FC236}">
                <a16:creationId xmlns:a16="http://schemas.microsoft.com/office/drawing/2014/main" id="{8C6751DF-25BA-C541-C97C-28E7FBE3AF57}"/>
              </a:ext>
            </a:extLst>
          </p:cNvPr>
          <p:cNvSpPr>
            <a:spLocks noGrp="1"/>
          </p:cNvSpPr>
          <p:nvPr>
            <p:ph type="sldNum" sz="quarter" idx="5"/>
          </p:nvPr>
        </p:nvSpPr>
        <p:spPr/>
        <p:txBody>
          <a:bodyPr/>
          <a:lstStyle/>
          <a:p>
            <a:fld id="{021B9CEB-BF53-49FC-B677-A6A019229240}" type="slidenum">
              <a:rPr lang="pt-PT" smtClean="0"/>
              <a:t>5</a:t>
            </a:fld>
            <a:endParaRPr lang="pt-PT"/>
          </a:p>
        </p:txBody>
      </p:sp>
    </p:spTree>
    <p:extLst>
      <p:ext uri="{BB962C8B-B14F-4D97-AF65-F5344CB8AC3E}">
        <p14:creationId xmlns:p14="http://schemas.microsoft.com/office/powerpoint/2010/main" val="35293563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PT" altLang="pt-PT" sz="800" b="1" i="0" u="none" strike="noStrike" cap="none" normalizeH="0" baseline="0" dirty="0">
                <a:ln>
                  <a:noFill/>
                </a:ln>
                <a:solidFill>
                  <a:schemeClr val="tx1"/>
                </a:solidFill>
                <a:effectLst/>
                <a:latin typeface="Arial" panose="020B0604020202020204" pitchFamily="34" charset="0"/>
              </a:rPr>
              <a:t>CATARINA</a:t>
            </a:r>
          </a:p>
          <a:p>
            <a:pPr marL="0" marR="0" lvl="0" indent="0" algn="l" defTabSz="914400" rtl="0" eaLnBrk="0" fontAlgn="base" latinLnBrk="0" hangingPunct="0">
              <a:lnSpc>
                <a:spcPct val="100000"/>
              </a:lnSpc>
              <a:spcBef>
                <a:spcPct val="0"/>
              </a:spcBef>
              <a:spcAft>
                <a:spcPct val="0"/>
              </a:spcAft>
              <a:buClrTx/>
              <a:buSzTx/>
              <a:buFontTx/>
              <a:buNone/>
              <a:tabLst/>
            </a:pPr>
            <a:r>
              <a:rPr kumimoji="0" lang="pt-PT" altLang="pt-PT" sz="800" b="1" i="0" u="none" strike="noStrike" cap="none" normalizeH="0" baseline="0" dirty="0" err="1">
                <a:ln>
                  <a:noFill/>
                </a:ln>
                <a:solidFill>
                  <a:schemeClr val="tx1"/>
                </a:solidFill>
                <a:effectLst/>
                <a:latin typeface="Arial" panose="020B0604020202020204" pitchFamily="34" charset="0"/>
              </a:rPr>
              <a:t>Amount</a:t>
            </a:r>
            <a:r>
              <a:rPr kumimoji="0" lang="pt-PT" altLang="pt-PT" sz="800" b="1" i="0" u="none" strike="noStrike" cap="none" normalizeH="0" baseline="0" dirty="0">
                <a:ln>
                  <a:noFill/>
                </a:ln>
                <a:solidFill>
                  <a:schemeClr val="tx1"/>
                </a:solidFill>
                <a:effectLst/>
                <a:latin typeface="Arial" panose="020B0604020202020204" pitchFamily="34" charset="0"/>
              </a:rPr>
              <a:t> </a:t>
            </a:r>
            <a:r>
              <a:rPr kumimoji="0" lang="pt-PT" altLang="pt-PT" sz="800" b="1" i="0" u="none" strike="noStrike" cap="none" normalizeH="0" baseline="0" dirty="0" err="1">
                <a:ln>
                  <a:noFill/>
                </a:ln>
                <a:solidFill>
                  <a:schemeClr val="tx1"/>
                </a:solidFill>
                <a:effectLst/>
                <a:latin typeface="Arial" panose="020B0604020202020204" pitchFamily="34" charset="0"/>
              </a:rPr>
              <a:t>Attribute</a:t>
            </a:r>
            <a:r>
              <a:rPr kumimoji="0" lang="pt-PT" altLang="pt-PT" sz="800" b="1" i="0" u="none" strike="noStrike" cap="none" normalizeH="0" baseline="0" dirty="0">
                <a:ln>
                  <a:noFill/>
                </a:ln>
                <a:solidFill>
                  <a:schemeClr val="tx1"/>
                </a:solidFill>
                <a:effectLst/>
                <a:latin typeface="Arial" panose="020B0604020202020204" pitchFamily="34" charset="0"/>
              </a:rPr>
              <a:t> (</a:t>
            </a:r>
            <a:r>
              <a:rPr kumimoji="0" lang="pt-PT" altLang="pt-PT" sz="800" b="1" i="0" u="none" strike="noStrike" cap="none" normalizeH="0" baseline="0" dirty="0" err="1">
                <a:ln>
                  <a:noFill/>
                </a:ln>
                <a:solidFill>
                  <a:schemeClr val="tx1"/>
                </a:solidFill>
                <a:effectLst/>
                <a:latin typeface="Arial" panose="020B0604020202020204" pitchFamily="34" charset="0"/>
              </a:rPr>
              <a:t>Class</a:t>
            </a:r>
            <a:r>
              <a:rPr kumimoji="0" lang="pt-PT" altLang="pt-PT" sz="800" b="1" i="0" u="none" strike="noStrike" cap="none" normalizeH="0" baseline="0" dirty="0">
                <a:ln>
                  <a:noFill/>
                </a:ln>
                <a:solidFill>
                  <a:schemeClr val="tx1"/>
                </a:solidFill>
                <a:effectLst/>
                <a:latin typeface="Arial" panose="020B0604020202020204" pitchFamily="34" charset="0"/>
              </a:rPr>
              <a:t> </a:t>
            </a:r>
            <a:r>
              <a:rPr kumimoji="0" lang="pt-PT" altLang="pt-PT" sz="800" b="1" i="0" u="none" strike="noStrike" cap="none" normalizeH="0" baseline="0" dirty="0" err="1">
                <a:ln>
                  <a:noFill/>
                </a:ln>
                <a:solidFill>
                  <a:schemeClr val="tx1"/>
                </a:solidFill>
                <a:effectLst/>
                <a:latin typeface="Arial" panose="020B0604020202020204" pitchFamily="34" charset="0"/>
              </a:rPr>
              <a:t>Comparison</a:t>
            </a:r>
            <a:r>
              <a:rPr kumimoji="0" lang="pt-PT" altLang="pt-PT" sz="800" b="1"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800" b="1" i="0" u="none" strike="noStrike" cap="none" normalizeH="0" baseline="0" dirty="0" err="1">
                <a:ln>
                  <a:noFill/>
                </a:ln>
                <a:solidFill>
                  <a:schemeClr val="tx1"/>
                </a:solidFill>
                <a:effectLst/>
                <a:latin typeface="Arial" panose="020B0604020202020204" pitchFamily="34" charset="0"/>
              </a:rPr>
              <a:t>Class</a:t>
            </a:r>
            <a:r>
              <a:rPr kumimoji="0" lang="pt-PT" altLang="pt-PT" sz="800" b="1" i="0" u="none" strike="noStrike" cap="none" normalizeH="0" baseline="0" dirty="0">
                <a:ln>
                  <a:noFill/>
                </a:ln>
                <a:solidFill>
                  <a:schemeClr val="tx1"/>
                </a:solidFill>
                <a:effectLst/>
                <a:latin typeface="Arial" panose="020B0604020202020204" pitchFamily="34" charset="0"/>
              </a:rPr>
              <a:t> 0 (Non-</a:t>
            </a:r>
            <a:r>
              <a:rPr kumimoji="0" lang="pt-PT" altLang="pt-PT" sz="800" b="1" i="0" u="none" strike="noStrike" cap="none" normalizeH="0" baseline="0" dirty="0" err="1">
                <a:ln>
                  <a:noFill/>
                </a:ln>
                <a:solidFill>
                  <a:schemeClr val="tx1"/>
                </a:solidFill>
                <a:effectLst/>
                <a:latin typeface="Arial" panose="020B0604020202020204" pitchFamily="34" charset="0"/>
              </a:rPr>
              <a:t>Fraudulent</a:t>
            </a:r>
            <a:r>
              <a:rPr kumimoji="0" lang="pt-PT" altLang="pt-PT" sz="800" b="1" i="0" u="none" strike="noStrike" cap="none" normalizeH="0" baseline="0" dirty="0">
                <a:ln>
                  <a:noFill/>
                </a:ln>
                <a:solidFill>
                  <a:schemeClr val="tx1"/>
                </a:solidFill>
                <a:effectLst/>
                <a:latin typeface="Arial" panose="020B0604020202020204" pitchFamily="34" charset="0"/>
              </a:rPr>
              <a:t>)</a:t>
            </a:r>
            <a:r>
              <a:rPr kumimoji="0" lang="pt-PT" altLang="pt-PT" sz="18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pt-PT" altLang="pt-PT" sz="1800" b="0" i="0" u="none" strike="noStrike" cap="none" normalizeH="0" baseline="0" dirty="0" err="1">
                <a:ln>
                  <a:noFill/>
                </a:ln>
                <a:solidFill>
                  <a:schemeClr val="tx1"/>
                </a:solidFill>
                <a:effectLst/>
                <a:latin typeface="Arial" panose="020B0604020202020204" pitchFamily="34" charset="0"/>
              </a:rPr>
              <a:t>Median</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amount</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Near</a:t>
            </a:r>
            <a:r>
              <a:rPr kumimoji="0" lang="pt-PT" altLang="pt-PT" sz="1800" b="0" i="0" u="none" strike="noStrike" cap="none" normalizeH="0" baseline="0" dirty="0">
                <a:ln>
                  <a:noFill/>
                </a:ln>
                <a:solidFill>
                  <a:schemeClr val="tx1"/>
                </a:solidFill>
                <a:effectLst/>
                <a:latin typeface="Arial" panose="020B0604020202020204" pitchFamily="34" charset="0"/>
              </a:rPr>
              <a:t> zero.</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pt-PT" altLang="pt-PT" sz="1800" b="0" i="0" u="none" strike="noStrike" cap="none" normalizeH="0" baseline="0" dirty="0" err="1">
                <a:ln>
                  <a:noFill/>
                </a:ln>
                <a:solidFill>
                  <a:schemeClr val="tx1"/>
                </a:solidFill>
                <a:effectLst/>
                <a:latin typeface="Arial" panose="020B0604020202020204" pitchFamily="34" charset="0"/>
              </a:rPr>
              <a:t>Significant</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outliers</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with</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amounts</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up</a:t>
            </a:r>
            <a:r>
              <a:rPr kumimoji="0" lang="pt-PT" altLang="pt-PT" sz="1800" b="0" i="0" u="none" strike="noStrike" cap="none" normalizeH="0" baseline="0" dirty="0">
                <a:ln>
                  <a:noFill/>
                </a:ln>
                <a:solidFill>
                  <a:schemeClr val="tx1"/>
                </a:solidFill>
                <a:effectLst/>
                <a:latin typeface="Arial" panose="020B0604020202020204" pitchFamily="34" charset="0"/>
              </a:rPr>
              <a:t> to 500.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800" b="1" i="0" u="none" strike="noStrike" cap="none" normalizeH="0" baseline="0" dirty="0" err="1">
                <a:ln>
                  <a:noFill/>
                </a:ln>
                <a:solidFill>
                  <a:schemeClr val="tx1"/>
                </a:solidFill>
                <a:effectLst/>
                <a:latin typeface="Arial" panose="020B0604020202020204" pitchFamily="34" charset="0"/>
              </a:rPr>
              <a:t>Class</a:t>
            </a:r>
            <a:r>
              <a:rPr kumimoji="0" lang="pt-PT" altLang="pt-PT" sz="1800" b="1" i="0" u="none" strike="noStrike" cap="none" normalizeH="0" baseline="0" dirty="0">
                <a:ln>
                  <a:noFill/>
                </a:ln>
                <a:solidFill>
                  <a:schemeClr val="tx1"/>
                </a:solidFill>
                <a:effectLst/>
                <a:latin typeface="Arial" panose="020B0604020202020204" pitchFamily="34" charset="0"/>
              </a:rPr>
              <a:t> 1 (</a:t>
            </a:r>
            <a:r>
              <a:rPr kumimoji="0" lang="pt-PT" altLang="pt-PT" sz="1800" b="1" i="0" u="none" strike="noStrike" cap="none" normalizeH="0" baseline="0" dirty="0" err="1">
                <a:ln>
                  <a:noFill/>
                </a:ln>
                <a:solidFill>
                  <a:schemeClr val="tx1"/>
                </a:solidFill>
                <a:effectLst/>
                <a:latin typeface="Arial" panose="020B0604020202020204" pitchFamily="34" charset="0"/>
              </a:rPr>
              <a:t>Fraudulent</a:t>
            </a:r>
            <a:r>
              <a:rPr kumimoji="0" lang="pt-PT" altLang="pt-PT" sz="1800" b="1" i="0" u="none" strike="noStrike" cap="none" normalizeH="0" baseline="0" dirty="0">
                <a:ln>
                  <a:noFill/>
                </a:ln>
                <a:solidFill>
                  <a:schemeClr val="tx1"/>
                </a:solidFill>
                <a:effectLst/>
                <a:latin typeface="Arial" panose="020B0604020202020204" pitchFamily="34" charset="0"/>
              </a:rPr>
              <a:t>)</a:t>
            </a:r>
            <a:r>
              <a:rPr kumimoji="0" lang="pt-PT" altLang="pt-PT" sz="18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pt-PT" altLang="pt-PT" sz="1800" b="0" i="0" u="none" strike="noStrike" cap="none" normalizeH="0" baseline="0" dirty="0" err="1">
                <a:ln>
                  <a:noFill/>
                </a:ln>
                <a:solidFill>
                  <a:schemeClr val="tx1"/>
                </a:solidFill>
                <a:effectLst/>
                <a:latin typeface="Arial" panose="020B0604020202020204" pitchFamily="34" charset="0"/>
              </a:rPr>
              <a:t>Higher</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median</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and</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interquartile</a:t>
            </a:r>
            <a:r>
              <a:rPr kumimoji="0" lang="pt-PT" altLang="pt-PT" sz="1800" b="0" i="0" u="none" strike="noStrike" cap="none" normalizeH="0" baseline="0" dirty="0">
                <a:ln>
                  <a:noFill/>
                </a:ln>
                <a:solidFill>
                  <a:schemeClr val="tx1"/>
                </a:solidFill>
                <a:effectLst/>
                <a:latin typeface="Arial" panose="020B0604020202020204" pitchFamily="34" charset="0"/>
              </a:rPr>
              <a:t> range (IQR).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pt-PT" altLang="pt-PT" sz="1800" b="0" i="0" u="none" strike="noStrike" cap="none" normalizeH="0" baseline="0" dirty="0" err="1">
                <a:ln>
                  <a:noFill/>
                </a:ln>
                <a:solidFill>
                  <a:schemeClr val="tx1"/>
                </a:solidFill>
                <a:effectLst/>
                <a:latin typeface="Arial" panose="020B0604020202020204" pitchFamily="34" charset="0"/>
              </a:rPr>
              <a:t>Numerous</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outliers</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indicating</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high</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variability</a:t>
            </a:r>
            <a:r>
              <a:rPr kumimoji="0" lang="pt-PT" altLang="pt-PT"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800" b="1" i="0" u="none" strike="noStrike" cap="none" normalizeH="0" baseline="0" dirty="0" err="1">
                <a:ln>
                  <a:noFill/>
                </a:ln>
                <a:solidFill>
                  <a:schemeClr val="tx1"/>
                </a:solidFill>
                <a:effectLst/>
                <a:latin typeface="Arial" panose="020B0604020202020204" pitchFamily="34" charset="0"/>
              </a:rPr>
              <a:t>Conclusion</a:t>
            </a:r>
            <a:r>
              <a:rPr kumimoji="0" lang="pt-PT" altLang="pt-PT" sz="18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sz="1200" dirty="0"/>
              <a:t>Despite these observations, the overlap and variability in transaction amounts between the two classes indicate that the Amount feature alone is insufficient for distinguishing fraud from non-fraud and must be complemented by other features.</a:t>
            </a:r>
            <a:endParaRPr lang="pt-PT" dirty="0"/>
          </a:p>
        </p:txBody>
      </p:sp>
      <p:sp>
        <p:nvSpPr>
          <p:cNvPr id="4" name="Marcador de Posição do Número do Diapositivo 3"/>
          <p:cNvSpPr>
            <a:spLocks noGrp="1"/>
          </p:cNvSpPr>
          <p:nvPr>
            <p:ph type="sldNum" sz="quarter" idx="5"/>
          </p:nvPr>
        </p:nvSpPr>
        <p:spPr/>
        <p:txBody>
          <a:bodyPr/>
          <a:lstStyle/>
          <a:p>
            <a:fld id="{021B9CEB-BF53-49FC-B677-A6A019229240}" type="slidenum">
              <a:rPr lang="pt-PT" smtClean="0"/>
              <a:t>6</a:t>
            </a:fld>
            <a:endParaRPr lang="pt-PT"/>
          </a:p>
        </p:txBody>
      </p:sp>
    </p:spTree>
    <p:extLst>
      <p:ext uri="{BB962C8B-B14F-4D97-AF65-F5344CB8AC3E}">
        <p14:creationId xmlns:p14="http://schemas.microsoft.com/office/powerpoint/2010/main" val="3769165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US" b="1" dirty="0"/>
              <a:t>CATARINA</a:t>
            </a:r>
          </a:p>
          <a:p>
            <a:r>
              <a:rPr lang="en-US" b="1" dirty="0"/>
              <a:t>Key Metrics Explained</a:t>
            </a:r>
          </a:p>
          <a:p>
            <a:pPr>
              <a:buFont typeface="+mj-lt"/>
              <a:buAutoNum type="arabicPeriod"/>
            </a:pPr>
            <a:r>
              <a:rPr lang="en-US" b="1" dirty="0"/>
              <a:t>Precision</a:t>
            </a:r>
            <a:r>
              <a:rPr lang="en-US" dirty="0"/>
              <a:t>:</a:t>
            </a:r>
          </a:p>
          <a:p>
            <a:pPr marL="742950" lvl="1" indent="-285750">
              <a:buFont typeface="+mj-lt"/>
              <a:buAutoNum type="arabicPeriod"/>
            </a:pPr>
            <a:r>
              <a:rPr lang="en-US" dirty="0"/>
              <a:t>Proportion of correctly identified fraud cases out of all flagged cases.</a:t>
            </a:r>
          </a:p>
          <a:p>
            <a:pPr marL="742950" lvl="1" indent="-285750">
              <a:buFont typeface="+mj-lt"/>
              <a:buAutoNum type="arabicPeriod"/>
            </a:pPr>
            <a:r>
              <a:rPr lang="en-US" dirty="0"/>
              <a:t>Focus: Minimize false positives.</a:t>
            </a:r>
          </a:p>
          <a:p>
            <a:pPr marL="742950" lvl="1" indent="-285750">
              <a:buFont typeface="+mj-lt"/>
              <a:buAutoNum type="arabicPeriod"/>
            </a:pPr>
            <a:r>
              <a:rPr lang="en-US" dirty="0"/>
              <a:t>Importance: Avoid unnecessary customer intervention or dissatisfaction.</a:t>
            </a:r>
          </a:p>
          <a:p>
            <a:pPr>
              <a:buFont typeface="+mj-lt"/>
              <a:buAutoNum type="arabicPeriod"/>
            </a:pPr>
            <a:r>
              <a:rPr lang="en-US" b="1" dirty="0"/>
              <a:t>Recall (True Positive Rate)</a:t>
            </a:r>
            <a:r>
              <a:rPr lang="en-US" dirty="0"/>
              <a:t>:</a:t>
            </a:r>
          </a:p>
          <a:p>
            <a:pPr marL="742950" lvl="1" indent="-285750">
              <a:buFont typeface="+mj-lt"/>
              <a:buAutoNum type="arabicPeriod"/>
            </a:pPr>
            <a:r>
              <a:rPr lang="en-US" dirty="0"/>
              <a:t>Proportion of actual fraud cases correctly identified.</a:t>
            </a:r>
          </a:p>
          <a:p>
            <a:pPr marL="742950" lvl="1" indent="-285750">
              <a:buFont typeface="+mj-lt"/>
              <a:buAutoNum type="arabicPeriod"/>
            </a:pPr>
            <a:r>
              <a:rPr lang="en-US" dirty="0"/>
              <a:t>Focus: Minimize false negatives.</a:t>
            </a:r>
          </a:p>
          <a:p>
            <a:pPr marL="742950" lvl="1" indent="-285750">
              <a:buFont typeface="+mj-lt"/>
              <a:buAutoNum type="arabicPeriod"/>
            </a:pPr>
            <a:r>
              <a:rPr lang="en-US" dirty="0"/>
              <a:t>Importance: Ensures most fraud cases are detected.</a:t>
            </a:r>
          </a:p>
          <a:p>
            <a:pPr>
              <a:buFont typeface="+mj-lt"/>
              <a:buAutoNum type="arabicPeriod"/>
            </a:pPr>
            <a:r>
              <a:rPr lang="en-US" b="1" dirty="0"/>
              <a:t>F1 Score</a:t>
            </a:r>
            <a:r>
              <a:rPr lang="en-US" dirty="0"/>
              <a:t>:</a:t>
            </a:r>
          </a:p>
          <a:p>
            <a:pPr marL="742950" lvl="1" indent="-285750">
              <a:buFont typeface="+mj-lt"/>
              <a:buAutoNum type="arabicPeriod"/>
            </a:pPr>
            <a:r>
              <a:rPr lang="en-US" dirty="0"/>
              <a:t>Harmonic mean of Precision and Recall.</a:t>
            </a:r>
          </a:p>
          <a:p>
            <a:pPr marL="742950" lvl="1" indent="-285750">
              <a:buFont typeface="+mj-lt"/>
              <a:buAutoNum type="arabicPeriod"/>
            </a:pPr>
            <a:r>
              <a:rPr lang="en-US" dirty="0"/>
              <a:t>Balances trade-offs between false positives and negatives.</a:t>
            </a:r>
          </a:p>
          <a:p>
            <a:pPr marL="742950" lvl="1" indent="-285750">
              <a:buFont typeface="+mj-lt"/>
              <a:buAutoNum type="arabicPeriod"/>
            </a:pPr>
            <a:r>
              <a:rPr lang="en-US" dirty="0"/>
              <a:t>Suitable for </a:t>
            </a:r>
            <a:r>
              <a:rPr lang="en-US" b="1" dirty="0"/>
              <a:t>imbalanced datasets</a:t>
            </a:r>
            <a:r>
              <a:rPr lang="en-US" dirty="0"/>
              <a:t>.</a:t>
            </a:r>
          </a:p>
          <a:p>
            <a:pPr>
              <a:buFont typeface="+mj-lt"/>
              <a:buAutoNum type="arabicPeriod" startAt="4"/>
            </a:pPr>
            <a:r>
              <a:rPr lang="pt-PT" b="1" dirty="0" err="1"/>
              <a:t>Accuracy</a:t>
            </a:r>
            <a:r>
              <a:rPr lang="pt-PT" dirty="0"/>
              <a:t>:</a:t>
            </a:r>
          </a:p>
          <a:p>
            <a:pPr marL="742950" lvl="1" indent="-285750">
              <a:buFont typeface="+mj-lt"/>
              <a:buAutoNum type="arabicPeriod" startAt="4"/>
            </a:pPr>
            <a:r>
              <a:rPr lang="pt-PT" dirty="0" err="1"/>
              <a:t>Proportion</a:t>
            </a:r>
            <a:r>
              <a:rPr lang="pt-PT" dirty="0"/>
              <a:t> </a:t>
            </a:r>
            <a:r>
              <a:rPr lang="pt-PT" dirty="0" err="1"/>
              <a:t>of</a:t>
            </a:r>
            <a:r>
              <a:rPr lang="pt-PT" dirty="0"/>
              <a:t> </a:t>
            </a:r>
            <a:r>
              <a:rPr lang="pt-PT" dirty="0" err="1"/>
              <a:t>all</a:t>
            </a:r>
            <a:r>
              <a:rPr lang="pt-PT" dirty="0"/>
              <a:t> </a:t>
            </a:r>
            <a:r>
              <a:rPr lang="pt-PT" dirty="0" err="1"/>
              <a:t>correct</a:t>
            </a:r>
            <a:r>
              <a:rPr lang="pt-PT" dirty="0"/>
              <a:t> </a:t>
            </a:r>
            <a:r>
              <a:rPr lang="pt-PT" dirty="0" err="1"/>
              <a:t>predictions</a:t>
            </a:r>
            <a:r>
              <a:rPr lang="pt-PT" dirty="0"/>
              <a:t> (</a:t>
            </a:r>
            <a:r>
              <a:rPr lang="pt-PT" dirty="0" err="1"/>
              <a:t>fraudulent</a:t>
            </a:r>
            <a:r>
              <a:rPr lang="pt-PT" dirty="0"/>
              <a:t> </a:t>
            </a:r>
            <a:r>
              <a:rPr lang="pt-PT" dirty="0" err="1"/>
              <a:t>and</a:t>
            </a:r>
            <a:r>
              <a:rPr lang="pt-PT" dirty="0"/>
              <a:t> non-</a:t>
            </a:r>
            <a:r>
              <a:rPr lang="pt-PT" dirty="0" err="1"/>
              <a:t>fraudulent</a:t>
            </a:r>
            <a:r>
              <a:rPr lang="pt-PT" dirty="0"/>
              <a:t>).</a:t>
            </a:r>
          </a:p>
          <a:p>
            <a:pPr marL="742950" lvl="1" indent="-285750">
              <a:buFont typeface="+mj-lt"/>
              <a:buAutoNum type="arabicPeriod" startAt="4"/>
            </a:pPr>
            <a:r>
              <a:rPr lang="pt-PT" dirty="0" err="1"/>
              <a:t>Limitation</a:t>
            </a:r>
            <a:r>
              <a:rPr lang="pt-PT" dirty="0"/>
              <a:t>: </a:t>
            </a:r>
            <a:r>
              <a:rPr lang="pt-PT" dirty="0" err="1"/>
              <a:t>Misleading</a:t>
            </a:r>
            <a:r>
              <a:rPr lang="pt-PT" dirty="0"/>
              <a:t> in </a:t>
            </a:r>
            <a:r>
              <a:rPr lang="pt-PT" dirty="0" err="1"/>
              <a:t>imbalanced</a:t>
            </a:r>
            <a:r>
              <a:rPr lang="pt-PT" dirty="0"/>
              <a:t> </a:t>
            </a:r>
            <a:r>
              <a:rPr lang="pt-PT" dirty="0" err="1"/>
              <a:t>datasets</a:t>
            </a:r>
            <a:r>
              <a:rPr lang="pt-PT" dirty="0"/>
              <a:t>.</a:t>
            </a:r>
          </a:p>
          <a:p>
            <a:pPr>
              <a:buFont typeface="+mj-lt"/>
              <a:buAutoNum type="arabicPeriod" startAt="4"/>
            </a:pPr>
            <a:r>
              <a:rPr lang="pt-PT" b="1" dirty="0"/>
              <a:t>AUPRCC (</a:t>
            </a:r>
            <a:r>
              <a:rPr lang="pt-PT" b="1" dirty="0" err="1"/>
              <a:t>Area</a:t>
            </a:r>
            <a:r>
              <a:rPr lang="pt-PT" b="1" dirty="0"/>
              <a:t> </a:t>
            </a:r>
            <a:r>
              <a:rPr lang="pt-PT" b="1" dirty="0" err="1"/>
              <a:t>Under</a:t>
            </a:r>
            <a:r>
              <a:rPr lang="pt-PT" b="1" dirty="0"/>
              <a:t> </a:t>
            </a:r>
            <a:r>
              <a:rPr lang="pt-PT" b="1" dirty="0" err="1"/>
              <a:t>the</a:t>
            </a:r>
            <a:r>
              <a:rPr lang="pt-PT" b="1" dirty="0"/>
              <a:t> </a:t>
            </a:r>
            <a:r>
              <a:rPr lang="pt-PT" b="1" dirty="0" err="1"/>
              <a:t>Precision-Recall</a:t>
            </a:r>
            <a:r>
              <a:rPr lang="pt-PT" b="1" dirty="0"/>
              <a:t> Curve)</a:t>
            </a:r>
            <a:r>
              <a:rPr lang="pt-PT" dirty="0"/>
              <a:t>:</a:t>
            </a:r>
          </a:p>
          <a:p>
            <a:pPr marL="742950" lvl="1" indent="-285750">
              <a:buFont typeface="+mj-lt"/>
              <a:buAutoNum type="arabicPeriod" startAt="4"/>
            </a:pPr>
            <a:r>
              <a:rPr lang="pt-PT" dirty="0" err="1"/>
              <a:t>Evaluates</a:t>
            </a:r>
            <a:r>
              <a:rPr lang="pt-PT" dirty="0"/>
              <a:t> </a:t>
            </a:r>
            <a:r>
              <a:rPr lang="pt-PT" dirty="0" err="1"/>
              <a:t>precision-recall</a:t>
            </a:r>
            <a:r>
              <a:rPr lang="pt-PT" dirty="0"/>
              <a:t> </a:t>
            </a:r>
            <a:r>
              <a:rPr lang="pt-PT" dirty="0" err="1"/>
              <a:t>trade-offs</a:t>
            </a:r>
            <a:r>
              <a:rPr lang="pt-PT" dirty="0"/>
              <a:t> </a:t>
            </a:r>
            <a:r>
              <a:rPr lang="pt-PT" dirty="0" err="1"/>
              <a:t>across</a:t>
            </a:r>
            <a:r>
              <a:rPr lang="pt-PT" dirty="0"/>
              <a:t> </a:t>
            </a:r>
            <a:r>
              <a:rPr lang="pt-PT" dirty="0" err="1"/>
              <a:t>thresholds</a:t>
            </a:r>
            <a:r>
              <a:rPr lang="pt-PT" dirty="0"/>
              <a:t>.</a:t>
            </a:r>
          </a:p>
          <a:p>
            <a:pPr marL="742950" lvl="1" indent="-285750">
              <a:buFont typeface="+mj-lt"/>
              <a:buAutoNum type="arabicPeriod" startAt="4"/>
            </a:pPr>
            <a:r>
              <a:rPr lang="pt-PT" dirty="0" err="1"/>
              <a:t>Importance</a:t>
            </a:r>
            <a:r>
              <a:rPr lang="pt-PT" dirty="0"/>
              <a:t>: </a:t>
            </a:r>
            <a:r>
              <a:rPr lang="pt-PT" dirty="0" err="1"/>
              <a:t>Highlights</a:t>
            </a:r>
            <a:r>
              <a:rPr lang="pt-PT" dirty="0"/>
              <a:t> </a:t>
            </a:r>
            <a:r>
              <a:rPr lang="pt-PT" dirty="0" err="1"/>
              <a:t>model</a:t>
            </a:r>
            <a:r>
              <a:rPr lang="pt-PT" dirty="0"/>
              <a:t> </a:t>
            </a:r>
            <a:r>
              <a:rPr lang="pt-PT" dirty="0" err="1"/>
              <a:t>consistency</a:t>
            </a:r>
            <a:r>
              <a:rPr lang="pt-PT" dirty="0"/>
              <a:t> in </a:t>
            </a:r>
            <a:r>
              <a:rPr lang="pt-PT" dirty="0" err="1"/>
              <a:t>imbalanced</a:t>
            </a:r>
            <a:r>
              <a:rPr lang="pt-PT" dirty="0"/>
              <a:t> </a:t>
            </a:r>
            <a:r>
              <a:rPr lang="pt-PT" dirty="0" err="1"/>
              <a:t>scenarios</a:t>
            </a:r>
            <a:r>
              <a:rPr lang="pt-PT" dirty="0"/>
              <a:t>.</a:t>
            </a:r>
          </a:p>
          <a:p>
            <a:endParaRPr lang="pt-PT" b="1" dirty="0"/>
          </a:p>
        </p:txBody>
      </p:sp>
      <p:sp>
        <p:nvSpPr>
          <p:cNvPr id="4" name="Marcador de Posição do Número do Diapositivo 3"/>
          <p:cNvSpPr>
            <a:spLocks noGrp="1"/>
          </p:cNvSpPr>
          <p:nvPr>
            <p:ph type="sldNum" sz="quarter" idx="5"/>
          </p:nvPr>
        </p:nvSpPr>
        <p:spPr/>
        <p:txBody>
          <a:bodyPr/>
          <a:lstStyle/>
          <a:p>
            <a:fld id="{021B9CEB-BF53-49FC-B677-A6A019229240}" type="slidenum">
              <a:rPr lang="pt-PT" smtClean="0"/>
              <a:t>7</a:t>
            </a:fld>
            <a:endParaRPr lang="pt-PT"/>
          </a:p>
        </p:txBody>
      </p:sp>
    </p:spTree>
    <p:extLst>
      <p:ext uri="{BB962C8B-B14F-4D97-AF65-F5344CB8AC3E}">
        <p14:creationId xmlns:p14="http://schemas.microsoft.com/office/powerpoint/2010/main" val="20232196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US" b="1" dirty="0"/>
              <a:t>CATARINA</a:t>
            </a:r>
          </a:p>
          <a:p>
            <a:r>
              <a:rPr lang="en-US" b="1" dirty="0"/>
              <a:t>1. Random Forest</a:t>
            </a:r>
          </a:p>
          <a:p>
            <a:pPr>
              <a:buFont typeface="Arial" panose="020B0604020202020204" pitchFamily="34" charset="0"/>
              <a:buChar char="•"/>
            </a:pPr>
            <a:r>
              <a:rPr lang="en-US" b="1" dirty="0"/>
              <a:t>Overview</a:t>
            </a:r>
            <a:r>
              <a:rPr lang="en-US" dirty="0"/>
              <a:t>:</a:t>
            </a:r>
          </a:p>
          <a:p>
            <a:pPr marL="742950" lvl="1" indent="-285750">
              <a:buFont typeface="Arial" panose="020B0604020202020204" pitchFamily="34" charset="0"/>
              <a:buChar char="•"/>
            </a:pPr>
            <a:r>
              <a:rPr lang="en-US" dirty="0"/>
              <a:t>Ensemble learning method using bagging.</a:t>
            </a:r>
          </a:p>
          <a:p>
            <a:pPr marL="742950" lvl="1" indent="-285750">
              <a:buFont typeface="Arial" panose="020B0604020202020204" pitchFamily="34" charset="0"/>
              <a:buChar char="•"/>
            </a:pPr>
            <a:r>
              <a:rPr lang="en-US" dirty="0"/>
              <a:t>Builds multiple decision trees, final output based on majority voting.</a:t>
            </a:r>
          </a:p>
          <a:p>
            <a:pPr>
              <a:buFont typeface="Arial" panose="020B0604020202020204" pitchFamily="34" charset="0"/>
              <a:buChar char="•"/>
            </a:pPr>
            <a:r>
              <a:rPr lang="en-US" b="1" dirty="0"/>
              <a:t>Advantages</a:t>
            </a:r>
            <a:r>
              <a:rPr lang="en-US" dirty="0"/>
              <a:t>:</a:t>
            </a:r>
          </a:p>
          <a:p>
            <a:pPr marL="742950" lvl="1" indent="-285750">
              <a:buFont typeface="Arial" panose="020B0604020202020204" pitchFamily="34" charset="0"/>
              <a:buChar char="•"/>
            </a:pPr>
            <a:r>
              <a:rPr lang="en-US" dirty="0"/>
              <a:t>Robust to imbalanced data.</a:t>
            </a:r>
          </a:p>
          <a:p>
            <a:pPr marL="742950" lvl="1" indent="-285750">
              <a:buFont typeface="Arial" panose="020B0604020202020204" pitchFamily="34" charset="0"/>
              <a:buChar char="•"/>
            </a:pPr>
            <a:r>
              <a:rPr lang="en-US" dirty="0"/>
              <a:t>Supports class weights, feature importance, and sampling strategies.</a:t>
            </a:r>
          </a:p>
          <a:p>
            <a:pPr marL="742950" lvl="1" indent="-285750">
              <a:buFont typeface="Arial" panose="020B0604020202020204" pitchFamily="34" charset="0"/>
              <a:buChar char="•"/>
            </a:pPr>
            <a:r>
              <a:rPr lang="en-US" dirty="0"/>
              <a:t>Effectiveness in similar research scenarios.</a:t>
            </a:r>
          </a:p>
          <a:p>
            <a:r>
              <a:rPr lang="en-US" b="1" dirty="0"/>
              <a:t>2. </a:t>
            </a:r>
            <a:r>
              <a:rPr lang="en-US" b="1" dirty="0" err="1"/>
              <a:t>XGBoost</a:t>
            </a:r>
            <a:r>
              <a:rPr lang="en-US" b="1" dirty="0"/>
              <a:t> (Extreme Gradient Boosting)</a:t>
            </a:r>
          </a:p>
          <a:p>
            <a:pPr>
              <a:buFont typeface="Arial" panose="020B0604020202020204" pitchFamily="34" charset="0"/>
              <a:buChar char="•"/>
            </a:pPr>
            <a:r>
              <a:rPr lang="en-US" b="1" dirty="0"/>
              <a:t>Overview</a:t>
            </a:r>
            <a:r>
              <a:rPr lang="en-US" dirty="0"/>
              <a:t>:</a:t>
            </a:r>
          </a:p>
          <a:p>
            <a:pPr marL="742950" lvl="1" indent="-285750">
              <a:buFont typeface="Arial" panose="020B0604020202020204" pitchFamily="34" charset="0"/>
              <a:buChar char="•"/>
            </a:pPr>
            <a:r>
              <a:rPr lang="en-US" dirty="0"/>
              <a:t>Builds decision trees sequentially, each correcting errors of the previous.</a:t>
            </a:r>
          </a:p>
          <a:p>
            <a:pPr marL="742950" lvl="1" indent="-285750">
              <a:buFont typeface="Arial" panose="020B0604020202020204" pitchFamily="34" charset="0"/>
              <a:buChar char="•"/>
            </a:pPr>
            <a:r>
              <a:rPr lang="en-US" dirty="0"/>
              <a:t>Optimizes a loss function (e.g., log loss) with regularization to prevent overfitting.</a:t>
            </a:r>
          </a:p>
          <a:p>
            <a:pPr>
              <a:buFont typeface="Arial" panose="020B0604020202020204" pitchFamily="34" charset="0"/>
              <a:buChar char="•"/>
            </a:pPr>
            <a:r>
              <a:rPr lang="en-US" b="1" dirty="0"/>
              <a:t>Advantages</a:t>
            </a:r>
            <a:r>
              <a:rPr lang="en-US" dirty="0"/>
              <a:t>:</a:t>
            </a:r>
          </a:p>
          <a:p>
            <a:pPr marL="742950" lvl="1" indent="-285750">
              <a:buFont typeface="Arial" panose="020B0604020202020204" pitchFamily="34" charset="0"/>
              <a:buChar char="•"/>
            </a:pPr>
            <a:r>
              <a:rPr lang="en-US" dirty="0"/>
              <a:t>Reliable and adaptable to various techniques.</a:t>
            </a:r>
            <a:endParaRPr lang="pt-PT" dirty="0"/>
          </a:p>
        </p:txBody>
      </p:sp>
      <p:sp>
        <p:nvSpPr>
          <p:cNvPr id="4" name="Marcador de Posição do Número do Diapositivo 3"/>
          <p:cNvSpPr>
            <a:spLocks noGrp="1"/>
          </p:cNvSpPr>
          <p:nvPr>
            <p:ph type="sldNum" sz="quarter" idx="5"/>
          </p:nvPr>
        </p:nvSpPr>
        <p:spPr/>
        <p:txBody>
          <a:bodyPr/>
          <a:lstStyle/>
          <a:p>
            <a:fld id="{021B9CEB-BF53-49FC-B677-A6A019229240}" type="slidenum">
              <a:rPr lang="pt-PT" smtClean="0"/>
              <a:t>8</a:t>
            </a:fld>
            <a:endParaRPr lang="pt-PT"/>
          </a:p>
        </p:txBody>
      </p:sp>
    </p:spTree>
    <p:extLst>
      <p:ext uri="{BB962C8B-B14F-4D97-AF65-F5344CB8AC3E}">
        <p14:creationId xmlns:p14="http://schemas.microsoft.com/office/powerpoint/2010/main" val="801277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US" b="1" dirty="0" err="1"/>
              <a:t>VAZThese</a:t>
            </a:r>
            <a:r>
              <a:rPr lang="en-US" b="1" dirty="0"/>
              <a:t> techniques are used to address class imbalance in datasets. This helps ensure that the minority class is well represented.</a:t>
            </a:r>
          </a:p>
          <a:p>
            <a:endParaRPr lang="en-US" b="1" dirty="0"/>
          </a:p>
          <a:p>
            <a:r>
              <a:rPr lang="en-US" b="1" dirty="0"/>
              <a:t>The main goals are to reduce bias and improve model performance across all classes.</a:t>
            </a:r>
          </a:p>
          <a:p>
            <a:endParaRPr lang="en-US" b="1" dirty="0"/>
          </a:p>
          <a:p>
            <a:r>
              <a:rPr lang="en-US" b="1" dirty="0"/>
              <a:t>There are several key approaches:</a:t>
            </a:r>
          </a:p>
          <a:p>
            <a:r>
              <a:rPr lang="en-US" b="1" dirty="0"/>
              <a:t>Oversampling: This involves generating new data for the minority class.</a:t>
            </a:r>
          </a:p>
          <a:p>
            <a:r>
              <a:rPr lang="en-US" b="1" dirty="0" err="1"/>
              <a:t>Undersampling</a:t>
            </a:r>
            <a:r>
              <a:rPr lang="en-US" b="1" dirty="0"/>
              <a:t>: Here, we remove data from the majority class.</a:t>
            </a:r>
          </a:p>
          <a:p>
            <a:r>
              <a:rPr lang="en-US" b="1" dirty="0"/>
              <a:t>Hybrid Techniques: These combine both oversampling and </a:t>
            </a:r>
            <a:r>
              <a:rPr lang="en-US" b="1" dirty="0" err="1"/>
              <a:t>undersampling</a:t>
            </a:r>
            <a:r>
              <a:rPr lang="en-US" b="1" dirty="0"/>
              <a:t> methods.</a:t>
            </a:r>
          </a:p>
          <a:p>
            <a:endParaRPr lang="en-US" b="1" dirty="0"/>
          </a:p>
          <a:p>
            <a:r>
              <a:rPr lang="en-US" b="1" dirty="0"/>
              <a:t>Each of these approaches helps us deal with class imbalance effectively.</a:t>
            </a:r>
          </a:p>
          <a:p>
            <a:endParaRPr lang="en-US" b="1" dirty="0"/>
          </a:p>
        </p:txBody>
      </p:sp>
      <p:sp>
        <p:nvSpPr>
          <p:cNvPr id="4" name="Marcador de Posição do Número do Diapositivo 3"/>
          <p:cNvSpPr>
            <a:spLocks noGrp="1"/>
          </p:cNvSpPr>
          <p:nvPr>
            <p:ph type="sldNum" sz="quarter" idx="5"/>
          </p:nvPr>
        </p:nvSpPr>
        <p:spPr/>
        <p:txBody>
          <a:bodyPr/>
          <a:lstStyle/>
          <a:p>
            <a:fld id="{021B9CEB-BF53-49FC-B677-A6A019229240}" type="slidenum">
              <a:rPr lang="pt-PT" smtClean="0"/>
              <a:t>9</a:t>
            </a:fld>
            <a:endParaRPr lang="pt-PT"/>
          </a:p>
        </p:txBody>
      </p:sp>
    </p:spTree>
    <p:extLst>
      <p:ext uri="{BB962C8B-B14F-4D97-AF65-F5344CB8AC3E}">
        <p14:creationId xmlns:p14="http://schemas.microsoft.com/office/powerpoint/2010/main" val="28230689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a:buFont typeface="Arial" panose="020B0604020202020204" pitchFamily="34" charset="0"/>
              <a:buNone/>
            </a:pPr>
            <a:r>
              <a:rPr lang="en-US" b="1" dirty="0"/>
              <a:t>VAZ Next, let's discuss Random Oversampling.</a:t>
            </a:r>
          </a:p>
          <a:p>
            <a:pPr>
              <a:buFont typeface="Arial" panose="020B0604020202020204" pitchFamily="34" charset="0"/>
              <a:buNone/>
            </a:pPr>
            <a:endParaRPr lang="en-US" b="1" dirty="0"/>
          </a:p>
          <a:p>
            <a:pPr>
              <a:buFont typeface="Arial" panose="020B0604020202020204" pitchFamily="34" charset="0"/>
              <a:buNone/>
            </a:pPr>
            <a:r>
              <a:rPr lang="en-US" b="1" dirty="0"/>
              <a:t>This technique duplicates instances from the minority class.</a:t>
            </a:r>
          </a:p>
          <a:p>
            <a:pPr>
              <a:buFont typeface="Arial" panose="020B0604020202020204" pitchFamily="34" charset="0"/>
              <a:buNone/>
            </a:pPr>
            <a:endParaRPr lang="en-US" b="1" dirty="0"/>
          </a:p>
          <a:p>
            <a:pPr>
              <a:buFont typeface="Arial" panose="020B0604020202020204" pitchFamily="34" charset="0"/>
              <a:buNone/>
            </a:pPr>
            <a:r>
              <a:rPr lang="en-US" b="1" dirty="0"/>
              <a:t>The main advantage is that it's quick and simple to implement.</a:t>
            </a:r>
          </a:p>
          <a:p>
            <a:pPr>
              <a:buFont typeface="Arial" panose="020B0604020202020204" pitchFamily="34" charset="0"/>
              <a:buNone/>
            </a:pPr>
            <a:endParaRPr lang="en-US" b="1" dirty="0"/>
          </a:p>
          <a:p>
            <a:pPr>
              <a:buFont typeface="Arial" panose="020B0604020202020204" pitchFamily="34" charset="0"/>
              <a:buNone/>
            </a:pPr>
            <a:r>
              <a:rPr lang="en-US" b="1" dirty="0"/>
              <a:t>However, it has a downside. It can increase the risk of overfitting because we are using duplicate data.</a:t>
            </a:r>
          </a:p>
          <a:p>
            <a:pPr>
              <a:buFont typeface="Arial" panose="020B0604020202020204" pitchFamily="34" charset="0"/>
              <a:buNone/>
            </a:pPr>
            <a:endParaRPr lang="en-US" b="1" dirty="0"/>
          </a:p>
          <a:p>
            <a:pPr>
              <a:buFont typeface="Arial" panose="020B0604020202020204" pitchFamily="34" charset="0"/>
              <a:buNone/>
            </a:pPr>
            <a:r>
              <a:rPr lang="en-US" b="1" dirty="0"/>
              <a:t>it's a good technique to start…</a:t>
            </a:r>
            <a:endParaRPr lang="pt-PT" dirty="0"/>
          </a:p>
        </p:txBody>
      </p:sp>
      <p:sp>
        <p:nvSpPr>
          <p:cNvPr id="4" name="Marcador de Posição do Número do Diapositivo 3"/>
          <p:cNvSpPr>
            <a:spLocks noGrp="1"/>
          </p:cNvSpPr>
          <p:nvPr>
            <p:ph type="sldNum" sz="quarter" idx="5"/>
          </p:nvPr>
        </p:nvSpPr>
        <p:spPr/>
        <p:txBody>
          <a:bodyPr/>
          <a:lstStyle/>
          <a:p>
            <a:fld id="{021B9CEB-BF53-49FC-B677-A6A019229240}" type="slidenum">
              <a:rPr lang="pt-PT" smtClean="0"/>
              <a:t>10</a:t>
            </a:fld>
            <a:endParaRPr lang="pt-PT"/>
          </a:p>
        </p:txBody>
      </p:sp>
    </p:spTree>
    <p:extLst>
      <p:ext uri="{BB962C8B-B14F-4D97-AF65-F5344CB8AC3E}">
        <p14:creationId xmlns:p14="http://schemas.microsoft.com/office/powerpoint/2010/main" val="27640051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PT" altLang="pt-PT" sz="1800" b="1" i="0" u="none" strike="noStrike" cap="none" normalizeH="0" baseline="0" dirty="0">
                <a:ln>
                  <a:noFill/>
                </a:ln>
                <a:solidFill>
                  <a:schemeClr val="tx1"/>
                </a:solidFill>
                <a:effectLst/>
                <a:latin typeface="Arial" panose="020B0604020202020204" pitchFamily="34" charset="0"/>
              </a:rPr>
              <a:t>VAZ</a:t>
            </a:r>
          </a:p>
          <a:p>
            <a:r>
              <a:rPr lang="en-US" dirty="0"/>
              <a:t>let's look at SMOTE, which stands for Synthetic Minority Over-sampling Technique.</a:t>
            </a:r>
          </a:p>
          <a:p>
            <a:r>
              <a:rPr lang="en-US" dirty="0"/>
              <a:t>SMOTE generates synthetic samples for the minority class by using k-nearest neighbors to create diverse data points.</a:t>
            </a:r>
          </a:p>
          <a:p>
            <a:r>
              <a:rPr lang="en-US" dirty="0"/>
              <a:t>Steps:</a:t>
            </a:r>
          </a:p>
          <a:p>
            <a:r>
              <a:rPr lang="en-US" dirty="0"/>
              <a:t>Identify k-nearest neighbors.</a:t>
            </a:r>
          </a:p>
          <a:p>
            <a:r>
              <a:rPr lang="en-US" dirty="0"/>
              <a:t>new samples between existing instances.</a:t>
            </a:r>
          </a:p>
          <a:p>
            <a:r>
              <a:rPr lang="en-US" dirty="0"/>
              <a:t>The advantage of SMOTE is that it reduces overfitting and adds variability to the dataset. However, it doesn't address overlapping data points near decision boundaries</a:t>
            </a:r>
          </a:p>
          <a:p>
            <a:endParaRPr lang="pt-PT" dirty="0"/>
          </a:p>
        </p:txBody>
      </p:sp>
      <p:sp>
        <p:nvSpPr>
          <p:cNvPr id="4" name="Marcador de Posição do Número do Diapositivo 3"/>
          <p:cNvSpPr>
            <a:spLocks noGrp="1"/>
          </p:cNvSpPr>
          <p:nvPr>
            <p:ph type="sldNum" sz="quarter" idx="5"/>
          </p:nvPr>
        </p:nvSpPr>
        <p:spPr/>
        <p:txBody>
          <a:bodyPr/>
          <a:lstStyle/>
          <a:p>
            <a:fld id="{021B9CEB-BF53-49FC-B677-A6A019229240}" type="slidenum">
              <a:rPr lang="pt-PT" smtClean="0"/>
              <a:t>11</a:t>
            </a:fld>
            <a:endParaRPr lang="pt-PT"/>
          </a:p>
        </p:txBody>
      </p:sp>
    </p:spTree>
    <p:extLst>
      <p:ext uri="{BB962C8B-B14F-4D97-AF65-F5344CB8AC3E}">
        <p14:creationId xmlns:p14="http://schemas.microsoft.com/office/powerpoint/2010/main" val="33867234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PT" altLang="pt-PT" sz="1200" b="1" i="0" u="none" strike="noStrike" cap="none" normalizeH="0" baseline="0" dirty="0">
                <a:ln>
                  <a:noFill/>
                </a:ln>
                <a:solidFill>
                  <a:schemeClr val="tx1"/>
                </a:solidFill>
                <a:effectLst/>
                <a:latin typeface="Arial" panose="020B0604020202020204" pitchFamily="34" charset="0"/>
              </a:rPr>
              <a:t>VAZ</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pt-PT" sz="1200" b="1" i="0" u="none" strike="noStrike" cap="none" normalizeH="0" baseline="0" dirty="0">
                <a:ln>
                  <a:noFill/>
                </a:ln>
                <a:solidFill>
                  <a:schemeClr val="tx1"/>
                </a:solidFill>
                <a:effectLst/>
                <a:latin typeface="Arial" panose="020B0604020202020204" pitchFamily="34" charset="0"/>
              </a:rPr>
              <a:t>B-SMOTE, or Borderline-SMOTE.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pt-PT" sz="1200" b="1" i="0" u="none" strike="noStrike" cap="none" normalizeH="0" baseline="0" dirty="0">
                <a:ln>
                  <a:noFill/>
                </a:ln>
                <a:solidFill>
                  <a:schemeClr val="tx1"/>
                </a:solidFill>
                <a:effectLst/>
                <a:latin typeface="Arial" panose="020B0604020202020204" pitchFamily="34" charset="0"/>
              </a:rPr>
              <a:t>This technique focuses on the minority class near decision boundaries.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pt-PT" sz="1200" b="1" i="0" u="none" strike="noStrike" cap="none" normalizeH="0" baseline="0" dirty="0">
                <a:ln>
                  <a:noFill/>
                </a:ln>
                <a:solidFill>
                  <a:schemeClr val="tx1"/>
                </a:solidFill>
                <a:effectLst/>
                <a:latin typeface="Arial" panose="020B0604020202020204" pitchFamily="34" charset="0"/>
              </a:rPr>
              <a:t>-The advantage of B-SMOTE is that it targets critical areas that are prone to misclassification, helping to improve accuracy in these challenging zones</a:t>
            </a:r>
          </a:p>
          <a:p>
            <a:endParaRPr lang="pt-PT" dirty="0"/>
          </a:p>
        </p:txBody>
      </p:sp>
      <p:sp>
        <p:nvSpPr>
          <p:cNvPr id="4" name="Marcador de Posição do Número do Diapositivo 3"/>
          <p:cNvSpPr>
            <a:spLocks noGrp="1"/>
          </p:cNvSpPr>
          <p:nvPr>
            <p:ph type="sldNum" sz="quarter" idx="5"/>
          </p:nvPr>
        </p:nvSpPr>
        <p:spPr/>
        <p:txBody>
          <a:bodyPr/>
          <a:lstStyle/>
          <a:p>
            <a:fld id="{021B9CEB-BF53-49FC-B677-A6A019229240}" type="slidenum">
              <a:rPr lang="pt-PT" smtClean="0"/>
              <a:t>12</a:t>
            </a:fld>
            <a:endParaRPr lang="pt-PT"/>
          </a:p>
        </p:txBody>
      </p:sp>
    </p:spTree>
    <p:extLst>
      <p:ext uri="{BB962C8B-B14F-4D97-AF65-F5344CB8AC3E}">
        <p14:creationId xmlns:p14="http://schemas.microsoft.com/office/powerpoint/2010/main" val="39139620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PT" altLang="pt-PT" sz="1200" b="1" i="0" u="none" strike="noStrike" cap="none" normalizeH="0" baseline="0" dirty="0">
                <a:ln>
                  <a:noFill/>
                </a:ln>
                <a:solidFill>
                  <a:schemeClr val="tx1"/>
                </a:solidFill>
                <a:effectLst/>
                <a:latin typeface="Arial" panose="020B0604020202020204" pitchFamily="34" charset="0"/>
              </a:rPr>
              <a:t>VAZ</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200" b="1" i="0" u="none" strike="noStrike" cap="none" normalizeH="0" baseline="0" dirty="0">
                <a:ln>
                  <a:noFill/>
                </a:ln>
                <a:solidFill>
                  <a:schemeClr val="tx1"/>
                </a:solidFill>
                <a:effectLst/>
                <a:latin typeface="Arial" panose="020B0604020202020204" pitchFamily="34" charset="0"/>
              </a:rPr>
              <a:t>ADASYN</a:t>
            </a:r>
            <a:r>
              <a:rPr kumimoji="0" lang="pt-PT" altLang="pt-PT" sz="1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pt-PT" sz="1200" b="0" i="0" u="none" strike="noStrike" cap="none" normalizeH="0" baseline="0" dirty="0">
                <a:ln>
                  <a:noFill/>
                </a:ln>
                <a:solidFill>
                  <a:schemeClr val="tx1"/>
                </a:solidFill>
                <a:effectLst/>
                <a:latin typeface="Arial" panose="020B0604020202020204" pitchFamily="34" charset="0"/>
              </a:rPr>
              <a:t>ADASYN focuses on generating synthetic data adaptively for hard-to-classify areas.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pt-PT" sz="1200" b="0" i="0" u="none" strike="noStrike" cap="none" normalizeH="0" baseline="0" dirty="0">
                <a:ln>
                  <a:noFill/>
                </a:ln>
                <a:solidFill>
                  <a:schemeClr val="tx1"/>
                </a:solidFill>
                <a:effectLst/>
                <a:latin typeface="Arial" panose="020B0604020202020204" pitchFamily="34" charset="0"/>
              </a:rPr>
              <a:t>The main benefit is that it prioritizes challenging regions, leading to better performance in those areas.</a:t>
            </a:r>
            <a:endParaRPr lang="pt-PT" dirty="0"/>
          </a:p>
        </p:txBody>
      </p:sp>
      <p:sp>
        <p:nvSpPr>
          <p:cNvPr id="4" name="Marcador de Posição do Número do Diapositivo 3"/>
          <p:cNvSpPr>
            <a:spLocks noGrp="1"/>
          </p:cNvSpPr>
          <p:nvPr>
            <p:ph type="sldNum" sz="quarter" idx="5"/>
          </p:nvPr>
        </p:nvSpPr>
        <p:spPr/>
        <p:txBody>
          <a:bodyPr/>
          <a:lstStyle/>
          <a:p>
            <a:fld id="{021B9CEB-BF53-49FC-B677-A6A019229240}" type="slidenum">
              <a:rPr lang="pt-PT" smtClean="0"/>
              <a:t>13</a:t>
            </a:fld>
            <a:endParaRPr lang="pt-PT"/>
          </a:p>
        </p:txBody>
      </p:sp>
    </p:spTree>
    <p:extLst>
      <p:ext uri="{BB962C8B-B14F-4D97-AF65-F5344CB8AC3E}">
        <p14:creationId xmlns:p14="http://schemas.microsoft.com/office/powerpoint/2010/main" val="33897516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a:buFont typeface="Arial" panose="020B0604020202020204" pitchFamily="34" charset="0"/>
              <a:buNone/>
            </a:pPr>
            <a:r>
              <a:rPr lang="en-US" b="1" dirty="0"/>
              <a:t>VAZ</a:t>
            </a:r>
          </a:p>
          <a:p>
            <a:pPr>
              <a:buFont typeface="Arial" panose="020B0604020202020204" pitchFamily="34" charset="0"/>
              <a:buChar char="•"/>
            </a:pPr>
            <a:r>
              <a:rPr lang="en-US" b="1" dirty="0"/>
              <a:t>This method removes instances from the majority </a:t>
            </a:r>
            <a:r>
              <a:rPr lang="en-US" b="1"/>
              <a:t>class.</a:t>
            </a:r>
            <a:endParaRPr lang="en-US" b="1" dirty="0"/>
          </a:p>
          <a:p>
            <a:pPr>
              <a:buFont typeface="Arial" panose="020B0604020202020204" pitchFamily="34" charset="0"/>
              <a:buChar char="•"/>
            </a:pPr>
            <a:r>
              <a:rPr lang="en-US" b="1" dirty="0"/>
              <a:t>The main advantage is that it reduces imbalance without creating duplicates. However, it may discard useful information from the majority class.</a:t>
            </a:r>
          </a:p>
          <a:p>
            <a:pPr>
              <a:buFont typeface="Arial" panose="020B0604020202020204" pitchFamily="34" charset="0"/>
              <a:buChar char="•"/>
            </a:pPr>
            <a:r>
              <a:rPr lang="en-US" b="1" dirty="0"/>
              <a:t>Random </a:t>
            </a:r>
            <a:r>
              <a:rPr lang="en-US" b="1" dirty="0" err="1"/>
              <a:t>Undersampling</a:t>
            </a:r>
            <a:r>
              <a:rPr lang="en-US" b="1" dirty="0"/>
              <a:t> is effective when the minority class has a sufficient number of examples</a:t>
            </a:r>
            <a:endParaRPr lang="pt-PT" dirty="0"/>
          </a:p>
          <a:p>
            <a:endParaRPr lang="pt-PT" dirty="0"/>
          </a:p>
        </p:txBody>
      </p:sp>
      <p:sp>
        <p:nvSpPr>
          <p:cNvPr id="4" name="Marcador de Posição do Número do Diapositivo 3"/>
          <p:cNvSpPr>
            <a:spLocks noGrp="1"/>
          </p:cNvSpPr>
          <p:nvPr>
            <p:ph type="sldNum" sz="quarter" idx="5"/>
          </p:nvPr>
        </p:nvSpPr>
        <p:spPr/>
        <p:txBody>
          <a:bodyPr/>
          <a:lstStyle/>
          <a:p>
            <a:fld id="{021B9CEB-BF53-49FC-B677-A6A019229240}" type="slidenum">
              <a:rPr lang="pt-PT" smtClean="0"/>
              <a:t>14</a:t>
            </a:fld>
            <a:endParaRPr lang="pt-PT"/>
          </a:p>
        </p:txBody>
      </p:sp>
    </p:spTree>
    <p:extLst>
      <p:ext uri="{BB962C8B-B14F-4D97-AF65-F5344CB8AC3E}">
        <p14:creationId xmlns:p14="http://schemas.microsoft.com/office/powerpoint/2010/main" val="13693312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PT" altLang="pt-PT" sz="1800" b="1" i="0" u="none" strike="noStrike" cap="none" normalizeH="0" baseline="0" dirty="0">
                <a:ln>
                  <a:noFill/>
                </a:ln>
                <a:solidFill>
                  <a:schemeClr val="tx1"/>
                </a:solidFill>
                <a:effectLst/>
                <a:latin typeface="Arial" panose="020B0604020202020204" pitchFamily="34" charset="0"/>
              </a:rPr>
              <a:t>BROCHADO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800" b="1" i="0" u="none" strike="noStrike" cap="none" normalizeH="0" baseline="0" dirty="0">
                <a:ln>
                  <a:noFill/>
                </a:ln>
                <a:solidFill>
                  <a:schemeClr val="tx1"/>
                </a:solidFill>
                <a:effectLst/>
                <a:latin typeface="Arial" panose="020B0604020202020204" pitchFamily="34" charset="0"/>
              </a:rPr>
              <a:t>SMOTEENN</a:t>
            </a:r>
            <a:r>
              <a:rPr kumimoji="0" lang="pt-PT" altLang="pt-PT"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800" b="0" i="0" u="none" strike="noStrike" cap="none" normalizeH="0" baseline="0" dirty="0">
                <a:ln>
                  <a:noFill/>
                </a:ln>
                <a:solidFill>
                  <a:schemeClr val="tx1"/>
                </a:solidFill>
                <a:effectLst/>
                <a:latin typeface="Arial" panose="020B0604020202020204" pitchFamily="34" charset="0"/>
              </a:rPr>
              <a:t>Combines SMOTE </a:t>
            </a:r>
            <a:r>
              <a:rPr kumimoji="0" lang="pt-PT" altLang="pt-PT" sz="1800" b="0" i="0" u="none" strike="noStrike" cap="none" normalizeH="0" baseline="0" dirty="0" err="1">
                <a:ln>
                  <a:noFill/>
                </a:ln>
                <a:solidFill>
                  <a:schemeClr val="tx1"/>
                </a:solidFill>
                <a:effectLst/>
                <a:latin typeface="Arial" panose="020B0604020202020204" pitchFamily="34" charset="0"/>
              </a:rPr>
              <a:t>with</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Edited</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Nearest</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Neighbors</a:t>
            </a:r>
            <a:r>
              <a:rPr kumimoji="0" lang="pt-PT" altLang="pt-PT" sz="1800" b="0" i="0" u="none" strike="noStrike" cap="none" normalizeH="0" baseline="0" dirty="0">
                <a:ln>
                  <a:noFill/>
                </a:ln>
                <a:solidFill>
                  <a:schemeClr val="tx1"/>
                </a:solidFill>
                <a:effectLst/>
                <a:latin typeface="Arial" panose="020B0604020202020204" pitchFamily="34" charset="0"/>
              </a:rPr>
              <a:t> (ENN).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800" b="0" i="0" u="none" strike="noStrike" cap="none" normalizeH="0" baseline="0" dirty="0">
                <a:ln>
                  <a:noFill/>
                </a:ln>
                <a:solidFill>
                  <a:schemeClr val="tx1"/>
                </a:solidFill>
                <a:effectLst/>
                <a:latin typeface="Arial" panose="020B0604020202020204" pitchFamily="34" charset="0"/>
              </a:rPr>
              <a:t>Steps: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pt-PT" altLang="pt-PT" sz="1800" b="0" i="0" u="none" strike="noStrike" cap="none" normalizeH="0" baseline="0" dirty="0">
                <a:ln>
                  <a:noFill/>
                </a:ln>
                <a:solidFill>
                  <a:schemeClr val="tx1"/>
                </a:solidFill>
                <a:effectLst/>
                <a:latin typeface="Arial" panose="020B0604020202020204" pitchFamily="34" charset="0"/>
              </a:rPr>
              <a:t>SMOTE </a:t>
            </a:r>
            <a:r>
              <a:rPr kumimoji="0" lang="pt-PT" altLang="pt-PT" sz="1800" b="0" i="0" u="none" strike="noStrike" cap="none" normalizeH="0" baseline="0" dirty="0" err="1">
                <a:ln>
                  <a:noFill/>
                </a:ln>
                <a:solidFill>
                  <a:schemeClr val="tx1"/>
                </a:solidFill>
                <a:effectLst/>
                <a:latin typeface="Arial" panose="020B0604020202020204" pitchFamily="34" charset="0"/>
              </a:rPr>
              <a:t>generates</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synthetic</a:t>
            </a:r>
            <a:r>
              <a:rPr kumimoji="0" lang="pt-PT" altLang="pt-PT" sz="1800" b="0" i="0" u="none" strike="noStrike" cap="none" normalizeH="0" baseline="0" dirty="0">
                <a:ln>
                  <a:noFill/>
                </a:ln>
                <a:solidFill>
                  <a:schemeClr val="tx1"/>
                </a:solidFill>
                <a:effectLst/>
                <a:latin typeface="Arial" panose="020B0604020202020204" pitchFamily="34" charset="0"/>
              </a:rPr>
              <a:t> samples.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pt-PT" altLang="pt-PT" sz="1800" b="0" i="0" u="none" strike="noStrike" cap="none" normalizeH="0" baseline="0" dirty="0">
                <a:ln>
                  <a:noFill/>
                </a:ln>
                <a:solidFill>
                  <a:schemeClr val="tx1"/>
                </a:solidFill>
                <a:effectLst/>
                <a:latin typeface="Arial" panose="020B0604020202020204" pitchFamily="34" charset="0"/>
              </a:rPr>
              <a:t>ENN removes </a:t>
            </a:r>
            <a:r>
              <a:rPr kumimoji="0" lang="pt-PT" altLang="pt-PT" sz="1800" b="0" i="0" u="none" strike="noStrike" cap="none" normalizeH="0" baseline="0" dirty="0" err="1">
                <a:ln>
                  <a:noFill/>
                </a:ln>
                <a:solidFill>
                  <a:schemeClr val="tx1"/>
                </a:solidFill>
                <a:effectLst/>
                <a:latin typeface="Arial" panose="020B0604020202020204" pitchFamily="34" charset="0"/>
              </a:rPr>
              <a:t>noisy</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and</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ambiguous</a:t>
            </a:r>
            <a:r>
              <a:rPr kumimoji="0" lang="pt-PT" altLang="pt-PT" sz="1800" b="0" i="0" u="none" strike="noStrike" cap="none" normalizeH="0" baseline="0" dirty="0">
                <a:ln>
                  <a:noFill/>
                </a:ln>
                <a:solidFill>
                  <a:schemeClr val="tx1"/>
                </a:solidFill>
                <a:effectLst/>
                <a:latin typeface="Arial" panose="020B0604020202020204" pitchFamily="34" charset="0"/>
              </a:rPr>
              <a:t>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800" b="0" i="0" u="none" strike="noStrike" cap="none" normalizeH="0" baseline="0" dirty="0">
                <a:ln>
                  <a:noFill/>
                </a:ln>
                <a:solidFill>
                  <a:schemeClr val="tx1"/>
                </a:solidFill>
                <a:effectLst/>
                <a:latin typeface="Arial" panose="020B0604020202020204" pitchFamily="34" charset="0"/>
              </a:rPr>
              <a:t>Pros: Balances data </a:t>
            </a:r>
            <a:r>
              <a:rPr kumimoji="0" lang="pt-PT" altLang="pt-PT" sz="1800" b="0" i="0" u="none" strike="noStrike" cap="none" normalizeH="0" baseline="0" dirty="0" err="1">
                <a:ln>
                  <a:noFill/>
                </a:ln>
                <a:solidFill>
                  <a:schemeClr val="tx1"/>
                </a:solidFill>
                <a:effectLst/>
                <a:latin typeface="Arial" panose="020B0604020202020204" pitchFamily="34" charset="0"/>
              </a:rPr>
              <a:t>while</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cleaning</a:t>
            </a:r>
            <a:r>
              <a:rPr kumimoji="0" lang="pt-PT" altLang="pt-PT" sz="1800" b="0" i="0" u="none" strike="noStrike" cap="none" normalizeH="0" baseline="0" dirty="0">
                <a:ln>
                  <a:noFill/>
                </a:ln>
                <a:solidFill>
                  <a:schemeClr val="tx1"/>
                </a:solidFill>
                <a:effectLst/>
                <a:latin typeface="Arial" panose="020B0604020202020204" pitchFamily="34" charset="0"/>
              </a:rPr>
              <a:t> noise </a:t>
            </a:r>
            <a:r>
              <a:rPr kumimoji="0" lang="pt-PT" altLang="pt-PT" sz="1800" b="0" i="0" u="none" strike="noStrike" cap="none" normalizeH="0" baseline="0" dirty="0" err="1">
                <a:ln>
                  <a:noFill/>
                </a:ln>
                <a:solidFill>
                  <a:schemeClr val="tx1"/>
                </a:solidFill>
                <a:effectLst/>
                <a:latin typeface="Arial" panose="020B0604020202020204" pitchFamily="34" charset="0"/>
              </a:rPr>
              <a:t>at</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decision</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boundaries</a:t>
            </a:r>
            <a:r>
              <a:rPr kumimoji="0" lang="pt-PT" altLang="pt-PT"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t-PT" altLang="pt-PT" sz="1800" b="0" i="0" u="none" strike="noStrike" cap="none" normalizeH="0" baseline="0" dirty="0">
              <a:ln>
                <a:noFill/>
              </a:ln>
              <a:solidFill>
                <a:schemeClr val="tx1"/>
              </a:solidFill>
              <a:effectLst/>
              <a:latin typeface="Arial" panose="020B0604020202020204" pitchFamily="34" charset="0"/>
            </a:endParaRPr>
          </a:p>
          <a:p>
            <a:endParaRPr lang="pt-PT" dirty="0"/>
          </a:p>
        </p:txBody>
      </p:sp>
      <p:sp>
        <p:nvSpPr>
          <p:cNvPr id="4" name="Marcador de Posição do Número do Diapositivo 3"/>
          <p:cNvSpPr>
            <a:spLocks noGrp="1"/>
          </p:cNvSpPr>
          <p:nvPr>
            <p:ph type="sldNum" sz="quarter" idx="5"/>
          </p:nvPr>
        </p:nvSpPr>
        <p:spPr/>
        <p:txBody>
          <a:bodyPr/>
          <a:lstStyle/>
          <a:p>
            <a:fld id="{021B9CEB-BF53-49FC-B677-A6A019229240}" type="slidenum">
              <a:rPr lang="pt-PT" smtClean="0"/>
              <a:t>15</a:t>
            </a:fld>
            <a:endParaRPr lang="pt-PT"/>
          </a:p>
        </p:txBody>
      </p:sp>
    </p:spTree>
    <p:extLst>
      <p:ext uri="{BB962C8B-B14F-4D97-AF65-F5344CB8AC3E}">
        <p14:creationId xmlns:p14="http://schemas.microsoft.com/office/powerpoint/2010/main" val="37889903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PT" altLang="pt-PT" sz="1200" b="1" i="0" u="none" strike="noStrike" cap="none" normalizeH="0" baseline="0" dirty="0">
                <a:ln>
                  <a:noFill/>
                </a:ln>
                <a:solidFill>
                  <a:schemeClr val="tx1"/>
                </a:solidFill>
                <a:effectLst/>
                <a:latin typeface="Arial" panose="020B0604020202020204" pitchFamily="34" charset="0"/>
              </a:rPr>
              <a:t>BROCHADO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200" b="1" i="0" u="none" strike="noStrike" cap="none" normalizeH="0" baseline="0" dirty="0" err="1">
                <a:ln>
                  <a:noFill/>
                </a:ln>
                <a:solidFill>
                  <a:schemeClr val="tx1"/>
                </a:solidFill>
                <a:effectLst/>
                <a:latin typeface="Arial" panose="020B0604020202020204" pitchFamily="34" charset="0"/>
              </a:rPr>
              <a:t>What</a:t>
            </a:r>
            <a:r>
              <a:rPr kumimoji="0" lang="pt-PT" altLang="pt-PT" sz="1200" b="1" i="0" u="none" strike="noStrike" cap="none" normalizeH="0" baseline="0" dirty="0">
                <a:ln>
                  <a:noFill/>
                </a:ln>
                <a:solidFill>
                  <a:schemeClr val="tx1"/>
                </a:solidFill>
                <a:effectLst/>
                <a:latin typeface="Arial" panose="020B0604020202020204" pitchFamily="34" charset="0"/>
              </a:rPr>
              <a:t> </a:t>
            </a:r>
            <a:r>
              <a:rPr kumimoji="0" lang="pt-PT" altLang="pt-PT" sz="1200" b="1" i="0" u="none" strike="noStrike" cap="none" normalizeH="0" baseline="0" dirty="0" err="1">
                <a:ln>
                  <a:noFill/>
                </a:ln>
                <a:solidFill>
                  <a:schemeClr val="tx1"/>
                </a:solidFill>
                <a:effectLst/>
                <a:latin typeface="Arial" panose="020B0604020202020204" pitchFamily="34" charset="0"/>
              </a:rPr>
              <a:t>It</a:t>
            </a:r>
            <a:r>
              <a:rPr kumimoji="0" lang="pt-PT" altLang="pt-PT" sz="1200" b="1" i="0" u="none" strike="noStrike" cap="none" normalizeH="0" baseline="0" dirty="0">
                <a:ln>
                  <a:noFill/>
                </a:ln>
                <a:solidFill>
                  <a:schemeClr val="tx1"/>
                </a:solidFill>
                <a:effectLst/>
                <a:latin typeface="Arial" panose="020B0604020202020204" pitchFamily="34" charset="0"/>
              </a:rPr>
              <a:t> Is</a:t>
            </a:r>
            <a:r>
              <a:rPr kumimoji="0" lang="pt-PT" altLang="pt-PT" sz="1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200" b="0" i="0" u="none" strike="noStrike" cap="none" normalizeH="0" baseline="0" dirty="0">
                <a:ln>
                  <a:noFill/>
                </a:ln>
                <a:solidFill>
                  <a:schemeClr val="tx1"/>
                </a:solidFill>
                <a:effectLst/>
                <a:latin typeface="Arial" panose="020B0604020202020204" pitchFamily="34" charset="0"/>
              </a:rPr>
              <a:t>Combines </a:t>
            </a:r>
            <a:r>
              <a:rPr kumimoji="0" lang="pt-PT" altLang="pt-PT" sz="1200" b="0" i="0" u="none" strike="noStrike" cap="none" normalizeH="0" baseline="0" dirty="0" err="1">
                <a:ln>
                  <a:noFill/>
                </a:ln>
                <a:solidFill>
                  <a:schemeClr val="tx1"/>
                </a:solidFill>
                <a:effectLst/>
                <a:latin typeface="Arial" panose="020B0604020202020204" pitchFamily="34" charset="0"/>
              </a:rPr>
              <a:t>Borderline</a:t>
            </a:r>
            <a:r>
              <a:rPr kumimoji="0" lang="pt-PT" altLang="pt-PT" sz="1200" b="0" i="0" u="none" strike="noStrike" cap="none" normalizeH="0" baseline="0" dirty="0">
                <a:ln>
                  <a:noFill/>
                </a:ln>
                <a:solidFill>
                  <a:schemeClr val="tx1"/>
                </a:solidFill>
                <a:effectLst/>
                <a:latin typeface="Arial" panose="020B0604020202020204" pitchFamily="34" charset="0"/>
              </a:rPr>
              <a:t>-SMOTE </a:t>
            </a:r>
            <a:r>
              <a:rPr kumimoji="0" lang="pt-PT" altLang="pt-PT" sz="1200" b="0" i="0" u="none" strike="noStrike" cap="none" normalizeH="0" baseline="0" dirty="0" err="1">
                <a:ln>
                  <a:noFill/>
                </a:ln>
                <a:solidFill>
                  <a:schemeClr val="tx1"/>
                </a:solidFill>
                <a:effectLst/>
                <a:latin typeface="Arial" panose="020B0604020202020204" pitchFamily="34" charset="0"/>
              </a:rPr>
              <a:t>and</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Tomek</a:t>
            </a:r>
            <a:r>
              <a:rPr kumimoji="0" lang="pt-PT" altLang="pt-PT" sz="1200" b="0" i="0" u="none" strike="noStrike" cap="none" normalizeH="0" baseline="0" dirty="0">
                <a:ln>
                  <a:noFill/>
                </a:ln>
                <a:solidFill>
                  <a:schemeClr val="tx1"/>
                </a:solidFill>
                <a:effectLst/>
                <a:latin typeface="Arial" panose="020B0604020202020204" pitchFamily="34" charset="0"/>
              </a:rPr>
              <a:t> Links.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200" b="0" i="0" u="none" strike="noStrike" cap="none" normalizeH="0" baseline="0" dirty="0" err="1">
                <a:ln>
                  <a:noFill/>
                </a:ln>
                <a:solidFill>
                  <a:schemeClr val="tx1"/>
                </a:solidFill>
                <a:effectLst/>
                <a:latin typeface="Arial" panose="020B0604020202020204" pitchFamily="34" charset="0"/>
              </a:rPr>
              <a:t>Generates</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synthetic</a:t>
            </a:r>
            <a:r>
              <a:rPr kumimoji="0" lang="pt-PT" altLang="pt-PT" sz="1200" b="0" i="0" u="none" strike="noStrike" cap="none" normalizeH="0" baseline="0" dirty="0">
                <a:ln>
                  <a:noFill/>
                </a:ln>
                <a:solidFill>
                  <a:schemeClr val="tx1"/>
                </a:solidFill>
                <a:effectLst/>
                <a:latin typeface="Arial" panose="020B0604020202020204" pitchFamily="34" charset="0"/>
              </a:rPr>
              <a:t> samples for </a:t>
            </a:r>
            <a:r>
              <a:rPr kumimoji="0" lang="pt-PT" altLang="pt-PT" sz="1200" b="0" i="0" u="none" strike="noStrike" cap="none" normalizeH="0" baseline="0" dirty="0" err="1">
                <a:ln>
                  <a:noFill/>
                </a:ln>
                <a:solidFill>
                  <a:schemeClr val="tx1"/>
                </a:solidFill>
                <a:effectLst/>
                <a:latin typeface="Arial" panose="020B0604020202020204" pitchFamily="34" charset="0"/>
              </a:rPr>
              <a:t>challenging</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areas</a:t>
            </a:r>
            <a:r>
              <a:rPr kumimoji="0" lang="pt-PT" altLang="pt-PT" sz="1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200" b="0" i="0" u="none" strike="noStrike" cap="none" normalizeH="0" baseline="0" dirty="0">
                <a:ln>
                  <a:noFill/>
                </a:ln>
                <a:solidFill>
                  <a:schemeClr val="tx1"/>
                </a:solidFill>
                <a:effectLst/>
                <a:latin typeface="Arial" panose="020B0604020202020204" pitchFamily="34" charset="0"/>
              </a:rPr>
              <a:t>Removes </a:t>
            </a:r>
            <a:r>
              <a:rPr kumimoji="0" lang="pt-PT" altLang="pt-PT" sz="1200" b="0" i="0" u="none" strike="noStrike" cap="none" normalizeH="0" baseline="0" dirty="0" err="1">
                <a:ln>
                  <a:noFill/>
                </a:ln>
                <a:solidFill>
                  <a:schemeClr val="tx1"/>
                </a:solidFill>
                <a:effectLst/>
                <a:latin typeface="Arial" panose="020B0604020202020204" pitchFamily="34" charset="0"/>
              </a:rPr>
              <a:t>noisy</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majority</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class</a:t>
            </a:r>
            <a:r>
              <a:rPr kumimoji="0" lang="pt-PT" altLang="pt-PT" sz="1200" b="0" i="0" u="none" strike="noStrike" cap="none" normalizeH="0" baseline="0" dirty="0">
                <a:ln>
                  <a:noFill/>
                </a:ln>
                <a:solidFill>
                  <a:schemeClr val="tx1"/>
                </a:solidFill>
                <a:effectLst/>
                <a:latin typeface="Arial" panose="020B0604020202020204" pitchFamily="34" charset="0"/>
              </a:rPr>
              <a:t> samples </a:t>
            </a:r>
            <a:r>
              <a:rPr kumimoji="0" lang="pt-PT" altLang="pt-PT" sz="1200" b="0" i="0" u="none" strike="noStrike" cap="none" normalizeH="0" baseline="0" dirty="0" err="1">
                <a:ln>
                  <a:noFill/>
                </a:ln>
                <a:solidFill>
                  <a:schemeClr val="tx1"/>
                </a:solidFill>
                <a:effectLst/>
                <a:latin typeface="Arial" panose="020B0604020202020204" pitchFamily="34" charset="0"/>
              </a:rPr>
              <a:t>close</a:t>
            </a:r>
            <a:r>
              <a:rPr kumimoji="0" lang="pt-PT" altLang="pt-PT" sz="1200" b="0" i="0" u="none" strike="noStrike" cap="none" normalizeH="0" baseline="0" dirty="0">
                <a:ln>
                  <a:noFill/>
                </a:ln>
                <a:solidFill>
                  <a:schemeClr val="tx1"/>
                </a:solidFill>
                <a:effectLst/>
                <a:latin typeface="Arial" panose="020B0604020202020204" pitchFamily="34" charset="0"/>
              </a:rPr>
              <a:t> to </a:t>
            </a:r>
            <a:r>
              <a:rPr kumimoji="0" lang="pt-PT" altLang="pt-PT" sz="1200" b="0" i="0" u="none" strike="noStrike" cap="none" normalizeH="0" baseline="0" dirty="0" err="1">
                <a:ln>
                  <a:noFill/>
                </a:ln>
                <a:solidFill>
                  <a:schemeClr val="tx1"/>
                </a:solidFill>
                <a:effectLst/>
                <a:latin typeface="Arial" panose="020B0604020202020204" pitchFamily="34" charset="0"/>
              </a:rPr>
              <a:t>decision</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boundaries</a:t>
            </a:r>
            <a:r>
              <a:rPr kumimoji="0" lang="pt-PT" altLang="pt-PT" sz="1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200" b="1" i="0" u="none" strike="noStrike" cap="none" normalizeH="0" baseline="0" dirty="0">
                <a:ln>
                  <a:noFill/>
                </a:ln>
                <a:solidFill>
                  <a:schemeClr val="tx1"/>
                </a:solidFill>
                <a:effectLst/>
                <a:latin typeface="Arial" panose="020B0604020202020204" pitchFamily="34" charset="0"/>
              </a:rPr>
              <a:t>Pros</a:t>
            </a:r>
            <a:r>
              <a:rPr kumimoji="0" lang="pt-PT" altLang="pt-PT" sz="1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200" b="0" i="0" u="none" strike="noStrike" cap="none" normalizeH="0" baseline="0" dirty="0">
                <a:ln>
                  <a:noFill/>
                </a:ln>
                <a:solidFill>
                  <a:schemeClr val="tx1"/>
                </a:solidFill>
                <a:effectLst/>
                <a:latin typeface="Arial" panose="020B0604020202020204" pitchFamily="34" charset="0"/>
              </a:rPr>
              <a:t>Improves </a:t>
            </a:r>
            <a:r>
              <a:rPr kumimoji="0" lang="pt-PT" altLang="pt-PT" sz="1200" b="0" i="0" u="none" strike="noStrike" cap="none" normalizeH="0" baseline="0" dirty="0" err="1">
                <a:ln>
                  <a:noFill/>
                </a:ln>
                <a:solidFill>
                  <a:schemeClr val="tx1"/>
                </a:solidFill>
                <a:effectLst/>
                <a:latin typeface="Arial" panose="020B0604020202020204" pitchFamily="34" charset="0"/>
              </a:rPr>
              <a:t>decision</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boundary</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clarity</a:t>
            </a:r>
            <a:r>
              <a:rPr kumimoji="0" lang="pt-PT" altLang="pt-PT" sz="1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200" b="0" i="0" u="none" strike="noStrike" cap="none" normalizeH="0" baseline="0" dirty="0">
                <a:ln>
                  <a:noFill/>
                </a:ln>
                <a:solidFill>
                  <a:schemeClr val="tx1"/>
                </a:solidFill>
                <a:effectLst/>
                <a:latin typeface="Arial" panose="020B0604020202020204" pitchFamily="34" charset="0"/>
              </a:rPr>
              <a:t>Balances </a:t>
            </a:r>
            <a:r>
              <a:rPr kumimoji="0" lang="pt-PT" altLang="pt-PT" sz="1200" b="0" i="0" u="none" strike="noStrike" cap="none" normalizeH="0" baseline="0" dirty="0" err="1">
                <a:ln>
                  <a:noFill/>
                </a:ln>
                <a:solidFill>
                  <a:schemeClr val="tx1"/>
                </a:solidFill>
                <a:effectLst/>
                <a:latin typeface="Arial" panose="020B0604020202020204" pitchFamily="34" charset="0"/>
              </a:rPr>
              <a:t>dataset</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effectively</a:t>
            </a:r>
            <a:r>
              <a:rPr kumimoji="0" lang="pt-PT" altLang="pt-PT" sz="1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200" b="1" i="0" u="none" strike="noStrike" cap="none" normalizeH="0" baseline="0" dirty="0" err="1">
                <a:ln>
                  <a:noFill/>
                </a:ln>
                <a:solidFill>
                  <a:schemeClr val="tx1"/>
                </a:solidFill>
                <a:effectLst/>
                <a:latin typeface="Arial" panose="020B0604020202020204" pitchFamily="34" charset="0"/>
              </a:rPr>
              <a:t>Cons</a:t>
            </a:r>
            <a:r>
              <a:rPr kumimoji="0" lang="pt-PT" altLang="pt-PT" sz="1200" b="0" i="0" u="none" strike="noStrike" cap="none" normalizeH="0" baseline="0" dirty="0">
                <a:ln>
                  <a:noFill/>
                </a:ln>
                <a:solidFill>
                  <a:schemeClr val="tx1"/>
                </a:solidFill>
                <a:effectLst/>
                <a:latin typeface="Arial" panose="020B0604020202020204" pitchFamily="34" charset="0"/>
              </a:rPr>
              <a:t>: More </a:t>
            </a:r>
            <a:r>
              <a:rPr kumimoji="0" lang="pt-PT" altLang="pt-PT" sz="1200" b="0" i="0" u="none" strike="noStrike" cap="none" normalizeH="0" baseline="0" dirty="0" err="1">
                <a:ln>
                  <a:noFill/>
                </a:ln>
                <a:solidFill>
                  <a:schemeClr val="tx1"/>
                </a:solidFill>
                <a:effectLst/>
                <a:latin typeface="Arial" panose="020B0604020202020204" pitchFamily="34" charset="0"/>
              </a:rPr>
              <a:t>computationally</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intensive</a:t>
            </a:r>
            <a:r>
              <a:rPr kumimoji="0" lang="pt-PT" altLang="pt-PT" sz="1200" b="0" i="0" u="none" strike="noStrike" cap="none" normalizeH="0" baseline="0" dirty="0">
                <a:ln>
                  <a:noFill/>
                </a:ln>
                <a:solidFill>
                  <a:schemeClr val="tx1"/>
                </a:solidFill>
                <a:effectLst/>
                <a:latin typeface="Arial" panose="020B0604020202020204" pitchFamily="34" charset="0"/>
              </a:rPr>
              <a:t> </a:t>
            </a:r>
          </a:p>
          <a:p>
            <a:endParaRPr lang="pt-PT" dirty="0"/>
          </a:p>
        </p:txBody>
      </p:sp>
      <p:sp>
        <p:nvSpPr>
          <p:cNvPr id="4" name="Marcador de Posição do Número do Diapositivo 3"/>
          <p:cNvSpPr>
            <a:spLocks noGrp="1"/>
          </p:cNvSpPr>
          <p:nvPr>
            <p:ph type="sldNum" sz="quarter" idx="5"/>
          </p:nvPr>
        </p:nvSpPr>
        <p:spPr/>
        <p:txBody>
          <a:bodyPr/>
          <a:lstStyle/>
          <a:p>
            <a:fld id="{021B9CEB-BF53-49FC-B677-A6A019229240}" type="slidenum">
              <a:rPr lang="pt-PT" smtClean="0"/>
              <a:t>16</a:t>
            </a:fld>
            <a:endParaRPr lang="pt-PT"/>
          </a:p>
        </p:txBody>
      </p:sp>
    </p:spTree>
    <p:extLst>
      <p:ext uri="{BB962C8B-B14F-4D97-AF65-F5344CB8AC3E}">
        <p14:creationId xmlns:p14="http://schemas.microsoft.com/office/powerpoint/2010/main" val="34939827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PT" altLang="pt-PT" sz="1800" b="1" i="0" u="none" strike="noStrike" cap="none" normalizeH="0" baseline="0" dirty="0">
                <a:ln>
                  <a:noFill/>
                </a:ln>
                <a:solidFill>
                  <a:schemeClr val="tx1"/>
                </a:solidFill>
                <a:effectLst/>
                <a:latin typeface="Arial" panose="020B0604020202020204" pitchFamily="34" charset="0"/>
              </a:rPr>
              <a:t>BROCHADO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800" b="1" i="0" u="none" strike="noStrike" cap="none" normalizeH="0" baseline="0" dirty="0">
                <a:ln>
                  <a:noFill/>
                </a:ln>
                <a:solidFill>
                  <a:schemeClr val="tx1"/>
                </a:solidFill>
                <a:effectLst/>
                <a:latin typeface="Arial" panose="020B0604020202020204" pitchFamily="34" charset="0"/>
              </a:rPr>
              <a:t>SMOTE-</a:t>
            </a:r>
            <a:r>
              <a:rPr kumimoji="0" lang="pt-PT" altLang="pt-PT" sz="1800" b="1" i="0" u="none" strike="noStrike" cap="none" normalizeH="0" baseline="0" dirty="0" err="1">
                <a:ln>
                  <a:noFill/>
                </a:ln>
                <a:solidFill>
                  <a:schemeClr val="tx1"/>
                </a:solidFill>
                <a:effectLst/>
                <a:latin typeface="Arial" panose="020B0604020202020204" pitchFamily="34" charset="0"/>
              </a:rPr>
              <a:t>Tomek</a:t>
            </a:r>
            <a:r>
              <a:rPr kumimoji="0" lang="pt-PT" altLang="pt-PT"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800" b="0" i="0" u="none" strike="noStrike" cap="none" normalizeH="0" baseline="0" dirty="0">
                <a:ln>
                  <a:noFill/>
                </a:ln>
                <a:solidFill>
                  <a:schemeClr val="tx1"/>
                </a:solidFill>
                <a:effectLst/>
                <a:latin typeface="Arial" panose="020B0604020202020204" pitchFamily="34" charset="0"/>
              </a:rPr>
              <a:t>Combines SMOTE (</a:t>
            </a:r>
            <a:r>
              <a:rPr kumimoji="0" lang="pt-PT" altLang="pt-PT" sz="1800" b="0" i="0" u="none" strike="noStrike" cap="none" normalizeH="0" baseline="0" dirty="0" err="1">
                <a:ln>
                  <a:noFill/>
                </a:ln>
                <a:solidFill>
                  <a:schemeClr val="tx1"/>
                </a:solidFill>
                <a:effectLst/>
                <a:latin typeface="Arial" panose="020B0604020202020204" pitchFamily="34" charset="0"/>
              </a:rPr>
              <a:t>oversampling</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and</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Tomek</a:t>
            </a:r>
            <a:r>
              <a:rPr kumimoji="0" lang="pt-PT" altLang="pt-PT" sz="1800" b="0" i="0" u="none" strike="noStrike" cap="none" normalizeH="0" baseline="0" dirty="0">
                <a:ln>
                  <a:noFill/>
                </a:ln>
                <a:solidFill>
                  <a:schemeClr val="tx1"/>
                </a:solidFill>
                <a:effectLst/>
                <a:latin typeface="Arial" panose="020B0604020202020204" pitchFamily="34" charset="0"/>
              </a:rPr>
              <a:t> Links (</a:t>
            </a:r>
            <a:r>
              <a:rPr kumimoji="0" lang="pt-PT" altLang="pt-PT" sz="1800" b="0" i="0" u="none" strike="noStrike" cap="none" normalizeH="0" baseline="0" dirty="0" err="1">
                <a:ln>
                  <a:noFill/>
                </a:ln>
                <a:solidFill>
                  <a:schemeClr val="tx1"/>
                </a:solidFill>
                <a:effectLst/>
                <a:latin typeface="Arial" panose="020B0604020202020204" pitchFamily="34" charset="0"/>
              </a:rPr>
              <a:t>undersampling</a:t>
            </a:r>
            <a:r>
              <a:rPr kumimoji="0" lang="pt-PT" altLang="pt-PT"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800" b="0" i="0" u="none" strike="noStrike" cap="none" normalizeH="0" baseline="0" dirty="0">
                <a:ln>
                  <a:noFill/>
                </a:ln>
                <a:solidFill>
                  <a:schemeClr val="tx1"/>
                </a:solidFill>
                <a:effectLst/>
                <a:latin typeface="Arial" panose="020B0604020202020204" pitchFamily="34" charset="0"/>
              </a:rPr>
              <a:t>Steps: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pt-PT" altLang="pt-PT" sz="1800" b="0" i="0" u="none" strike="noStrike" cap="none" normalizeH="0" baseline="0" dirty="0" err="1">
                <a:ln>
                  <a:noFill/>
                </a:ln>
                <a:solidFill>
                  <a:schemeClr val="tx1"/>
                </a:solidFill>
                <a:effectLst/>
                <a:latin typeface="Arial" panose="020B0604020202020204" pitchFamily="34" charset="0"/>
              </a:rPr>
              <a:t>Generate</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synthetic</a:t>
            </a:r>
            <a:r>
              <a:rPr kumimoji="0" lang="pt-PT" altLang="pt-PT" sz="1800" b="0" i="0" u="none" strike="noStrike" cap="none" normalizeH="0" baseline="0" dirty="0">
                <a:ln>
                  <a:noFill/>
                </a:ln>
                <a:solidFill>
                  <a:schemeClr val="tx1"/>
                </a:solidFill>
                <a:effectLst/>
                <a:latin typeface="Arial" panose="020B0604020202020204" pitchFamily="34" charset="0"/>
              </a:rPr>
              <a:t> samples.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pt-PT" altLang="pt-PT" sz="1800" b="0" i="0" u="none" strike="noStrike" cap="none" normalizeH="0" baseline="0" dirty="0">
                <a:ln>
                  <a:noFill/>
                </a:ln>
                <a:solidFill>
                  <a:schemeClr val="tx1"/>
                </a:solidFill>
                <a:effectLst/>
                <a:latin typeface="Arial" panose="020B0604020202020204" pitchFamily="34" charset="0"/>
              </a:rPr>
              <a:t>Remove </a:t>
            </a:r>
            <a:r>
              <a:rPr kumimoji="0" lang="pt-PT" altLang="pt-PT" sz="1800" b="0" i="0" u="none" strike="noStrike" cap="none" normalizeH="0" baseline="0" dirty="0" err="1">
                <a:ln>
                  <a:noFill/>
                </a:ln>
                <a:solidFill>
                  <a:schemeClr val="tx1"/>
                </a:solidFill>
                <a:effectLst/>
                <a:latin typeface="Arial" panose="020B0604020202020204" pitchFamily="34" charset="0"/>
              </a:rPr>
              <a:t>overlapping</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majority</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class</a:t>
            </a:r>
            <a:r>
              <a:rPr kumimoji="0" lang="pt-PT" altLang="pt-PT" sz="1800" b="0" i="0" u="none" strike="noStrike" cap="none" normalizeH="0" baseline="0" dirty="0">
                <a:ln>
                  <a:noFill/>
                </a:ln>
                <a:solidFill>
                  <a:schemeClr val="tx1"/>
                </a:solidFill>
                <a:effectLst/>
                <a:latin typeface="Arial" panose="020B0604020202020204" pitchFamily="34" charset="0"/>
              </a:rPr>
              <a:t> samples </a:t>
            </a:r>
            <a:r>
              <a:rPr kumimoji="0" lang="pt-PT" altLang="pt-PT" sz="1800" b="0" i="0" u="none" strike="noStrike" cap="none" normalizeH="0" baseline="0" dirty="0" err="1">
                <a:ln>
                  <a:noFill/>
                </a:ln>
                <a:solidFill>
                  <a:schemeClr val="tx1"/>
                </a:solidFill>
                <a:effectLst/>
                <a:latin typeface="Arial" panose="020B0604020202020204" pitchFamily="34" charset="0"/>
              </a:rPr>
              <a:t>near</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minority</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class</a:t>
            </a:r>
            <a:r>
              <a:rPr kumimoji="0" lang="pt-PT" altLang="pt-PT"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800" b="0" i="0" u="none" strike="noStrike" cap="none" normalizeH="0" baseline="0" dirty="0">
                <a:ln>
                  <a:noFill/>
                </a:ln>
                <a:solidFill>
                  <a:schemeClr val="tx1"/>
                </a:solidFill>
                <a:effectLst/>
                <a:latin typeface="Arial" panose="020B0604020202020204" pitchFamily="34" charset="0"/>
              </a:rPr>
              <a:t>Pros: </a:t>
            </a:r>
            <a:r>
              <a:rPr kumimoji="0" lang="pt-PT" altLang="pt-PT" sz="1800" b="0" i="0" u="none" strike="noStrike" cap="none" normalizeH="0" baseline="0" dirty="0" err="1">
                <a:ln>
                  <a:noFill/>
                </a:ln>
                <a:solidFill>
                  <a:schemeClr val="tx1"/>
                </a:solidFill>
                <a:effectLst/>
                <a:latin typeface="Arial" panose="020B0604020202020204" pitchFamily="34" charset="0"/>
              </a:rPr>
              <a:t>Enhances</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class</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separability</a:t>
            </a:r>
            <a:r>
              <a:rPr kumimoji="0" lang="pt-PT" altLang="pt-PT" sz="1800" b="0" i="0" u="none" strike="noStrike" cap="none" normalizeH="0" baseline="0" dirty="0">
                <a:ln>
                  <a:noFill/>
                </a:ln>
                <a:solidFill>
                  <a:schemeClr val="tx1"/>
                </a:solidFill>
                <a:effectLst/>
                <a:latin typeface="Arial" panose="020B0604020202020204" pitchFamily="34" charset="0"/>
              </a:rPr>
              <a:t>.</a:t>
            </a:r>
          </a:p>
          <a:p>
            <a:endParaRPr lang="pt-PT" dirty="0"/>
          </a:p>
        </p:txBody>
      </p:sp>
      <p:sp>
        <p:nvSpPr>
          <p:cNvPr id="4" name="Marcador de Posição do Número do Diapositivo 3"/>
          <p:cNvSpPr>
            <a:spLocks noGrp="1"/>
          </p:cNvSpPr>
          <p:nvPr>
            <p:ph type="sldNum" sz="quarter" idx="5"/>
          </p:nvPr>
        </p:nvSpPr>
        <p:spPr/>
        <p:txBody>
          <a:bodyPr/>
          <a:lstStyle/>
          <a:p>
            <a:fld id="{021B9CEB-BF53-49FC-B677-A6A019229240}" type="slidenum">
              <a:rPr lang="pt-PT" smtClean="0"/>
              <a:t>17</a:t>
            </a:fld>
            <a:endParaRPr lang="pt-PT"/>
          </a:p>
        </p:txBody>
      </p:sp>
    </p:spTree>
    <p:extLst>
      <p:ext uri="{BB962C8B-B14F-4D97-AF65-F5344CB8AC3E}">
        <p14:creationId xmlns:p14="http://schemas.microsoft.com/office/powerpoint/2010/main" val="12174215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PT" altLang="pt-PT" sz="1200" b="1" i="0" u="none" strike="noStrike" cap="none" normalizeH="0" baseline="0" dirty="0">
                <a:ln>
                  <a:noFill/>
                </a:ln>
                <a:solidFill>
                  <a:schemeClr val="tx1"/>
                </a:solidFill>
                <a:effectLst/>
                <a:latin typeface="Arial" panose="020B0604020202020204" pitchFamily="34" charset="0"/>
              </a:rPr>
              <a:t>BROCHADO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200" b="1" i="0" u="none" strike="noStrike" cap="none" normalizeH="0" baseline="0" dirty="0" err="1">
                <a:ln>
                  <a:noFill/>
                </a:ln>
                <a:solidFill>
                  <a:schemeClr val="tx1"/>
                </a:solidFill>
                <a:effectLst/>
                <a:latin typeface="Arial" panose="020B0604020202020204" pitchFamily="34" charset="0"/>
              </a:rPr>
              <a:t>What</a:t>
            </a:r>
            <a:r>
              <a:rPr kumimoji="0" lang="pt-PT" altLang="pt-PT" sz="1200" b="1" i="0" u="none" strike="noStrike" cap="none" normalizeH="0" baseline="0" dirty="0">
                <a:ln>
                  <a:noFill/>
                </a:ln>
                <a:solidFill>
                  <a:schemeClr val="tx1"/>
                </a:solidFill>
                <a:effectLst/>
                <a:latin typeface="Arial" panose="020B0604020202020204" pitchFamily="34" charset="0"/>
              </a:rPr>
              <a:t> </a:t>
            </a:r>
            <a:r>
              <a:rPr kumimoji="0" lang="pt-PT" altLang="pt-PT" sz="1200" b="1" i="0" u="none" strike="noStrike" cap="none" normalizeH="0" baseline="0" dirty="0" err="1">
                <a:ln>
                  <a:noFill/>
                </a:ln>
                <a:solidFill>
                  <a:schemeClr val="tx1"/>
                </a:solidFill>
                <a:effectLst/>
                <a:latin typeface="Arial" panose="020B0604020202020204" pitchFamily="34" charset="0"/>
              </a:rPr>
              <a:t>It</a:t>
            </a:r>
            <a:r>
              <a:rPr kumimoji="0" lang="pt-PT" altLang="pt-PT" sz="1200" b="1" i="0" u="none" strike="noStrike" cap="none" normalizeH="0" baseline="0" dirty="0">
                <a:ln>
                  <a:noFill/>
                </a:ln>
                <a:solidFill>
                  <a:schemeClr val="tx1"/>
                </a:solidFill>
                <a:effectLst/>
                <a:latin typeface="Arial" panose="020B0604020202020204" pitchFamily="34" charset="0"/>
              </a:rPr>
              <a:t> Is</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Adjusts</a:t>
            </a:r>
            <a:r>
              <a:rPr kumimoji="0" lang="pt-PT" altLang="pt-PT" sz="1200" b="0" i="0" u="none" strike="noStrike" cap="none" normalizeH="0" baseline="0" dirty="0">
                <a:ln>
                  <a:noFill/>
                </a:ln>
                <a:solidFill>
                  <a:schemeClr val="tx1"/>
                </a:solidFill>
                <a:effectLst/>
                <a:latin typeface="Arial" panose="020B0604020202020204" pitchFamily="34" charset="0"/>
              </a:rPr>
              <a:t> training </a:t>
            </a:r>
            <a:r>
              <a:rPr kumimoji="0" lang="pt-PT" altLang="pt-PT" sz="1200" b="0" i="0" u="none" strike="noStrike" cap="none" normalizeH="0" baseline="0" dirty="0" err="1">
                <a:ln>
                  <a:noFill/>
                </a:ln>
                <a:solidFill>
                  <a:schemeClr val="tx1"/>
                </a:solidFill>
                <a:effectLst/>
                <a:latin typeface="Arial" panose="020B0604020202020204" pitchFamily="34" charset="0"/>
              </a:rPr>
              <a:t>weights</a:t>
            </a:r>
            <a:r>
              <a:rPr kumimoji="0" lang="pt-PT" altLang="pt-PT" sz="1200" b="0" i="0" u="none" strike="noStrike" cap="none" normalizeH="0" baseline="0" dirty="0">
                <a:ln>
                  <a:noFill/>
                </a:ln>
                <a:solidFill>
                  <a:schemeClr val="tx1"/>
                </a:solidFill>
                <a:effectLst/>
                <a:latin typeface="Arial" panose="020B0604020202020204" pitchFamily="34" charset="0"/>
              </a:rPr>
              <a:t> for </a:t>
            </a:r>
            <a:r>
              <a:rPr kumimoji="0" lang="pt-PT" altLang="pt-PT" sz="1200" b="0" i="0" u="none" strike="noStrike" cap="none" normalizeH="0" baseline="0" dirty="0" err="1">
                <a:ln>
                  <a:noFill/>
                </a:ln>
                <a:solidFill>
                  <a:schemeClr val="tx1"/>
                </a:solidFill>
                <a:effectLst/>
                <a:latin typeface="Arial" panose="020B0604020202020204" pitchFamily="34" charset="0"/>
              </a:rPr>
              <a:t>minority</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and</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majority</a:t>
            </a:r>
            <a:r>
              <a:rPr kumimoji="0" lang="pt-PT" altLang="pt-PT" sz="1200" b="0" i="0" u="none" strike="noStrike" cap="none" normalizeH="0" baseline="0" dirty="0">
                <a:ln>
                  <a:noFill/>
                </a:ln>
                <a:solidFill>
                  <a:schemeClr val="tx1"/>
                </a:solidFill>
                <a:effectLst/>
                <a:latin typeface="Arial" panose="020B0604020202020204" pitchFamily="34" charset="0"/>
              </a:rPr>
              <a:t> classes.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200" b="1" i="0" u="none" strike="noStrike" cap="none" normalizeH="0" baseline="0" dirty="0" err="1">
                <a:ln>
                  <a:noFill/>
                </a:ln>
                <a:solidFill>
                  <a:schemeClr val="tx1"/>
                </a:solidFill>
                <a:effectLst/>
                <a:latin typeface="Arial" panose="020B0604020202020204" pitchFamily="34" charset="0"/>
              </a:rPr>
              <a:t>How</a:t>
            </a:r>
            <a:r>
              <a:rPr kumimoji="0" lang="pt-PT" altLang="pt-PT" sz="1200" b="1" i="0" u="none" strike="noStrike" cap="none" normalizeH="0" baseline="0" dirty="0">
                <a:ln>
                  <a:noFill/>
                </a:ln>
                <a:solidFill>
                  <a:schemeClr val="tx1"/>
                </a:solidFill>
                <a:effectLst/>
                <a:latin typeface="Arial" panose="020B0604020202020204" pitchFamily="34" charset="0"/>
              </a:rPr>
              <a:t> </a:t>
            </a:r>
            <a:r>
              <a:rPr kumimoji="0" lang="pt-PT" altLang="pt-PT" sz="1200" b="1" i="0" u="none" strike="noStrike" cap="none" normalizeH="0" baseline="0" dirty="0" err="1">
                <a:ln>
                  <a:noFill/>
                </a:ln>
                <a:solidFill>
                  <a:schemeClr val="tx1"/>
                </a:solidFill>
                <a:effectLst/>
                <a:latin typeface="Arial" panose="020B0604020202020204" pitchFamily="34" charset="0"/>
              </a:rPr>
              <a:t>It</a:t>
            </a:r>
            <a:r>
              <a:rPr kumimoji="0" lang="pt-PT" altLang="pt-PT" sz="1200" b="1" i="0" u="none" strike="noStrike" cap="none" normalizeH="0" baseline="0" dirty="0">
                <a:ln>
                  <a:noFill/>
                </a:ln>
                <a:solidFill>
                  <a:schemeClr val="tx1"/>
                </a:solidFill>
                <a:effectLst/>
                <a:latin typeface="Arial" panose="020B0604020202020204" pitchFamily="34" charset="0"/>
              </a:rPr>
              <a:t> Works</a:t>
            </a:r>
            <a:r>
              <a:rPr kumimoji="0" lang="pt-PT" altLang="pt-PT" sz="1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200" b="0" i="0" u="none" strike="noStrike" cap="none" normalizeH="0" baseline="0" dirty="0" err="1">
                <a:ln>
                  <a:noFill/>
                </a:ln>
                <a:solidFill>
                  <a:schemeClr val="tx1"/>
                </a:solidFill>
                <a:effectLst/>
                <a:latin typeface="Arial" panose="020B0604020202020204" pitchFamily="34" charset="0"/>
              </a:rPr>
              <a:t>Higher</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weight</a:t>
            </a:r>
            <a:r>
              <a:rPr kumimoji="0" lang="pt-PT" altLang="pt-PT" sz="1200" b="0" i="0" u="none" strike="noStrike" cap="none" normalizeH="0" baseline="0" dirty="0">
                <a:ln>
                  <a:noFill/>
                </a:ln>
                <a:solidFill>
                  <a:schemeClr val="tx1"/>
                </a:solidFill>
                <a:effectLst/>
                <a:latin typeface="Arial" panose="020B0604020202020204" pitchFamily="34" charset="0"/>
              </a:rPr>
              <a:t> for </a:t>
            </a:r>
            <a:r>
              <a:rPr kumimoji="0" lang="pt-PT" altLang="pt-PT" sz="1200" b="0" i="0" u="none" strike="noStrike" cap="none" normalizeH="0" baseline="0" dirty="0" err="1">
                <a:ln>
                  <a:noFill/>
                </a:ln>
                <a:solidFill>
                  <a:schemeClr val="tx1"/>
                </a:solidFill>
                <a:effectLst/>
                <a:latin typeface="Arial" panose="020B0604020202020204" pitchFamily="34" charset="0"/>
              </a:rPr>
              <a:t>the</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minority</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class</a:t>
            </a:r>
            <a:r>
              <a:rPr kumimoji="0" lang="pt-PT" altLang="pt-PT" sz="1200" b="0" i="0" u="none" strike="noStrike" cap="none" normalizeH="0" baseline="0" dirty="0">
                <a:ln>
                  <a:noFill/>
                </a:ln>
                <a:solidFill>
                  <a:schemeClr val="tx1"/>
                </a:solidFill>
                <a:effectLst/>
                <a:latin typeface="Arial" panose="020B0604020202020204" pitchFamily="34" charset="0"/>
              </a:rPr>
              <a:t> to </a:t>
            </a:r>
            <a:r>
              <a:rPr kumimoji="0" lang="pt-PT" altLang="pt-PT" sz="1200" b="0" i="0" u="none" strike="noStrike" cap="none" normalizeH="0" baseline="0" dirty="0" err="1">
                <a:ln>
                  <a:noFill/>
                </a:ln>
                <a:solidFill>
                  <a:schemeClr val="tx1"/>
                </a:solidFill>
                <a:effectLst/>
                <a:latin typeface="Arial" panose="020B0604020202020204" pitchFamily="34" charset="0"/>
              </a:rPr>
              <a:t>reduce</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misclassification</a:t>
            </a:r>
            <a:r>
              <a:rPr kumimoji="0" lang="pt-PT" altLang="pt-PT" sz="1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200" b="0" i="0" u="none" strike="noStrike" cap="none" normalizeH="0" baseline="0" dirty="0" err="1">
                <a:ln>
                  <a:noFill/>
                </a:ln>
                <a:solidFill>
                  <a:schemeClr val="tx1"/>
                </a:solidFill>
                <a:effectLst/>
                <a:latin typeface="Arial" panose="020B0604020202020204" pitchFamily="34" charset="0"/>
              </a:rPr>
              <a:t>Lower</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weight</a:t>
            </a:r>
            <a:r>
              <a:rPr kumimoji="0" lang="pt-PT" altLang="pt-PT" sz="1200" b="0" i="0" u="none" strike="noStrike" cap="none" normalizeH="0" baseline="0" dirty="0">
                <a:ln>
                  <a:noFill/>
                </a:ln>
                <a:solidFill>
                  <a:schemeClr val="tx1"/>
                </a:solidFill>
                <a:effectLst/>
                <a:latin typeface="Arial" panose="020B0604020202020204" pitchFamily="34" charset="0"/>
              </a:rPr>
              <a:t> for </a:t>
            </a:r>
            <a:r>
              <a:rPr kumimoji="0" lang="pt-PT" altLang="pt-PT" sz="1200" b="0" i="0" u="none" strike="noStrike" cap="none" normalizeH="0" baseline="0" dirty="0" err="1">
                <a:ln>
                  <a:noFill/>
                </a:ln>
                <a:solidFill>
                  <a:schemeClr val="tx1"/>
                </a:solidFill>
                <a:effectLst/>
                <a:latin typeface="Arial" panose="020B0604020202020204" pitchFamily="34" charset="0"/>
              </a:rPr>
              <a:t>majority</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class</a:t>
            </a:r>
            <a:r>
              <a:rPr kumimoji="0" lang="pt-PT" altLang="pt-PT" sz="1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200" b="1" i="0" u="none" strike="noStrike" cap="none" normalizeH="0" baseline="0" dirty="0">
                <a:ln>
                  <a:noFill/>
                </a:ln>
                <a:solidFill>
                  <a:schemeClr val="tx1"/>
                </a:solidFill>
                <a:effectLst/>
                <a:latin typeface="Arial" panose="020B0604020202020204" pitchFamily="34" charset="0"/>
              </a:rPr>
              <a:t>Pros</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Integrated</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into</a:t>
            </a:r>
            <a:r>
              <a:rPr kumimoji="0" lang="pt-PT" altLang="pt-PT" sz="1200" b="0" i="0" u="none" strike="noStrike" cap="none" normalizeH="0" baseline="0" dirty="0">
                <a:ln>
                  <a:noFill/>
                </a:ln>
                <a:solidFill>
                  <a:schemeClr val="tx1"/>
                </a:solidFill>
                <a:effectLst/>
                <a:latin typeface="Arial" panose="020B0604020202020204" pitchFamily="34" charset="0"/>
              </a:rPr>
              <a:t> training; no data </a:t>
            </a:r>
            <a:r>
              <a:rPr kumimoji="0" lang="pt-PT" altLang="pt-PT" sz="1200" b="0" i="0" u="none" strike="noStrike" cap="none" normalizeH="0" baseline="0" dirty="0" err="1">
                <a:ln>
                  <a:noFill/>
                </a:ln>
                <a:solidFill>
                  <a:schemeClr val="tx1"/>
                </a:solidFill>
                <a:effectLst/>
                <a:latin typeface="Arial" panose="020B0604020202020204" pitchFamily="34" charset="0"/>
              </a:rPr>
              <a:t>duplication</a:t>
            </a:r>
            <a:r>
              <a:rPr kumimoji="0" lang="pt-PT" altLang="pt-PT" sz="1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200" b="1" i="0" u="none" strike="noStrike" cap="none" normalizeH="0" baseline="0" dirty="0" err="1">
                <a:ln>
                  <a:noFill/>
                </a:ln>
                <a:solidFill>
                  <a:schemeClr val="tx1"/>
                </a:solidFill>
                <a:effectLst/>
                <a:latin typeface="Arial" panose="020B0604020202020204" pitchFamily="34" charset="0"/>
              </a:rPr>
              <a:t>Cons</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Requires</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algorithm</a:t>
            </a:r>
            <a:r>
              <a:rPr kumimoji="0" lang="pt-PT" altLang="pt-PT" sz="1200" b="0" i="0" u="none" strike="noStrike" cap="none" normalizeH="0" baseline="0" dirty="0">
                <a:ln>
                  <a:noFill/>
                </a:ln>
                <a:solidFill>
                  <a:schemeClr val="tx1"/>
                </a:solidFill>
                <a:effectLst/>
                <a:latin typeface="Arial" panose="020B0604020202020204" pitchFamily="34" charset="0"/>
              </a:rPr>
              <a:t> </a:t>
            </a:r>
            <a:r>
              <a:rPr kumimoji="0" lang="pt-PT" altLang="pt-PT" sz="1200" b="0" i="0" u="none" strike="noStrike" cap="none" normalizeH="0" baseline="0" dirty="0" err="1">
                <a:ln>
                  <a:noFill/>
                </a:ln>
                <a:solidFill>
                  <a:schemeClr val="tx1"/>
                </a:solidFill>
                <a:effectLst/>
                <a:latin typeface="Arial" panose="020B0604020202020204" pitchFamily="34" charset="0"/>
              </a:rPr>
              <a:t>support</a:t>
            </a:r>
            <a:r>
              <a:rPr kumimoji="0" lang="pt-PT" altLang="pt-PT" sz="1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lang="pt-PT" altLang="pt-PT" dirty="0">
              <a:solidFill>
                <a:schemeClr val="tx1"/>
              </a:solidFill>
              <a:latin typeface="Arial" panose="020B0604020202020204" pitchFamily="34" charset="0"/>
            </a:endParaRPr>
          </a:p>
          <a:p>
            <a:endParaRPr lang="pt-PT" dirty="0"/>
          </a:p>
        </p:txBody>
      </p:sp>
      <p:sp>
        <p:nvSpPr>
          <p:cNvPr id="4" name="Marcador de Posição do Número do Diapositivo 3"/>
          <p:cNvSpPr>
            <a:spLocks noGrp="1"/>
          </p:cNvSpPr>
          <p:nvPr>
            <p:ph type="sldNum" sz="quarter" idx="5"/>
          </p:nvPr>
        </p:nvSpPr>
        <p:spPr/>
        <p:txBody>
          <a:bodyPr/>
          <a:lstStyle/>
          <a:p>
            <a:fld id="{021B9CEB-BF53-49FC-B677-A6A019229240}" type="slidenum">
              <a:rPr lang="pt-PT" smtClean="0"/>
              <a:t>18</a:t>
            </a:fld>
            <a:endParaRPr lang="pt-PT"/>
          </a:p>
        </p:txBody>
      </p:sp>
    </p:spTree>
    <p:extLst>
      <p:ext uri="{BB962C8B-B14F-4D97-AF65-F5344CB8AC3E}">
        <p14:creationId xmlns:p14="http://schemas.microsoft.com/office/powerpoint/2010/main" val="41973165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BE938-EAFF-D660-0B32-C174229746BB}"/>
            </a:ext>
          </a:extLst>
        </p:cNvPr>
        <p:cNvGrpSpPr/>
        <p:nvPr/>
      </p:nvGrpSpPr>
      <p:grpSpPr>
        <a:xfrm>
          <a:off x="0" y="0"/>
          <a:ext cx="0" cy="0"/>
          <a:chOff x="0" y="0"/>
          <a:chExt cx="0" cy="0"/>
        </a:xfrm>
      </p:grpSpPr>
      <p:sp>
        <p:nvSpPr>
          <p:cNvPr id="2" name="Marcador de Posição da Imagem do Diapositivo 1">
            <a:extLst>
              <a:ext uri="{FF2B5EF4-FFF2-40B4-BE49-F238E27FC236}">
                <a16:creationId xmlns:a16="http://schemas.microsoft.com/office/drawing/2014/main" id="{DEE9C945-F170-40CD-2E04-0CF97F87AAAC}"/>
              </a:ext>
            </a:extLst>
          </p:cNvPr>
          <p:cNvSpPr>
            <a:spLocks noGrp="1" noRot="1" noChangeAspect="1"/>
          </p:cNvSpPr>
          <p:nvPr>
            <p:ph type="sldImg"/>
          </p:nvPr>
        </p:nvSpPr>
        <p:spPr/>
      </p:sp>
      <p:sp>
        <p:nvSpPr>
          <p:cNvPr id="3" name="Marcador de Posição de Notas 2">
            <a:extLst>
              <a:ext uri="{FF2B5EF4-FFF2-40B4-BE49-F238E27FC236}">
                <a16:creationId xmlns:a16="http://schemas.microsoft.com/office/drawing/2014/main" id="{2DCBED6C-8BEB-FF3D-2C93-7A53E31AAEF2}"/>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lang="pt-PT" altLang="pt-PT" b="1" dirty="0">
                <a:solidFill>
                  <a:schemeClr val="tx1"/>
                </a:solidFill>
                <a:latin typeface="Arial" panose="020B0604020202020204" pitchFamily="34" charset="0"/>
              </a:rPr>
              <a:t>DIOGO</a:t>
            </a:r>
          </a:p>
        </p:txBody>
      </p:sp>
      <p:sp>
        <p:nvSpPr>
          <p:cNvPr id="4" name="Marcador de Posição do Número do Diapositivo 3">
            <a:extLst>
              <a:ext uri="{FF2B5EF4-FFF2-40B4-BE49-F238E27FC236}">
                <a16:creationId xmlns:a16="http://schemas.microsoft.com/office/drawing/2014/main" id="{32FBA869-C74A-5E66-E07F-1E3EB03DEF8D}"/>
              </a:ext>
            </a:extLst>
          </p:cNvPr>
          <p:cNvSpPr>
            <a:spLocks noGrp="1"/>
          </p:cNvSpPr>
          <p:nvPr>
            <p:ph type="sldNum" sz="quarter" idx="5"/>
          </p:nvPr>
        </p:nvSpPr>
        <p:spPr/>
        <p:txBody>
          <a:bodyPr/>
          <a:lstStyle/>
          <a:p>
            <a:fld id="{021B9CEB-BF53-49FC-B677-A6A019229240}" type="slidenum">
              <a:rPr lang="pt-PT" smtClean="0"/>
              <a:t>19</a:t>
            </a:fld>
            <a:endParaRPr lang="pt-PT"/>
          </a:p>
        </p:txBody>
      </p:sp>
    </p:spTree>
    <p:extLst>
      <p:ext uri="{BB962C8B-B14F-4D97-AF65-F5344CB8AC3E}">
        <p14:creationId xmlns:p14="http://schemas.microsoft.com/office/powerpoint/2010/main" val="20492484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808D4-46BB-17E9-F8F8-9FC48251B02F}"/>
            </a:ext>
          </a:extLst>
        </p:cNvPr>
        <p:cNvGrpSpPr/>
        <p:nvPr/>
      </p:nvGrpSpPr>
      <p:grpSpPr>
        <a:xfrm>
          <a:off x="0" y="0"/>
          <a:ext cx="0" cy="0"/>
          <a:chOff x="0" y="0"/>
          <a:chExt cx="0" cy="0"/>
        </a:xfrm>
      </p:grpSpPr>
      <p:sp>
        <p:nvSpPr>
          <p:cNvPr id="2" name="Marcador de Posição da Imagem do Diapositivo 1">
            <a:extLst>
              <a:ext uri="{FF2B5EF4-FFF2-40B4-BE49-F238E27FC236}">
                <a16:creationId xmlns:a16="http://schemas.microsoft.com/office/drawing/2014/main" id="{E9CAC1C7-5A5B-FAC7-C09F-29B6315EDEB9}"/>
              </a:ext>
            </a:extLst>
          </p:cNvPr>
          <p:cNvSpPr>
            <a:spLocks noGrp="1" noRot="1" noChangeAspect="1"/>
          </p:cNvSpPr>
          <p:nvPr>
            <p:ph type="sldImg"/>
          </p:nvPr>
        </p:nvSpPr>
        <p:spPr/>
      </p:sp>
      <p:sp>
        <p:nvSpPr>
          <p:cNvPr id="3" name="Marcador de Posição de Notas 2">
            <a:extLst>
              <a:ext uri="{FF2B5EF4-FFF2-40B4-BE49-F238E27FC236}">
                <a16:creationId xmlns:a16="http://schemas.microsoft.com/office/drawing/2014/main" id="{1E7F13A8-5F50-50E2-E0EF-6C2D9DC05F84}"/>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lang="pt-PT" altLang="pt-PT" b="1" dirty="0">
                <a:solidFill>
                  <a:schemeClr val="tx1"/>
                </a:solidFill>
                <a:latin typeface="Arial" panose="020B0604020202020204" pitchFamily="34" charset="0"/>
              </a:rPr>
              <a:t>DIOGO</a:t>
            </a:r>
          </a:p>
          <a:p>
            <a:r>
              <a:rPr lang="en-US" b="1" dirty="0"/>
              <a:t>Baseline Performance:</a:t>
            </a:r>
          </a:p>
          <a:p>
            <a:pPr>
              <a:buFont typeface="Arial" panose="020B0604020202020204" pitchFamily="34" charset="0"/>
              <a:buChar char="•"/>
            </a:pPr>
            <a:r>
              <a:rPr lang="en-US" b="1" dirty="0"/>
              <a:t>Standard Random Forest</a:t>
            </a:r>
            <a:r>
              <a:rPr lang="en-US" dirty="0"/>
              <a:t> achieved high accuracy but struggled with minority class representation.</a:t>
            </a:r>
          </a:p>
          <a:p>
            <a:r>
              <a:rPr lang="en-US" b="1" dirty="0"/>
              <a:t>Impact of Balancing Techniques:</a:t>
            </a:r>
          </a:p>
          <a:p>
            <a:pPr>
              <a:buFont typeface="Arial" panose="020B0604020202020204" pitchFamily="34" charset="0"/>
              <a:buChar char="•"/>
            </a:pPr>
            <a:r>
              <a:rPr lang="en-US" b="1" dirty="0"/>
              <a:t>Precision</a:t>
            </a:r>
            <a:r>
              <a:rPr lang="en-US" dirty="0"/>
              <a:t>:</a:t>
            </a:r>
          </a:p>
          <a:p>
            <a:pPr marL="742950" lvl="1" indent="-285750">
              <a:buFont typeface="Arial" panose="020B0604020202020204" pitchFamily="34" charset="0"/>
              <a:buChar char="•"/>
            </a:pPr>
            <a:r>
              <a:rPr lang="en-US" dirty="0"/>
              <a:t>Improved with B-SMOTE and Random Oversampling.</a:t>
            </a:r>
          </a:p>
          <a:p>
            <a:pPr marL="742950" lvl="1" indent="-285750">
              <a:buFont typeface="Arial" panose="020B0604020202020204" pitchFamily="34" charset="0"/>
              <a:buChar char="•"/>
            </a:pPr>
            <a:r>
              <a:rPr lang="en-US" dirty="0"/>
              <a:t>Slight decline with SMOTE and SMOTEENN (potential noise introduction).</a:t>
            </a:r>
          </a:p>
          <a:p>
            <a:pPr>
              <a:buFont typeface="Arial" panose="020B0604020202020204" pitchFamily="34" charset="0"/>
              <a:buChar char="•"/>
            </a:pPr>
            <a:r>
              <a:rPr lang="en-US" b="1" dirty="0"/>
              <a:t>Recall</a:t>
            </a:r>
            <a:r>
              <a:rPr lang="en-US" dirty="0"/>
              <a:t>:</a:t>
            </a:r>
          </a:p>
          <a:p>
            <a:pPr marL="742950" lvl="1" indent="-285750">
              <a:buFont typeface="Arial" panose="020B0604020202020204" pitchFamily="34" charset="0"/>
              <a:buChar char="•"/>
            </a:pPr>
            <a:r>
              <a:rPr lang="en-US" dirty="0"/>
              <a:t>Significant gains using SMOTE, B-SMOTE, and ADASYN.</a:t>
            </a:r>
          </a:p>
          <a:p>
            <a:pPr>
              <a:buFont typeface="Arial" panose="020B0604020202020204" pitchFamily="34" charset="0"/>
              <a:buChar char="•"/>
            </a:pPr>
            <a:r>
              <a:rPr lang="en-US" b="1" dirty="0"/>
              <a:t>F1 Score</a:t>
            </a:r>
            <a:r>
              <a:rPr lang="en-US" dirty="0"/>
              <a:t>:</a:t>
            </a:r>
          </a:p>
          <a:p>
            <a:pPr marL="742950" lvl="1" indent="-285750">
              <a:buFont typeface="Arial" panose="020B0604020202020204" pitchFamily="34" charset="0"/>
              <a:buChar char="•"/>
            </a:pPr>
            <a:r>
              <a:rPr lang="en-US" dirty="0"/>
              <a:t>B-SMOTE and Random Oversampling balanced precision and recall effectively.</a:t>
            </a:r>
          </a:p>
          <a:p>
            <a:pPr marL="742950" lvl="1" indent="-285750">
              <a:buFont typeface="Arial" panose="020B0604020202020204" pitchFamily="34" charset="0"/>
              <a:buChar char="•"/>
            </a:pPr>
            <a:r>
              <a:rPr lang="en-US" dirty="0"/>
              <a:t>SMOTEENN underperformed due to trade-offs.</a:t>
            </a:r>
          </a:p>
          <a:p>
            <a:pPr>
              <a:buFont typeface="Arial" panose="020B0604020202020204" pitchFamily="34" charset="0"/>
              <a:buChar char="•"/>
            </a:pPr>
            <a:r>
              <a:rPr lang="en-US" b="1" dirty="0"/>
              <a:t>Accuracy</a:t>
            </a:r>
            <a:r>
              <a:rPr lang="en-US" dirty="0"/>
              <a:t>:</a:t>
            </a:r>
          </a:p>
          <a:p>
            <a:pPr marL="742950" lvl="1" indent="-285750">
              <a:buFont typeface="Arial" panose="020B0604020202020204" pitchFamily="34" charset="0"/>
              <a:buChar char="•"/>
            </a:pPr>
            <a:r>
              <a:rPr lang="en-US" dirty="0"/>
              <a:t>Consistently high across all methods, reflecting majority class dominance.</a:t>
            </a:r>
          </a:p>
          <a:p>
            <a:pPr>
              <a:buFont typeface="Arial" panose="020B0604020202020204" pitchFamily="34" charset="0"/>
              <a:buChar char="•"/>
            </a:pPr>
            <a:r>
              <a:rPr lang="en-US" b="1" dirty="0"/>
              <a:t>AUPRCC</a:t>
            </a:r>
            <a:r>
              <a:rPr lang="en-US" dirty="0"/>
              <a:t>:</a:t>
            </a:r>
          </a:p>
          <a:p>
            <a:pPr marL="742950" lvl="1" indent="-285750">
              <a:buFont typeface="Arial" panose="020B0604020202020204" pitchFamily="34" charset="0"/>
              <a:buChar char="•"/>
            </a:pPr>
            <a:r>
              <a:rPr lang="en-US" dirty="0"/>
              <a:t>Best with Standard Random Forest.</a:t>
            </a:r>
          </a:p>
          <a:p>
            <a:pPr marL="742950" lvl="1" indent="-285750">
              <a:buFont typeface="Arial" panose="020B0604020202020204" pitchFamily="34" charset="0"/>
              <a:buChar char="•"/>
            </a:pPr>
            <a:r>
              <a:rPr lang="en-US" dirty="0"/>
              <a:t>B-SMOTE, ADASYN, and SMOTE-Tomek closely followed.</a:t>
            </a:r>
          </a:p>
          <a:p>
            <a:endParaRPr lang="pt-PT" dirty="0"/>
          </a:p>
          <a:p>
            <a:endParaRPr lang="pt-PT" dirty="0"/>
          </a:p>
          <a:p>
            <a:r>
              <a:rPr lang="pt-PT" b="1" dirty="0"/>
              <a:t>Performance </a:t>
            </a:r>
            <a:r>
              <a:rPr lang="pt-PT" b="1" dirty="0" err="1"/>
              <a:t>Comparison</a:t>
            </a:r>
            <a:r>
              <a:rPr lang="pt-PT" b="1" dirty="0"/>
              <a:t>:</a:t>
            </a:r>
          </a:p>
          <a:p>
            <a:pPr>
              <a:buFont typeface="Arial" panose="020B0604020202020204" pitchFamily="34" charset="0"/>
              <a:buChar char="•"/>
            </a:pPr>
            <a:r>
              <a:rPr lang="pt-PT" dirty="0"/>
              <a:t>Radar </a:t>
            </a:r>
            <a:r>
              <a:rPr lang="pt-PT" dirty="0" err="1"/>
              <a:t>plot</a:t>
            </a:r>
            <a:r>
              <a:rPr lang="pt-PT" dirty="0"/>
              <a:t> </a:t>
            </a:r>
            <a:r>
              <a:rPr lang="pt-PT" dirty="0" err="1"/>
              <a:t>of</a:t>
            </a:r>
            <a:r>
              <a:rPr lang="pt-PT" dirty="0"/>
              <a:t> </a:t>
            </a:r>
            <a:r>
              <a:rPr lang="pt-PT" dirty="0" err="1"/>
              <a:t>metrics</a:t>
            </a:r>
            <a:r>
              <a:rPr lang="pt-PT" dirty="0"/>
              <a:t> (</a:t>
            </a:r>
            <a:r>
              <a:rPr lang="pt-PT" dirty="0" err="1"/>
              <a:t>Precision</a:t>
            </a:r>
            <a:r>
              <a:rPr lang="pt-PT" dirty="0"/>
              <a:t>, </a:t>
            </a:r>
            <a:r>
              <a:rPr lang="pt-PT" dirty="0" err="1"/>
              <a:t>Recall</a:t>
            </a:r>
            <a:r>
              <a:rPr lang="pt-PT" dirty="0"/>
              <a:t>, F1 Score, </a:t>
            </a:r>
            <a:r>
              <a:rPr lang="pt-PT" dirty="0" err="1"/>
              <a:t>Accuracy</a:t>
            </a:r>
            <a:r>
              <a:rPr lang="pt-PT" dirty="0"/>
              <a:t>, AUPRCC).</a:t>
            </a:r>
          </a:p>
          <a:p>
            <a:pPr>
              <a:buFont typeface="Arial" panose="020B0604020202020204" pitchFamily="34" charset="0"/>
              <a:buChar char="•"/>
            </a:pPr>
            <a:r>
              <a:rPr lang="pt-PT" dirty="0"/>
              <a:t>Bar </a:t>
            </a:r>
            <a:r>
              <a:rPr lang="pt-PT" dirty="0" err="1"/>
              <a:t>graph</a:t>
            </a:r>
            <a:r>
              <a:rPr lang="pt-PT" dirty="0"/>
              <a:t> </a:t>
            </a:r>
            <a:r>
              <a:rPr lang="pt-PT" dirty="0" err="1"/>
              <a:t>illustrating</a:t>
            </a:r>
            <a:r>
              <a:rPr lang="pt-PT" dirty="0"/>
              <a:t> </a:t>
            </a:r>
            <a:r>
              <a:rPr lang="pt-PT" dirty="0" err="1"/>
              <a:t>metric</a:t>
            </a:r>
            <a:r>
              <a:rPr lang="pt-PT" dirty="0"/>
              <a:t> </a:t>
            </a:r>
            <a:r>
              <a:rPr lang="pt-PT" dirty="0" err="1"/>
              <a:t>variations</a:t>
            </a:r>
            <a:r>
              <a:rPr lang="pt-PT" dirty="0"/>
              <a:t> </a:t>
            </a:r>
            <a:r>
              <a:rPr lang="pt-PT" dirty="0" err="1"/>
              <a:t>across</a:t>
            </a:r>
            <a:r>
              <a:rPr lang="pt-PT" dirty="0"/>
              <a:t> </a:t>
            </a:r>
            <a:r>
              <a:rPr lang="pt-PT" dirty="0" err="1"/>
              <a:t>techniques</a:t>
            </a:r>
            <a:r>
              <a:rPr lang="pt-PT" dirty="0"/>
              <a:t>.</a:t>
            </a:r>
          </a:p>
          <a:p>
            <a:r>
              <a:rPr lang="pt-PT" b="1" dirty="0" err="1"/>
              <a:t>Key</a:t>
            </a:r>
            <a:r>
              <a:rPr lang="pt-PT" b="1" dirty="0"/>
              <a:t> Takeaway:</a:t>
            </a:r>
          </a:p>
          <a:p>
            <a:r>
              <a:rPr lang="pt-PT" dirty="0" err="1"/>
              <a:t>Balancing</a:t>
            </a:r>
            <a:r>
              <a:rPr lang="pt-PT" dirty="0"/>
              <a:t> </a:t>
            </a:r>
            <a:r>
              <a:rPr lang="pt-PT" dirty="0" err="1"/>
              <a:t>methods</a:t>
            </a:r>
            <a:r>
              <a:rPr lang="pt-PT" dirty="0"/>
              <a:t> </a:t>
            </a:r>
            <a:r>
              <a:rPr lang="pt-PT" dirty="0" err="1"/>
              <a:t>significantly</a:t>
            </a:r>
            <a:r>
              <a:rPr lang="pt-PT" dirty="0"/>
              <a:t> </a:t>
            </a:r>
            <a:r>
              <a:rPr lang="pt-PT" dirty="0" err="1"/>
              <a:t>enhanced</a:t>
            </a:r>
            <a:r>
              <a:rPr lang="pt-PT" dirty="0"/>
              <a:t> </a:t>
            </a:r>
            <a:r>
              <a:rPr lang="pt-PT" b="1" dirty="0" err="1"/>
              <a:t>Recall</a:t>
            </a:r>
            <a:r>
              <a:rPr lang="pt-PT" dirty="0"/>
              <a:t> </a:t>
            </a:r>
            <a:r>
              <a:rPr lang="pt-PT" dirty="0" err="1"/>
              <a:t>and</a:t>
            </a:r>
            <a:r>
              <a:rPr lang="pt-PT" dirty="0"/>
              <a:t> </a:t>
            </a:r>
            <a:r>
              <a:rPr lang="pt-PT" b="1" dirty="0"/>
              <a:t>F1 Score</a:t>
            </a:r>
            <a:r>
              <a:rPr lang="pt-PT" dirty="0"/>
              <a:t> for </a:t>
            </a:r>
            <a:r>
              <a:rPr lang="pt-PT" dirty="0" err="1"/>
              <a:t>Random</a:t>
            </a:r>
            <a:r>
              <a:rPr lang="pt-PT" dirty="0"/>
              <a:t> </a:t>
            </a:r>
            <a:r>
              <a:rPr lang="pt-PT" dirty="0" err="1"/>
              <a:t>Forest</a:t>
            </a:r>
            <a:r>
              <a:rPr lang="pt-PT" dirty="0"/>
              <a:t>, </a:t>
            </a:r>
            <a:r>
              <a:rPr lang="pt-PT" dirty="0" err="1"/>
              <a:t>but</a:t>
            </a:r>
            <a:r>
              <a:rPr lang="pt-PT" dirty="0"/>
              <a:t> </a:t>
            </a:r>
            <a:r>
              <a:rPr lang="pt-PT" dirty="0" err="1"/>
              <a:t>introduced</a:t>
            </a:r>
            <a:r>
              <a:rPr lang="pt-PT" dirty="0"/>
              <a:t> </a:t>
            </a:r>
            <a:r>
              <a:rPr lang="pt-PT" dirty="0" err="1"/>
              <a:t>trade-offs</a:t>
            </a:r>
            <a:r>
              <a:rPr lang="pt-PT" dirty="0"/>
              <a:t> in </a:t>
            </a:r>
            <a:r>
              <a:rPr lang="pt-PT" b="1" dirty="0" err="1"/>
              <a:t>Precision</a:t>
            </a:r>
            <a:r>
              <a:rPr lang="pt-PT" dirty="0"/>
              <a:t> </a:t>
            </a:r>
            <a:r>
              <a:rPr lang="pt-PT" dirty="0" err="1"/>
              <a:t>and</a:t>
            </a:r>
            <a:r>
              <a:rPr lang="pt-PT" dirty="0"/>
              <a:t> </a:t>
            </a:r>
            <a:r>
              <a:rPr lang="pt-PT" b="1" dirty="0"/>
              <a:t>AUPRCC</a:t>
            </a:r>
            <a:r>
              <a:rPr lang="pt-PT" dirty="0"/>
              <a:t>.</a:t>
            </a:r>
          </a:p>
          <a:p>
            <a:endParaRPr lang="pt-PT" dirty="0"/>
          </a:p>
          <a:p>
            <a:endParaRPr lang="pt-PT" dirty="0"/>
          </a:p>
          <a:p>
            <a:endParaRPr lang="pt-PT" dirty="0"/>
          </a:p>
          <a:p>
            <a:endParaRPr lang="pt-PT" dirty="0"/>
          </a:p>
        </p:txBody>
      </p:sp>
      <p:sp>
        <p:nvSpPr>
          <p:cNvPr id="4" name="Marcador de Posição do Número do Diapositivo 3">
            <a:extLst>
              <a:ext uri="{FF2B5EF4-FFF2-40B4-BE49-F238E27FC236}">
                <a16:creationId xmlns:a16="http://schemas.microsoft.com/office/drawing/2014/main" id="{C431EB8C-A636-5E75-15A6-BA93D16F6323}"/>
              </a:ext>
            </a:extLst>
          </p:cNvPr>
          <p:cNvSpPr>
            <a:spLocks noGrp="1"/>
          </p:cNvSpPr>
          <p:nvPr>
            <p:ph type="sldNum" sz="quarter" idx="5"/>
          </p:nvPr>
        </p:nvSpPr>
        <p:spPr/>
        <p:txBody>
          <a:bodyPr/>
          <a:lstStyle/>
          <a:p>
            <a:fld id="{021B9CEB-BF53-49FC-B677-A6A019229240}" type="slidenum">
              <a:rPr lang="pt-PT" smtClean="0"/>
              <a:t>20</a:t>
            </a:fld>
            <a:endParaRPr lang="pt-PT"/>
          </a:p>
        </p:txBody>
      </p:sp>
    </p:spTree>
    <p:extLst>
      <p:ext uri="{BB962C8B-B14F-4D97-AF65-F5344CB8AC3E}">
        <p14:creationId xmlns:p14="http://schemas.microsoft.com/office/powerpoint/2010/main" val="35049211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DA465-55F5-9F5F-9519-DFBCE7392C15}"/>
            </a:ext>
          </a:extLst>
        </p:cNvPr>
        <p:cNvGrpSpPr/>
        <p:nvPr/>
      </p:nvGrpSpPr>
      <p:grpSpPr>
        <a:xfrm>
          <a:off x="0" y="0"/>
          <a:ext cx="0" cy="0"/>
          <a:chOff x="0" y="0"/>
          <a:chExt cx="0" cy="0"/>
        </a:xfrm>
      </p:grpSpPr>
      <p:sp>
        <p:nvSpPr>
          <p:cNvPr id="2" name="Marcador de Posição da Imagem do Diapositivo 1">
            <a:extLst>
              <a:ext uri="{FF2B5EF4-FFF2-40B4-BE49-F238E27FC236}">
                <a16:creationId xmlns:a16="http://schemas.microsoft.com/office/drawing/2014/main" id="{78D3CCD3-0C3A-EBAC-781D-8BDDC3003F5F}"/>
              </a:ext>
            </a:extLst>
          </p:cNvPr>
          <p:cNvSpPr>
            <a:spLocks noGrp="1" noRot="1" noChangeAspect="1"/>
          </p:cNvSpPr>
          <p:nvPr>
            <p:ph type="sldImg"/>
          </p:nvPr>
        </p:nvSpPr>
        <p:spPr/>
      </p:sp>
      <p:sp>
        <p:nvSpPr>
          <p:cNvPr id="3" name="Marcador de Posição de Notas 2">
            <a:extLst>
              <a:ext uri="{FF2B5EF4-FFF2-40B4-BE49-F238E27FC236}">
                <a16:creationId xmlns:a16="http://schemas.microsoft.com/office/drawing/2014/main" id="{EFECD694-CE69-EE8C-FFE8-5EFDABE061D1}"/>
              </a:ext>
            </a:extLst>
          </p:cNvPr>
          <p:cNvSpPr>
            <a:spLocks noGrp="1"/>
          </p:cNvSpPr>
          <p:nvPr>
            <p:ph type="body" idx="1"/>
          </p:nvPr>
        </p:nvSpPr>
        <p:spPr/>
        <p:txBody>
          <a:bodyPr/>
          <a:lstStyle/>
          <a:p>
            <a:r>
              <a:rPr lang="en-US" b="1" dirty="0"/>
              <a:t>DIOGO</a:t>
            </a:r>
          </a:p>
          <a:p>
            <a:r>
              <a:rPr lang="en-US" b="1" dirty="0"/>
              <a:t>Baseline Performance:</a:t>
            </a:r>
          </a:p>
          <a:p>
            <a:pPr>
              <a:buFont typeface="Arial" panose="020B0604020202020204" pitchFamily="34" charset="0"/>
              <a:buChar char="•"/>
            </a:pPr>
            <a:r>
              <a:rPr lang="en-US" b="1" dirty="0"/>
              <a:t>Standard </a:t>
            </a:r>
            <a:r>
              <a:rPr lang="en-US" b="1" dirty="0" err="1"/>
              <a:t>XGBoost</a:t>
            </a:r>
            <a:r>
              <a:rPr lang="en-US" dirty="0"/>
              <a:t> showed robust precision and accuracy but required balancing to improve minority class handling.</a:t>
            </a:r>
          </a:p>
          <a:p>
            <a:r>
              <a:rPr lang="en-US" b="1" dirty="0"/>
              <a:t>Impact of Balancing Techniques:</a:t>
            </a:r>
          </a:p>
          <a:p>
            <a:pPr>
              <a:buFont typeface="Arial" panose="020B0604020202020204" pitchFamily="34" charset="0"/>
              <a:buChar char="•"/>
            </a:pPr>
            <a:r>
              <a:rPr lang="en-US" b="1" dirty="0"/>
              <a:t>Precision</a:t>
            </a:r>
            <a:r>
              <a:rPr lang="en-US" dirty="0"/>
              <a:t>:</a:t>
            </a:r>
          </a:p>
          <a:p>
            <a:pPr marL="742950" lvl="1" indent="-285750">
              <a:buFont typeface="Arial" panose="020B0604020202020204" pitchFamily="34" charset="0"/>
              <a:buChar char="•"/>
            </a:pPr>
            <a:r>
              <a:rPr lang="en-US" dirty="0"/>
              <a:t>Marginal improvements with Random Oversampling and B-SMOTE.</a:t>
            </a:r>
          </a:p>
          <a:p>
            <a:pPr>
              <a:buFont typeface="Arial" panose="020B0604020202020204" pitchFamily="34" charset="0"/>
              <a:buChar char="•"/>
            </a:pPr>
            <a:r>
              <a:rPr lang="en-US" b="1" dirty="0"/>
              <a:t>Recall</a:t>
            </a:r>
            <a:r>
              <a:rPr lang="en-US" dirty="0"/>
              <a:t>:</a:t>
            </a:r>
          </a:p>
          <a:p>
            <a:pPr marL="742950" lvl="1" indent="-285750">
              <a:buFont typeface="Arial" panose="020B0604020202020204" pitchFamily="34" charset="0"/>
              <a:buChar char="•"/>
            </a:pPr>
            <a:r>
              <a:rPr lang="en-US" dirty="0"/>
              <a:t>Substantial gains using SMOTE, SMOTEENN, and B-SMOTE.</a:t>
            </a:r>
          </a:p>
          <a:p>
            <a:pPr>
              <a:buFont typeface="Arial" panose="020B0604020202020204" pitchFamily="34" charset="0"/>
              <a:buChar char="•"/>
            </a:pPr>
            <a:r>
              <a:rPr lang="en-US" b="1" dirty="0"/>
              <a:t>F1 Score</a:t>
            </a:r>
            <a:r>
              <a:rPr lang="en-US" dirty="0"/>
              <a:t>:</a:t>
            </a:r>
          </a:p>
          <a:p>
            <a:pPr marL="742950" lvl="1" indent="-285750">
              <a:buFont typeface="Arial" panose="020B0604020202020204" pitchFamily="34" charset="0"/>
              <a:buChar char="•"/>
            </a:pPr>
            <a:r>
              <a:rPr lang="en-US" dirty="0"/>
              <a:t>Balanced performance with ADASYN, SMOTE, and B-SMOTE.</a:t>
            </a:r>
          </a:p>
          <a:p>
            <a:pPr marL="742950" lvl="1" indent="-285750">
              <a:buFont typeface="Arial" panose="020B0604020202020204" pitchFamily="34" charset="0"/>
              <a:buChar char="•"/>
            </a:pPr>
            <a:r>
              <a:rPr lang="en-US" dirty="0"/>
              <a:t>Promising results with SMOTEENN.</a:t>
            </a:r>
          </a:p>
          <a:p>
            <a:pPr>
              <a:buFont typeface="Arial" panose="020B0604020202020204" pitchFamily="34" charset="0"/>
              <a:buChar char="•"/>
            </a:pPr>
            <a:r>
              <a:rPr lang="en-US" b="1" dirty="0"/>
              <a:t>Accuracy</a:t>
            </a:r>
            <a:r>
              <a:rPr lang="en-US" dirty="0"/>
              <a:t>:</a:t>
            </a:r>
          </a:p>
          <a:p>
            <a:pPr marL="742950" lvl="1" indent="-285750">
              <a:buFont typeface="Arial" panose="020B0604020202020204" pitchFamily="34" charset="0"/>
              <a:buChar char="•"/>
            </a:pPr>
            <a:r>
              <a:rPr lang="en-US" dirty="0"/>
              <a:t>Consistently high across all methods, showing minimal variations.</a:t>
            </a:r>
          </a:p>
          <a:p>
            <a:pPr>
              <a:buFont typeface="Arial" panose="020B0604020202020204" pitchFamily="34" charset="0"/>
              <a:buChar char="•"/>
            </a:pPr>
            <a:r>
              <a:rPr lang="en-US" b="1" dirty="0"/>
              <a:t>AUPRCC</a:t>
            </a:r>
            <a:r>
              <a:rPr lang="en-US" dirty="0"/>
              <a:t>:</a:t>
            </a:r>
          </a:p>
          <a:p>
            <a:pPr marL="742950" lvl="1" indent="-285750">
              <a:buFont typeface="Arial" panose="020B0604020202020204" pitchFamily="34" charset="0"/>
              <a:buChar char="•"/>
            </a:pPr>
            <a:r>
              <a:rPr lang="en-US" dirty="0"/>
              <a:t>Boosted by B-SMOTE, SMOTE, and Random Oversampling.</a:t>
            </a:r>
          </a:p>
          <a:p>
            <a:pPr marL="742950" lvl="1" indent="-285750">
              <a:buFont typeface="Arial" panose="020B0604020202020204" pitchFamily="34" charset="0"/>
              <a:buChar char="•"/>
            </a:pPr>
            <a:r>
              <a:rPr lang="en-US" dirty="0"/>
              <a:t>Slight dip with SMOTEENN.</a:t>
            </a:r>
          </a:p>
          <a:p>
            <a:endParaRPr lang="pt-PT" dirty="0"/>
          </a:p>
          <a:p>
            <a:r>
              <a:rPr lang="pt-PT" b="1" dirty="0"/>
              <a:t>Performance </a:t>
            </a:r>
            <a:r>
              <a:rPr lang="pt-PT" b="1" dirty="0" err="1"/>
              <a:t>Comparison</a:t>
            </a:r>
            <a:r>
              <a:rPr lang="pt-PT" b="1" dirty="0"/>
              <a:t>:</a:t>
            </a:r>
          </a:p>
          <a:p>
            <a:pPr>
              <a:buFont typeface="Arial" panose="020B0604020202020204" pitchFamily="34" charset="0"/>
              <a:buChar char="•"/>
            </a:pPr>
            <a:r>
              <a:rPr lang="pt-PT" dirty="0"/>
              <a:t>Radar </a:t>
            </a:r>
            <a:r>
              <a:rPr lang="pt-PT" dirty="0" err="1"/>
              <a:t>plot</a:t>
            </a:r>
            <a:r>
              <a:rPr lang="pt-PT" dirty="0"/>
              <a:t> </a:t>
            </a:r>
            <a:r>
              <a:rPr lang="pt-PT" dirty="0" err="1"/>
              <a:t>of</a:t>
            </a:r>
            <a:r>
              <a:rPr lang="pt-PT" dirty="0"/>
              <a:t> </a:t>
            </a:r>
            <a:r>
              <a:rPr lang="pt-PT" dirty="0" err="1"/>
              <a:t>metrics</a:t>
            </a:r>
            <a:r>
              <a:rPr lang="pt-PT" dirty="0"/>
              <a:t> (</a:t>
            </a:r>
            <a:r>
              <a:rPr lang="pt-PT" dirty="0" err="1"/>
              <a:t>Precision</a:t>
            </a:r>
            <a:r>
              <a:rPr lang="pt-PT" dirty="0"/>
              <a:t>, </a:t>
            </a:r>
            <a:r>
              <a:rPr lang="pt-PT" dirty="0" err="1"/>
              <a:t>Recall</a:t>
            </a:r>
            <a:r>
              <a:rPr lang="pt-PT" dirty="0"/>
              <a:t>, F1 Score, </a:t>
            </a:r>
            <a:r>
              <a:rPr lang="pt-PT" dirty="0" err="1"/>
              <a:t>Accuracy</a:t>
            </a:r>
            <a:r>
              <a:rPr lang="pt-PT" dirty="0"/>
              <a:t>, AUPRCC).</a:t>
            </a:r>
          </a:p>
          <a:p>
            <a:pPr>
              <a:buFont typeface="Arial" panose="020B0604020202020204" pitchFamily="34" charset="0"/>
              <a:buChar char="•"/>
            </a:pPr>
            <a:r>
              <a:rPr lang="pt-PT" dirty="0"/>
              <a:t>Bar </a:t>
            </a:r>
            <a:r>
              <a:rPr lang="pt-PT" dirty="0" err="1"/>
              <a:t>graph</a:t>
            </a:r>
            <a:r>
              <a:rPr lang="pt-PT" dirty="0"/>
              <a:t> </a:t>
            </a:r>
            <a:r>
              <a:rPr lang="pt-PT" dirty="0" err="1"/>
              <a:t>highlighting</a:t>
            </a:r>
            <a:r>
              <a:rPr lang="pt-PT" dirty="0"/>
              <a:t> </a:t>
            </a:r>
            <a:r>
              <a:rPr lang="pt-PT" dirty="0" err="1"/>
              <a:t>metric</a:t>
            </a:r>
            <a:r>
              <a:rPr lang="pt-PT" dirty="0"/>
              <a:t> </a:t>
            </a:r>
            <a:r>
              <a:rPr lang="pt-PT" dirty="0" err="1"/>
              <a:t>changes</a:t>
            </a:r>
            <a:r>
              <a:rPr lang="pt-PT" dirty="0"/>
              <a:t> </a:t>
            </a:r>
            <a:r>
              <a:rPr lang="pt-PT" dirty="0" err="1"/>
              <a:t>across</a:t>
            </a:r>
            <a:r>
              <a:rPr lang="pt-PT" dirty="0"/>
              <a:t> </a:t>
            </a:r>
            <a:r>
              <a:rPr lang="pt-PT" dirty="0" err="1"/>
              <a:t>balancing</a:t>
            </a:r>
            <a:r>
              <a:rPr lang="pt-PT" dirty="0"/>
              <a:t> </a:t>
            </a:r>
            <a:r>
              <a:rPr lang="pt-PT" dirty="0" err="1"/>
              <a:t>techniques</a:t>
            </a:r>
            <a:r>
              <a:rPr lang="pt-PT" dirty="0"/>
              <a:t>.</a:t>
            </a:r>
          </a:p>
          <a:p>
            <a:r>
              <a:rPr lang="pt-PT" b="1" dirty="0" err="1"/>
              <a:t>Key</a:t>
            </a:r>
            <a:r>
              <a:rPr lang="pt-PT" b="1" dirty="0"/>
              <a:t> Takeaway:</a:t>
            </a:r>
          </a:p>
          <a:p>
            <a:r>
              <a:rPr lang="pt-PT" dirty="0" err="1"/>
              <a:t>Balancing</a:t>
            </a:r>
            <a:r>
              <a:rPr lang="pt-PT" dirty="0"/>
              <a:t> </a:t>
            </a:r>
            <a:r>
              <a:rPr lang="pt-PT" dirty="0" err="1"/>
              <a:t>techniques</a:t>
            </a:r>
            <a:r>
              <a:rPr lang="pt-PT" dirty="0"/>
              <a:t> </a:t>
            </a:r>
            <a:r>
              <a:rPr lang="pt-PT" dirty="0" err="1"/>
              <a:t>notably</a:t>
            </a:r>
            <a:r>
              <a:rPr lang="pt-PT" dirty="0"/>
              <a:t> </a:t>
            </a:r>
            <a:r>
              <a:rPr lang="pt-PT" dirty="0" err="1"/>
              <a:t>improved</a:t>
            </a:r>
            <a:r>
              <a:rPr lang="pt-PT" dirty="0"/>
              <a:t> </a:t>
            </a:r>
            <a:r>
              <a:rPr lang="pt-PT" b="1" dirty="0" err="1"/>
              <a:t>Recall</a:t>
            </a:r>
            <a:r>
              <a:rPr lang="pt-PT" dirty="0"/>
              <a:t>, </a:t>
            </a:r>
            <a:r>
              <a:rPr lang="pt-PT" b="1" dirty="0"/>
              <a:t>F1 Score</a:t>
            </a:r>
            <a:r>
              <a:rPr lang="pt-PT" dirty="0"/>
              <a:t>, </a:t>
            </a:r>
            <a:r>
              <a:rPr lang="pt-PT" dirty="0" err="1"/>
              <a:t>and</a:t>
            </a:r>
            <a:r>
              <a:rPr lang="pt-PT" dirty="0"/>
              <a:t> </a:t>
            </a:r>
            <a:r>
              <a:rPr lang="pt-PT" b="1" dirty="0"/>
              <a:t>AUPRCC</a:t>
            </a:r>
            <a:r>
              <a:rPr lang="pt-PT" dirty="0"/>
              <a:t> for </a:t>
            </a:r>
            <a:r>
              <a:rPr lang="pt-PT" dirty="0" err="1"/>
              <a:t>XGBoost</a:t>
            </a:r>
            <a:r>
              <a:rPr lang="pt-PT" dirty="0"/>
              <a:t>, </a:t>
            </a:r>
            <a:r>
              <a:rPr lang="pt-PT" dirty="0" err="1"/>
              <a:t>ensuring</a:t>
            </a:r>
            <a:r>
              <a:rPr lang="pt-PT" dirty="0"/>
              <a:t> </a:t>
            </a:r>
            <a:r>
              <a:rPr lang="pt-PT" dirty="0" err="1"/>
              <a:t>better</a:t>
            </a:r>
            <a:r>
              <a:rPr lang="pt-PT" dirty="0"/>
              <a:t> </a:t>
            </a:r>
            <a:r>
              <a:rPr lang="pt-PT" dirty="0" err="1"/>
              <a:t>minority</a:t>
            </a:r>
            <a:r>
              <a:rPr lang="pt-PT" dirty="0"/>
              <a:t> </a:t>
            </a:r>
            <a:r>
              <a:rPr lang="pt-PT" dirty="0" err="1"/>
              <a:t>class</a:t>
            </a:r>
            <a:r>
              <a:rPr lang="pt-PT" dirty="0"/>
              <a:t> </a:t>
            </a:r>
            <a:r>
              <a:rPr lang="pt-PT" dirty="0" err="1"/>
              <a:t>detection</a:t>
            </a:r>
            <a:r>
              <a:rPr lang="pt-PT" dirty="0"/>
              <a:t> </a:t>
            </a:r>
            <a:r>
              <a:rPr lang="pt-PT" dirty="0" err="1"/>
              <a:t>without</a:t>
            </a:r>
            <a:r>
              <a:rPr lang="pt-PT" dirty="0"/>
              <a:t> </a:t>
            </a:r>
            <a:r>
              <a:rPr lang="pt-PT" dirty="0" err="1"/>
              <a:t>compromising</a:t>
            </a:r>
            <a:r>
              <a:rPr lang="pt-PT" dirty="0"/>
              <a:t> </a:t>
            </a:r>
            <a:r>
              <a:rPr lang="pt-PT" dirty="0" err="1"/>
              <a:t>overall</a:t>
            </a:r>
            <a:r>
              <a:rPr lang="pt-PT" dirty="0"/>
              <a:t> performance.</a:t>
            </a:r>
          </a:p>
          <a:p>
            <a:endParaRPr lang="pt-PT" dirty="0"/>
          </a:p>
          <a:p>
            <a:endParaRPr lang="pt-PT" dirty="0"/>
          </a:p>
          <a:p>
            <a:endParaRPr lang="pt-PT" dirty="0"/>
          </a:p>
        </p:txBody>
      </p:sp>
      <p:sp>
        <p:nvSpPr>
          <p:cNvPr id="4" name="Marcador de Posição do Número do Diapositivo 3">
            <a:extLst>
              <a:ext uri="{FF2B5EF4-FFF2-40B4-BE49-F238E27FC236}">
                <a16:creationId xmlns:a16="http://schemas.microsoft.com/office/drawing/2014/main" id="{B45ADB97-A2D9-F870-BD85-5986AB32A773}"/>
              </a:ext>
            </a:extLst>
          </p:cNvPr>
          <p:cNvSpPr>
            <a:spLocks noGrp="1"/>
          </p:cNvSpPr>
          <p:nvPr>
            <p:ph type="sldNum" sz="quarter" idx="5"/>
          </p:nvPr>
        </p:nvSpPr>
        <p:spPr/>
        <p:txBody>
          <a:bodyPr/>
          <a:lstStyle/>
          <a:p>
            <a:fld id="{021B9CEB-BF53-49FC-B677-A6A019229240}" type="slidenum">
              <a:rPr lang="pt-PT" smtClean="0"/>
              <a:t>21</a:t>
            </a:fld>
            <a:endParaRPr lang="pt-PT"/>
          </a:p>
        </p:txBody>
      </p:sp>
    </p:spTree>
    <p:extLst>
      <p:ext uri="{BB962C8B-B14F-4D97-AF65-F5344CB8AC3E}">
        <p14:creationId xmlns:p14="http://schemas.microsoft.com/office/powerpoint/2010/main" val="17159504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PT" altLang="pt-PT" sz="1200" b="1" i="0" u="none" strike="noStrike" cap="none" normalizeH="0" baseline="0" dirty="0">
                <a:ln>
                  <a:noFill/>
                </a:ln>
                <a:solidFill>
                  <a:schemeClr val="tx1"/>
                </a:solidFill>
                <a:effectLst/>
                <a:latin typeface="Arial" panose="020B0604020202020204" pitchFamily="34" charset="0"/>
              </a:rPr>
              <a:t>DIOGO</a:t>
            </a:r>
          </a:p>
          <a:p>
            <a:pPr marL="0" marR="0" lvl="0" indent="0" algn="l" defTabSz="914400" rtl="0" eaLnBrk="0" fontAlgn="base" latinLnBrk="0" hangingPunct="0">
              <a:lnSpc>
                <a:spcPct val="100000"/>
              </a:lnSpc>
              <a:spcBef>
                <a:spcPct val="0"/>
              </a:spcBef>
              <a:spcAft>
                <a:spcPct val="0"/>
              </a:spcAft>
              <a:buClrTx/>
              <a:buSzTx/>
              <a:buFontTx/>
              <a:buNone/>
              <a:tabLst/>
            </a:pPr>
            <a:r>
              <a:rPr kumimoji="0" lang="pt-PT" altLang="pt-PT" sz="1200" b="1" i="0" u="none" strike="noStrike" cap="none" normalizeH="0" baseline="0" dirty="0">
                <a:ln>
                  <a:noFill/>
                </a:ln>
                <a:solidFill>
                  <a:schemeClr val="tx1"/>
                </a:solidFill>
                <a:effectLst/>
                <a:latin typeface="Arial" panose="020B0604020202020204" pitchFamily="34" charset="0"/>
              </a:rPr>
              <a:t>Slide 6: </a:t>
            </a:r>
            <a:r>
              <a:rPr kumimoji="0" lang="pt-PT" altLang="pt-PT" sz="1200" b="1" i="0" u="none" strike="noStrike" cap="none" normalizeH="0" baseline="0" dirty="0" err="1">
                <a:ln>
                  <a:noFill/>
                </a:ln>
                <a:solidFill>
                  <a:schemeClr val="tx1"/>
                </a:solidFill>
                <a:effectLst/>
                <a:latin typeface="Arial" panose="020B0604020202020204" pitchFamily="34" charset="0"/>
              </a:rPr>
              <a:t>Results</a:t>
            </a:r>
            <a:r>
              <a:rPr kumimoji="0" lang="pt-PT" altLang="pt-PT" sz="1200" b="1" i="0" u="none" strike="noStrike" cap="none" normalizeH="0" baseline="0" dirty="0">
                <a:ln>
                  <a:noFill/>
                </a:ln>
                <a:solidFill>
                  <a:schemeClr val="tx1"/>
                </a:solidFill>
                <a:effectLst/>
                <a:latin typeface="Arial" panose="020B0604020202020204" pitchFamily="34" charset="0"/>
              </a:rPr>
              <a:t> </a:t>
            </a:r>
            <a:r>
              <a:rPr kumimoji="0" lang="pt-PT" altLang="pt-PT" sz="1200" b="1" i="0" u="none" strike="noStrike" cap="none" normalizeH="0" baseline="0" dirty="0" err="1">
                <a:ln>
                  <a:noFill/>
                </a:ln>
                <a:solidFill>
                  <a:schemeClr val="tx1"/>
                </a:solidFill>
                <a:effectLst/>
                <a:latin typeface="Arial" panose="020B0604020202020204" pitchFamily="34" charset="0"/>
              </a:rPr>
              <a:t>Recap</a:t>
            </a:r>
            <a:r>
              <a:rPr kumimoji="0" lang="pt-PT" altLang="pt-PT" sz="1200" b="1" i="0" u="none" strike="noStrike" cap="none" normalizeH="0" baseline="0" dirty="0">
                <a:ln>
                  <a:noFill/>
                </a:ln>
                <a:solidFill>
                  <a:schemeClr val="tx1"/>
                </a:solidFill>
                <a:effectLst/>
                <a:latin typeface="Arial" panose="020B0604020202020204" pitchFamily="34" charset="0"/>
              </a:rPr>
              <a:t> – </a:t>
            </a:r>
            <a:r>
              <a:rPr kumimoji="0" lang="pt-PT" altLang="pt-PT" sz="1200" b="1" i="0" u="none" strike="noStrike" cap="none" normalizeH="0" baseline="0" dirty="0" err="1">
                <a:ln>
                  <a:noFill/>
                </a:ln>
                <a:solidFill>
                  <a:schemeClr val="tx1"/>
                </a:solidFill>
                <a:effectLst/>
                <a:latin typeface="Arial" panose="020B0604020202020204" pitchFamily="34" charset="0"/>
              </a:rPr>
              <a:t>Random</a:t>
            </a:r>
            <a:r>
              <a:rPr kumimoji="0" lang="pt-PT" altLang="pt-PT" sz="1200" b="1" i="0" u="none" strike="noStrike" cap="none" normalizeH="0" baseline="0" dirty="0">
                <a:ln>
                  <a:noFill/>
                </a:ln>
                <a:solidFill>
                  <a:schemeClr val="tx1"/>
                </a:solidFill>
                <a:effectLst/>
                <a:latin typeface="Arial" panose="020B0604020202020204" pitchFamily="34" charset="0"/>
              </a:rPr>
              <a:t> </a:t>
            </a:r>
            <a:r>
              <a:rPr kumimoji="0" lang="pt-PT" altLang="pt-PT" sz="1200" b="1" i="0" u="none" strike="noStrike" cap="none" normalizeH="0" baseline="0" dirty="0" err="1">
                <a:ln>
                  <a:noFill/>
                </a:ln>
                <a:solidFill>
                  <a:schemeClr val="tx1"/>
                </a:solidFill>
                <a:effectLst/>
                <a:latin typeface="Arial" panose="020B0604020202020204" pitchFamily="34" charset="0"/>
              </a:rPr>
              <a:t>Forest</a:t>
            </a:r>
            <a:r>
              <a:rPr kumimoji="0" lang="pt-PT" altLang="pt-PT" sz="1200" b="1" i="0" u="none" strike="noStrike" cap="none" normalizeH="0" baseline="0" dirty="0">
                <a:ln>
                  <a:noFill/>
                </a:ln>
                <a:solidFill>
                  <a:schemeClr val="tx1"/>
                </a:solidFill>
                <a:effectLst/>
                <a:latin typeface="Arial" panose="020B0604020202020204" pitchFamily="34" charset="0"/>
              </a:rPr>
              <a:t> vs. </a:t>
            </a:r>
            <a:r>
              <a:rPr kumimoji="0" lang="pt-PT" altLang="pt-PT" sz="1200" b="1" i="0" u="none" strike="noStrike" cap="none" normalizeH="0" baseline="0" dirty="0" err="1">
                <a:ln>
                  <a:noFill/>
                </a:ln>
                <a:solidFill>
                  <a:schemeClr val="tx1"/>
                </a:solidFill>
                <a:effectLst/>
                <a:latin typeface="Arial" panose="020B0604020202020204" pitchFamily="34" charset="0"/>
              </a:rPr>
              <a:t>XGBoost</a:t>
            </a:r>
            <a:endParaRPr kumimoji="0" lang="pt-PT" altLang="pt-PT"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PT" altLang="pt-PT" sz="1100" b="1" i="0" u="none" strike="noStrike" cap="none" normalizeH="0" baseline="0" dirty="0" err="1">
                <a:ln>
                  <a:noFill/>
                </a:ln>
                <a:solidFill>
                  <a:schemeClr val="tx1"/>
                </a:solidFill>
                <a:effectLst/>
                <a:latin typeface="Arial" panose="020B0604020202020204" pitchFamily="34" charset="0"/>
              </a:rPr>
              <a:t>Metric</a:t>
            </a:r>
            <a:r>
              <a:rPr kumimoji="0" lang="pt-PT" altLang="pt-PT" sz="1100" b="1" i="0" u="none" strike="noStrike" cap="none" normalizeH="0" baseline="0" dirty="0">
                <a:ln>
                  <a:noFill/>
                </a:ln>
                <a:solidFill>
                  <a:schemeClr val="tx1"/>
                </a:solidFill>
                <a:effectLst/>
                <a:latin typeface="Arial" panose="020B0604020202020204" pitchFamily="34" charset="0"/>
              </a:rPr>
              <a:t> </a:t>
            </a:r>
            <a:r>
              <a:rPr kumimoji="0" lang="pt-PT" altLang="pt-PT" sz="1100" b="1" i="0" u="none" strike="noStrike" cap="none" normalizeH="0" baseline="0" dirty="0" err="1">
                <a:ln>
                  <a:noFill/>
                </a:ln>
                <a:solidFill>
                  <a:schemeClr val="tx1"/>
                </a:solidFill>
                <a:effectLst/>
                <a:latin typeface="Arial" panose="020B0604020202020204" pitchFamily="34" charset="0"/>
              </a:rPr>
              <a:t>Comparisons</a:t>
            </a:r>
            <a:r>
              <a:rPr kumimoji="0" lang="pt-PT" altLang="pt-PT" sz="1100" b="1"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100" b="1" i="0" u="none" strike="noStrike" cap="none" normalizeH="0" baseline="0" dirty="0" err="1">
                <a:ln>
                  <a:noFill/>
                </a:ln>
                <a:solidFill>
                  <a:schemeClr val="tx1"/>
                </a:solidFill>
                <a:effectLst/>
                <a:latin typeface="Arial" panose="020B0604020202020204" pitchFamily="34" charset="0"/>
              </a:rPr>
              <a:t>Precision</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Higher</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stability</a:t>
            </a:r>
            <a:r>
              <a:rPr kumimoji="0" lang="pt-PT" altLang="pt-PT" sz="3200" b="0" i="0" u="none" strike="noStrike" cap="none" normalizeH="0" baseline="0" dirty="0">
                <a:ln>
                  <a:noFill/>
                </a:ln>
                <a:solidFill>
                  <a:schemeClr val="tx1"/>
                </a:solidFill>
                <a:effectLst/>
                <a:latin typeface="Arial" panose="020B0604020202020204" pitchFamily="34" charset="0"/>
              </a:rPr>
              <a:t> in </a:t>
            </a:r>
            <a:r>
              <a:rPr kumimoji="0" lang="pt-PT" altLang="pt-PT" sz="3200" b="0" i="0" u="none" strike="noStrike" cap="none" normalizeH="0" baseline="0" dirty="0" err="1">
                <a:ln>
                  <a:noFill/>
                </a:ln>
                <a:solidFill>
                  <a:schemeClr val="tx1"/>
                </a:solidFill>
                <a:effectLst/>
                <a:latin typeface="Arial" panose="020B0604020202020204" pitchFamily="34" charset="0"/>
              </a:rPr>
              <a:t>XGBoost</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Random</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Forest</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showed</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variability</a:t>
            </a:r>
            <a:r>
              <a:rPr kumimoji="0" lang="pt-PT" altLang="pt-PT" sz="3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3200" b="1" i="0" u="none" strike="noStrike" cap="none" normalizeH="0" baseline="0" dirty="0" err="1">
                <a:ln>
                  <a:noFill/>
                </a:ln>
                <a:solidFill>
                  <a:schemeClr val="tx1"/>
                </a:solidFill>
                <a:effectLst/>
                <a:latin typeface="Arial" panose="020B0604020202020204" pitchFamily="34" charset="0"/>
              </a:rPr>
              <a:t>Recall</a:t>
            </a:r>
            <a:r>
              <a:rPr kumimoji="0" lang="pt-PT" altLang="pt-PT" sz="3200" b="0" i="0" u="none" strike="noStrike" cap="none" normalizeH="0" baseline="0" dirty="0">
                <a:ln>
                  <a:noFill/>
                </a:ln>
                <a:solidFill>
                  <a:schemeClr val="tx1"/>
                </a:solidFill>
                <a:effectLst/>
                <a:latin typeface="Arial" panose="020B0604020202020204" pitchFamily="34" charset="0"/>
              </a:rPr>
              <a:t>: Both </a:t>
            </a:r>
            <a:r>
              <a:rPr kumimoji="0" lang="pt-PT" altLang="pt-PT" sz="3200" b="0" i="0" u="none" strike="noStrike" cap="none" normalizeH="0" baseline="0" dirty="0" err="1">
                <a:ln>
                  <a:noFill/>
                </a:ln>
                <a:solidFill>
                  <a:schemeClr val="tx1"/>
                </a:solidFill>
                <a:effectLst/>
                <a:latin typeface="Arial" panose="020B0604020202020204" pitchFamily="34" charset="0"/>
              </a:rPr>
              <a:t>models</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benefitted</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from</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balancing</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with</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larger</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gains</a:t>
            </a:r>
            <a:r>
              <a:rPr kumimoji="0" lang="pt-PT" altLang="pt-PT" sz="3200" b="0" i="0" u="none" strike="noStrike" cap="none" normalizeH="0" baseline="0" dirty="0">
                <a:ln>
                  <a:noFill/>
                </a:ln>
                <a:solidFill>
                  <a:schemeClr val="tx1"/>
                </a:solidFill>
                <a:effectLst/>
                <a:latin typeface="Arial" panose="020B0604020202020204" pitchFamily="34" charset="0"/>
              </a:rPr>
              <a:t> for </a:t>
            </a:r>
            <a:r>
              <a:rPr kumimoji="0" lang="pt-PT" altLang="pt-PT" sz="3200" b="0" i="0" u="none" strike="noStrike" cap="none" normalizeH="0" baseline="0" dirty="0" err="1">
                <a:ln>
                  <a:noFill/>
                </a:ln>
                <a:solidFill>
                  <a:schemeClr val="tx1"/>
                </a:solidFill>
                <a:effectLst/>
                <a:latin typeface="Arial" panose="020B0604020202020204" pitchFamily="34" charset="0"/>
              </a:rPr>
              <a:t>XGBoost</a:t>
            </a:r>
            <a:r>
              <a:rPr kumimoji="0" lang="pt-PT" altLang="pt-PT" sz="3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3200" b="1" i="0" u="none" strike="noStrike" cap="none" normalizeH="0" baseline="0" dirty="0">
                <a:ln>
                  <a:noFill/>
                </a:ln>
                <a:solidFill>
                  <a:schemeClr val="tx1"/>
                </a:solidFill>
                <a:effectLst/>
                <a:latin typeface="Arial" panose="020B0604020202020204" pitchFamily="34" charset="0"/>
              </a:rPr>
              <a:t>F1 Score</a:t>
            </a:r>
            <a:r>
              <a:rPr kumimoji="0" lang="pt-PT" altLang="pt-PT" sz="3200" b="0" i="0" u="none" strike="noStrike" cap="none" normalizeH="0" baseline="0" dirty="0">
                <a:ln>
                  <a:noFill/>
                </a:ln>
                <a:solidFill>
                  <a:schemeClr val="tx1"/>
                </a:solidFill>
                <a:effectLst/>
                <a:latin typeface="Arial" panose="020B0604020202020204" pitchFamily="34" charset="0"/>
              </a:rPr>
              <a:t>: B-SMOTE </a:t>
            </a:r>
            <a:r>
              <a:rPr kumimoji="0" lang="pt-PT" altLang="pt-PT" sz="3200" b="0" i="0" u="none" strike="noStrike" cap="none" normalizeH="0" baseline="0" dirty="0" err="1">
                <a:ln>
                  <a:noFill/>
                </a:ln>
                <a:solidFill>
                  <a:schemeClr val="tx1"/>
                </a:solidFill>
                <a:effectLst/>
                <a:latin typeface="Arial" panose="020B0604020202020204" pitchFamily="34" charset="0"/>
              </a:rPr>
              <a:t>emerged</a:t>
            </a:r>
            <a:r>
              <a:rPr kumimoji="0" lang="pt-PT" altLang="pt-PT" sz="3200" b="0" i="0" u="none" strike="noStrike" cap="none" normalizeH="0" baseline="0" dirty="0">
                <a:ln>
                  <a:noFill/>
                </a:ln>
                <a:solidFill>
                  <a:schemeClr val="tx1"/>
                </a:solidFill>
                <a:effectLst/>
                <a:latin typeface="Arial" panose="020B0604020202020204" pitchFamily="34" charset="0"/>
              </a:rPr>
              <a:t> as a top performer for </a:t>
            </a:r>
            <a:r>
              <a:rPr kumimoji="0" lang="pt-PT" altLang="pt-PT" sz="3200" b="0" i="0" u="none" strike="noStrike" cap="none" normalizeH="0" baseline="0" dirty="0" err="1">
                <a:ln>
                  <a:noFill/>
                </a:ln>
                <a:solidFill>
                  <a:schemeClr val="tx1"/>
                </a:solidFill>
                <a:effectLst/>
                <a:latin typeface="Arial" panose="020B0604020202020204" pitchFamily="34" charset="0"/>
              </a:rPr>
              <a:t>both</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models</a:t>
            </a:r>
            <a:r>
              <a:rPr kumimoji="0" lang="pt-PT" altLang="pt-PT" sz="3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3200" b="1" i="0" u="none" strike="noStrike" cap="none" normalizeH="0" baseline="0" dirty="0" err="1">
                <a:ln>
                  <a:noFill/>
                </a:ln>
                <a:solidFill>
                  <a:schemeClr val="tx1"/>
                </a:solidFill>
                <a:effectLst/>
                <a:latin typeface="Arial" panose="020B0604020202020204" pitchFamily="34" charset="0"/>
              </a:rPr>
              <a:t>Accuracy</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High</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and</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consistent</a:t>
            </a:r>
            <a:r>
              <a:rPr kumimoji="0" lang="pt-PT" altLang="pt-PT" sz="3200" b="0" i="0" u="none" strike="noStrike" cap="none" normalizeH="0" baseline="0" dirty="0">
                <a:ln>
                  <a:noFill/>
                </a:ln>
                <a:solidFill>
                  <a:schemeClr val="tx1"/>
                </a:solidFill>
                <a:effectLst/>
                <a:latin typeface="Arial" panose="020B0604020202020204" pitchFamily="34" charset="0"/>
              </a:rPr>
              <a:t> for </a:t>
            </a:r>
            <a:r>
              <a:rPr kumimoji="0" lang="pt-PT" altLang="pt-PT" sz="3200" b="0" i="0" u="none" strike="noStrike" cap="none" normalizeH="0" baseline="0" dirty="0" err="1">
                <a:ln>
                  <a:noFill/>
                </a:ln>
                <a:solidFill>
                  <a:schemeClr val="tx1"/>
                </a:solidFill>
                <a:effectLst/>
                <a:latin typeface="Arial" panose="020B0604020202020204" pitchFamily="34" charset="0"/>
              </a:rPr>
              <a:t>both</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models</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not</a:t>
            </a:r>
            <a:r>
              <a:rPr kumimoji="0" lang="pt-PT" altLang="pt-PT" sz="3200" b="0" i="0" u="none" strike="noStrike" cap="none" normalizeH="0" baseline="0" dirty="0">
                <a:ln>
                  <a:noFill/>
                </a:ln>
                <a:solidFill>
                  <a:schemeClr val="tx1"/>
                </a:solidFill>
                <a:effectLst/>
                <a:latin typeface="Arial" panose="020B0604020202020204" pitchFamily="34" charset="0"/>
              </a:rPr>
              <a:t> a </a:t>
            </a:r>
            <a:r>
              <a:rPr kumimoji="0" lang="pt-PT" altLang="pt-PT" sz="3200" b="0" i="0" u="none" strike="noStrike" cap="none" normalizeH="0" baseline="0" dirty="0" err="1">
                <a:ln>
                  <a:noFill/>
                </a:ln>
                <a:solidFill>
                  <a:schemeClr val="tx1"/>
                </a:solidFill>
                <a:effectLst/>
                <a:latin typeface="Arial" panose="020B0604020202020204" pitchFamily="34" charset="0"/>
              </a:rPr>
              <a:t>critical</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metric</a:t>
            </a:r>
            <a:r>
              <a:rPr kumimoji="0" lang="pt-PT" altLang="pt-PT" sz="3200" b="0" i="0" u="none" strike="noStrike" cap="none" normalizeH="0" baseline="0" dirty="0">
                <a:ln>
                  <a:noFill/>
                </a:ln>
                <a:solidFill>
                  <a:schemeClr val="tx1"/>
                </a:solidFill>
                <a:effectLst/>
                <a:latin typeface="Arial" panose="020B0604020202020204" pitchFamily="34" charset="0"/>
              </a:rPr>
              <a:t> for </a:t>
            </a:r>
            <a:r>
              <a:rPr kumimoji="0" lang="pt-PT" altLang="pt-PT" sz="3200" b="0" i="0" u="none" strike="noStrike" cap="none" normalizeH="0" baseline="0" dirty="0" err="1">
                <a:ln>
                  <a:noFill/>
                </a:ln>
                <a:solidFill>
                  <a:schemeClr val="tx1"/>
                </a:solidFill>
                <a:effectLst/>
                <a:latin typeface="Arial" panose="020B0604020202020204" pitchFamily="34" charset="0"/>
              </a:rPr>
              <a:t>imbalanced</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datasets</a:t>
            </a:r>
            <a:r>
              <a:rPr kumimoji="0" lang="pt-PT" altLang="pt-PT" sz="3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3200" b="1" i="0" u="none" strike="noStrike" cap="none" normalizeH="0" baseline="0" dirty="0">
                <a:ln>
                  <a:noFill/>
                </a:ln>
                <a:solidFill>
                  <a:schemeClr val="tx1"/>
                </a:solidFill>
                <a:effectLst/>
                <a:latin typeface="Arial" panose="020B0604020202020204" pitchFamily="34" charset="0"/>
              </a:rPr>
              <a:t>AUPRCC</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Slight</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edge</a:t>
            </a:r>
            <a:r>
              <a:rPr kumimoji="0" lang="pt-PT" altLang="pt-PT" sz="3200" b="0" i="0" u="none" strike="noStrike" cap="none" normalizeH="0" baseline="0" dirty="0">
                <a:ln>
                  <a:noFill/>
                </a:ln>
                <a:solidFill>
                  <a:schemeClr val="tx1"/>
                </a:solidFill>
                <a:effectLst/>
                <a:latin typeface="Arial" panose="020B0604020202020204" pitchFamily="34" charset="0"/>
              </a:rPr>
              <a:t> for </a:t>
            </a:r>
            <a:r>
              <a:rPr kumimoji="0" lang="pt-PT" altLang="pt-PT" sz="3200" b="0" i="0" u="none" strike="noStrike" cap="none" normalizeH="0" baseline="0" dirty="0" err="1">
                <a:ln>
                  <a:noFill/>
                </a:ln>
                <a:solidFill>
                  <a:schemeClr val="tx1"/>
                </a:solidFill>
                <a:effectLst/>
                <a:latin typeface="Arial" panose="020B0604020202020204" pitchFamily="34" charset="0"/>
              </a:rPr>
              <a:t>Random</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Forest</a:t>
            </a:r>
            <a:r>
              <a:rPr kumimoji="0" lang="pt-PT" altLang="pt-PT" sz="3200" b="0" i="0" u="none" strike="noStrike" cap="none" normalizeH="0" baseline="0" dirty="0">
                <a:ln>
                  <a:noFill/>
                </a:ln>
                <a:solidFill>
                  <a:schemeClr val="tx1"/>
                </a:solidFill>
                <a:effectLst/>
                <a:latin typeface="Arial" panose="020B0604020202020204" pitchFamily="34" charset="0"/>
              </a:rPr>
              <a:t> in Standard </a:t>
            </a:r>
            <a:r>
              <a:rPr kumimoji="0" lang="pt-PT" altLang="pt-PT" sz="3200" b="0" i="0" u="none" strike="noStrike" cap="none" normalizeH="0" baseline="0" dirty="0" err="1">
                <a:ln>
                  <a:noFill/>
                </a:ln>
                <a:solidFill>
                  <a:schemeClr val="tx1"/>
                </a:solidFill>
                <a:effectLst/>
                <a:latin typeface="Arial" panose="020B0604020202020204" pitchFamily="34" charset="0"/>
              </a:rPr>
              <a:t>configuration</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improved</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with</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balancing</a:t>
            </a:r>
            <a:r>
              <a:rPr kumimoji="0" lang="pt-PT" altLang="pt-PT" sz="3200" b="0" i="0" u="none" strike="noStrike" cap="none" normalizeH="0" baseline="0" dirty="0">
                <a:ln>
                  <a:noFill/>
                </a:ln>
                <a:solidFill>
                  <a:schemeClr val="tx1"/>
                </a:solidFill>
                <a:effectLst/>
                <a:latin typeface="Arial" panose="020B0604020202020204" pitchFamily="34" charset="0"/>
              </a:rPr>
              <a:t> for </a:t>
            </a:r>
            <a:r>
              <a:rPr kumimoji="0" lang="pt-PT" altLang="pt-PT" sz="3200" b="0" i="0" u="none" strike="noStrike" cap="none" normalizeH="0" baseline="0" dirty="0" err="1">
                <a:ln>
                  <a:noFill/>
                </a:ln>
                <a:solidFill>
                  <a:schemeClr val="tx1"/>
                </a:solidFill>
                <a:effectLst/>
                <a:latin typeface="Arial" panose="020B0604020202020204" pitchFamily="34" charset="0"/>
              </a:rPr>
              <a:t>both</a:t>
            </a:r>
            <a:r>
              <a:rPr kumimoji="0" lang="pt-PT" altLang="pt-PT" sz="3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pt-PT" altLang="pt-PT" sz="1100" b="1" i="0" u="none" strike="noStrike" cap="none" normalizeH="0" baseline="0" dirty="0">
                <a:ln>
                  <a:noFill/>
                </a:ln>
                <a:solidFill>
                  <a:schemeClr val="tx1"/>
                </a:solidFill>
                <a:effectLst/>
                <a:latin typeface="Arial" panose="020B0604020202020204" pitchFamily="34" charset="0"/>
              </a:rPr>
              <a:t>Visual: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100" b="0" i="0" u="none" strike="noStrike" cap="none" normalizeH="0" baseline="0" dirty="0">
                <a:ln>
                  <a:noFill/>
                </a:ln>
                <a:solidFill>
                  <a:schemeClr val="tx1"/>
                </a:solidFill>
                <a:effectLst/>
                <a:latin typeface="Arial" panose="020B0604020202020204" pitchFamily="34" charset="0"/>
              </a:rPr>
              <a:t>Side-</a:t>
            </a:r>
            <a:r>
              <a:rPr kumimoji="0" lang="pt-PT" altLang="pt-PT" sz="1100" b="0" i="0" u="none" strike="noStrike" cap="none" normalizeH="0" baseline="0" dirty="0" err="1">
                <a:ln>
                  <a:noFill/>
                </a:ln>
                <a:solidFill>
                  <a:schemeClr val="tx1"/>
                </a:solidFill>
                <a:effectLst/>
                <a:latin typeface="Arial" panose="020B0604020202020204" pitchFamily="34" charset="0"/>
              </a:rPr>
              <a:t>by</a:t>
            </a:r>
            <a:r>
              <a:rPr kumimoji="0" lang="pt-PT" altLang="pt-PT" sz="1100" b="0" i="0" u="none" strike="noStrike" cap="none" normalizeH="0" baseline="0" dirty="0">
                <a:ln>
                  <a:noFill/>
                </a:ln>
                <a:solidFill>
                  <a:schemeClr val="tx1"/>
                </a:solidFill>
                <a:effectLst/>
                <a:latin typeface="Arial" panose="020B0604020202020204" pitchFamily="34" charset="0"/>
              </a:rPr>
              <a:t>-</a:t>
            </a:r>
            <a:r>
              <a:rPr kumimoji="0" lang="pt-PT" altLang="pt-PT" sz="1100" b="0" i="0" u="none" strike="noStrike" cap="none" normalizeH="0" baseline="0" dirty="0" err="1">
                <a:ln>
                  <a:noFill/>
                </a:ln>
                <a:solidFill>
                  <a:schemeClr val="tx1"/>
                </a:solidFill>
                <a:effectLst/>
                <a:latin typeface="Arial" panose="020B0604020202020204" pitchFamily="34" charset="0"/>
              </a:rPr>
              <a:t>side</a:t>
            </a:r>
            <a:r>
              <a:rPr kumimoji="0" lang="pt-PT" altLang="pt-PT" sz="1100" b="0" i="0" u="none" strike="noStrike" cap="none" normalizeH="0" baseline="0" dirty="0">
                <a:ln>
                  <a:noFill/>
                </a:ln>
                <a:solidFill>
                  <a:schemeClr val="tx1"/>
                </a:solidFill>
                <a:effectLst/>
                <a:latin typeface="Arial" panose="020B0604020202020204" pitchFamily="34" charset="0"/>
              </a:rPr>
              <a:t> radar </a:t>
            </a:r>
            <a:r>
              <a:rPr kumimoji="0" lang="pt-PT" altLang="pt-PT" sz="1100" b="0" i="0" u="none" strike="noStrike" cap="none" normalizeH="0" baseline="0" dirty="0" err="1">
                <a:ln>
                  <a:noFill/>
                </a:ln>
                <a:solidFill>
                  <a:schemeClr val="tx1"/>
                </a:solidFill>
                <a:effectLst/>
                <a:latin typeface="Arial" panose="020B0604020202020204" pitchFamily="34" charset="0"/>
              </a:rPr>
              <a:t>plots</a:t>
            </a:r>
            <a:r>
              <a:rPr kumimoji="0" lang="pt-PT" altLang="pt-PT" sz="1100" b="0" i="0" u="none" strike="noStrike" cap="none" normalizeH="0" baseline="0" dirty="0">
                <a:ln>
                  <a:noFill/>
                </a:ln>
                <a:solidFill>
                  <a:schemeClr val="tx1"/>
                </a:solidFill>
                <a:effectLst/>
                <a:latin typeface="Arial" panose="020B0604020202020204" pitchFamily="34" charset="0"/>
              </a:rPr>
              <a:t> for </a:t>
            </a:r>
            <a:r>
              <a:rPr kumimoji="0" lang="pt-PT" altLang="pt-PT" sz="1100" b="0" i="0" u="none" strike="noStrike" cap="none" normalizeH="0" baseline="0" dirty="0" err="1">
                <a:ln>
                  <a:noFill/>
                </a:ln>
                <a:solidFill>
                  <a:schemeClr val="tx1"/>
                </a:solidFill>
                <a:effectLst/>
                <a:latin typeface="Arial" panose="020B0604020202020204" pitchFamily="34" charset="0"/>
              </a:rPr>
              <a:t>Random</a:t>
            </a:r>
            <a:r>
              <a:rPr kumimoji="0" lang="pt-PT" altLang="pt-PT" sz="1100" b="0" i="0" u="none" strike="noStrike" cap="none" normalizeH="0" baseline="0" dirty="0">
                <a:ln>
                  <a:noFill/>
                </a:ln>
                <a:solidFill>
                  <a:schemeClr val="tx1"/>
                </a:solidFill>
                <a:effectLst/>
                <a:latin typeface="Arial" panose="020B0604020202020204" pitchFamily="34" charset="0"/>
              </a:rPr>
              <a:t> </a:t>
            </a:r>
            <a:r>
              <a:rPr kumimoji="0" lang="pt-PT" altLang="pt-PT" sz="1100" b="0" i="0" u="none" strike="noStrike" cap="none" normalizeH="0" baseline="0" dirty="0" err="1">
                <a:ln>
                  <a:noFill/>
                </a:ln>
                <a:solidFill>
                  <a:schemeClr val="tx1"/>
                </a:solidFill>
                <a:effectLst/>
                <a:latin typeface="Arial" panose="020B0604020202020204" pitchFamily="34" charset="0"/>
              </a:rPr>
              <a:t>Forest</a:t>
            </a:r>
            <a:r>
              <a:rPr kumimoji="0" lang="pt-PT" altLang="pt-PT" sz="1100" b="0" i="0" u="none" strike="noStrike" cap="none" normalizeH="0" baseline="0" dirty="0">
                <a:ln>
                  <a:noFill/>
                </a:ln>
                <a:solidFill>
                  <a:schemeClr val="tx1"/>
                </a:solidFill>
                <a:effectLst/>
                <a:latin typeface="Arial" panose="020B0604020202020204" pitchFamily="34" charset="0"/>
              </a:rPr>
              <a:t> </a:t>
            </a:r>
            <a:r>
              <a:rPr kumimoji="0" lang="pt-PT" altLang="pt-PT" sz="1100" b="0" i="0" u="none" strike="noStrike" cap="none" normalizeH="0" baseline="0" dirty="0" err="1">
                <a:ln>
                  <a:noFill/>
                </a:ln>
                <a:solidFill>
                  <a:schemeClr val="tx1"/>
                </a:solidFill>
                <a:effectLst/>
                <a:latin typeface="Arial" panose="020B0604020202020204" pitchFamily="34" charset="0"/>
              </a:rPr>
              <a:t>and</a:t>
            </a:r>
            <a:r>
              <a:rPr kumimoji="0" lang="pt-PT" altLang="pt-PT" sz="1100" b="0" i="0" u="none" strike="noStrike" cap="none" normalizeH="0" baseline="0" dirty="0">
                <a:ln>
                  <a:noFill/>
                </a:ln>
                <a:solidFill>
                  <a:schemeClr val="tx1"/>
                </a:solidFill>
                <a:effectLst/>
                <a:latin typeface="Arial" panose="020B0604020202020204" pitchFamily="34" charset="0"/>
              </a:rPr>
              <a:t> </a:t>
            </a:r>
            <a:r>
              <a:rPr kumimoji="0" lang="pt-PT" altLang="pt-PT" sz="1100" b="0" i="0" u="none" strike="noStrike" cap="none" normalizeH="0" baseline="0" dirty="0" err="1">
                <a:ln>
                  <a:noFill/>
                </a:ln>
                <a:solidFill>
                  <a:schemeClr val="tx1"/>
                </a:solidFill>
                <a:effectLst/>
                <a:latin typeface="Arial" panose="020B0604020202020204" pitchFamily="34" charset="0"/>
              </a:rPr>
              <a:t>XGBoost</a:t>
            </a:r>
            <a:r>
              <a:rPr kumimoji="0" lang="pt-PT" altLang="pt-PT" sz="1100" b="0" i="0" u="none" strike="noStrike" cap="none" normalizeH="0" baseline="0" dirty="0">
                <a:ln>
                  <a:noFill/>
                </a:ln>
                <a:solidFill>
                  <a:schemeClr val="tx1"/>
                </a:solidFill>
                <a:effectLst/>
                <a:latin typeface="Arial" panose="020B0604020202020204" pitchFamily="34" charset="0"/>
              </a:rPr>
              <a:t>.</a:t>
            </a:r>
            <a:endParaRPr kumimoji="0" lang="pt-PT" altLang="pt-PT"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3200" b="0" i="0" u="none" strike="noStrike" cap="none" normalizeH="0" baseline="0" dirty="0" err="1">
                <a:ln>
                  <a:noFill/>
                </a:ln>
                <a:solidFill>
                  <a:schemeClr val="tx1"/>
                </a:solidFill>
                <a:effectLst/>
                <a:latin typeface="Arial" panose="020B0604020202020204" pitchFamily="34" charset="0"/>
              </a:rPr>
              <a:t>Summary</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table</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comparing</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best-performing</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techniques</a:t>
            </a:r>
            <a:r>
              <a:rPr kumimoji="0" lang="pt-PT" altLang="pt-PT" sz="3200" b="0" i="0" u="none" strike="noStrike" cap="none" normalizeH="0" baseline="0" dirty="0">
                <a:ln>
                  <a:noFill/>
                </a:ln>
                <a:solidFill>
                  <a:schemeClr val="tx1"/>
                </a:solidFill>
                <a:effectLst/>
                <a:latin typeface="Arial" panose="020B0604020202020204" pitchFamily="34" charset="0"/>
              </a:rPr>
              <a:t> for </a:t>
            </a:r>
            <a:r>
              <a:rPr kumimoji="0" lang="pt-PT" altLang="pt-PT" sz="3200" b="0" i="0" u="none" strike="noStrike" cap="none" normalizeH="0" baseline="0" dirty="0" err="1">
                <a:ln>
                  <a:noFill/>
                </a:ln>
                <a:solidFill>
                  <a:schemeClr val="tx1"/>
                </a:solidFill>
                <a:effectLst/>
                <a:latin typeface="Arial" panose="020B0604020202020204" pitchFamily="34" charset="0"/>
              </a:rPr>
              <a:t>each</a:t>
            </a:r>
            <a:r>
              <a:rPr kumimoji="0" lang="pt-PT" altLang="pt-PT" sz="3200" b="0" i="0" u="none" strike="noStrike" cap="none" normalizeH="0" baseline="0" dirty="0">
                <a:ln>
                  <a:noFill/>
                </a:ln>
                <a:solidFill>
                  <a:schemeClr val="tx1"/>
                </a:solidFill>
                <a:effectLst/>
                <a:latin typeface="Arial" panose="020B0604020202020204" pitchFamily="34" charset="0"/>
              </a:rPr>
              <a:t> </a:t>
            </a:r>
            <a:r>
              <a:rPr kumimoji="0" lang="pt-PT" altLang="pt-PT" sz="3200" b="0" i="0" u="none" strike="noStrike" cap="none" normalizeH="0" baseline="0" dirty="0" err="1">
                <a:ln>
                  <a:noFill/>
                </a:ln>
                <a:solidFill>
                  <a:schemeClr val="tx1"/>
                </a:solidFill>
                <a:effectLst/>
                <a:latin typeface="Arial" panose="020B0604020202020204" pitchFamily="34" charset="0"/>
              </a:rPr>
              <a:t>metric</a:t>
            </a:r>
            <a:r>
              <a:rPr kumimoji="0" lang="pt-PT" altLang="pt-PT" sz="3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pt-PT" altLang="pt-PT"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PT" altLang="pt-PT" sz="900" b="1" i="0" u="none" strike="noStrike" cap="none" normalizeH="0" baseline="0" dirty="0">
                <a:ln>
                  <a:noFill/>
                </a:ln>
                <a:solidFill>
                  <a:schemeClr val="tx1"/>
                </a:solidFill>
                <a:effectLst/>
                <a:latin typeface="Arial" panose="020B0604020202020204" pitchFamily="34" charset="0"/>
              </a:rPr>
              <a:t>Slide 7: Insights </a:t>
            </a:r>
            <a:r>
              <a:rPr kumimoji="0" lang="pt-PT" altLang="pt-PT" sz="900" b="1" i="0" u="none" strike="noStrike" cap="none" normalizeH="0" baseline="0" dirty="0" err="1">
                <a:ln>
                  <a:noFill/>
                </a:ln>
                <a:solidFill>
                  <a:schemeClr val="tx1"/>
                </a:solidFill>
                <a:effectLst/>
                <a:latin typeface="Arial" panose="020B0604020202020204" pitchFamily="34" charset="0"/>
              </a:rPr>
              <a:t>and</a:t>
            </a:r>
            <a:r>
              <a:rPr kumimoji="0" lang="pt-PT" altLang="pt-PT" sz="900" b="1" i="0" u="none" strike="noStrike" cap="none" normalizeH="0" baseline="0" dirty="0">
                <a:ln>
                  <a:noFill/>
                </a:ln>
                <a:solidFill>
                  <a:schemeClr val="tx1"/>
                </a:solidFill>
                <a:effectLst/>
                <a:latin typeface="Arial" panose="020B0604020202020204" pitchFamily="34" charset="0"/>
              </a:rPr>
              <a:t> </a:t>
            </a:r>
            <a:r>
              <a:rPr kumimoji="0" lang="pt-PT" altLang="pt-PT" sz="900" b="1" i="0" u="none" strike="noStrike" cap="none" normalizeH="0" baseline="0" dirty="0" err="1">
                <a:ln>
                  <a:noFill/>
                </a:ln>
                <a:solidFill>
                  <a:schemeClr val="tx1"/>
                </a:solidFill>
                <a:effectLst/>
                <a:latin typeface="Arial" panose="020B0604020202020204" pitchFamily="34" charset="0"/>
              </a:rPr>
              <a:t>Recommendations</a:t>
            </a:r>
            <a:endParaRPr kumimoji="0" lang="pt-PT" altLang="pt-PT"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PT" altLang="pt-PT" sz="800" b="1" i="0" u="none" strike="noStrike" cap="none" normalizeH="0" baseline="0" dirty="0" err="1">
                <a:ln>
                  <a:noFill/>
                </a:ln>
                <a:solidFill>
                  <a:schemeClr val="tx1"/>
                </a:solidFill>
                <a:effectLst/>
                <a:latin typeface="Arial" panose="020B0604020202020204" pitchFamily="34" charset="0"/>
              </a:rPr>
              <a:t>Key</a:t>
            </a:r>
            <a:r>
              <a:rPr kumimoji="0" lang="pt-PT" altLang="pt-PT" sz="800" b="1" i="0" u="none" strike="noStrike" cap="none" normalizeH="0" baseline="0" dirty="0">
                <a:ln>
                  <a:noFill/>
                </a:ln>
                <a:solidFill>
                  <a:schemeClr val="tx1"/>
                </a:solidFill>
                <a:effectLst/>
                <a:latin typeface="Arial" panose="020B0604020202020204" pitchFamily="34" charset="0"/>
              </a:rPr>
              <a:t> Insights: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pt-PT" altLang="pt-PT" sz="800" b="1" i="0" u="none" strike="noStrike" cap="none" normalizeH="0" baseline="0" dirty="0" err="1">
                <a:ln>
                  <a:noFill/>
                </a:ln>
                <a:solidFill>
                  <a:schemeClr val="tx1"/>
                </a:solidFill>
                <a:effectLst/>
                <a:latin typeface="Arial" panose="020B0604020202020204" pitchFamily="34" charset="0"/>
              </a:rPr>
              <a:t>Balancing</a:t>
            </a:r>
            <a:r>
              <a:rPr kumimoji="0" lang="pt-PT" altLang="pt-PT" sz="800" b="1" i="0" u="none" strike="noStrike" cap="none" normalizeH="0" baseline="0" dirty="0">
                <a:ln>
                  <a:noFill/>
                </a:ln>
                <a:solidFill>
                  <a:schemeClr val="tx1"/>
                </a:solidFill>
                <a:effectLst/>
                <a:latin typeface="Arial" panose="020B0604020202020204" pitchFamily="34" charset="0"/>
              </a:rPr>
              <a:t> </a:t>
            </a:r>
            <a:r>
              <a:rPr kumimoji="0" lang="pt-PT" altLang="pt-PT" sz="800" b="1" i="0" u="none" strike="noStrike" cap="none" normalizeH="0" baseline="0" dirty="0" err="1">
                <a:ln>
                  <a:noFill/>
                </a:ln>
                <a:solidFill>
                  <a:schemeClr val="tx1"/>
                </a:solidFill>
                <a:effectLst/>
                <a:latin typeface="Arial" panose="020B0604020202020204" pitchFamily="34" charset="0"/>
              </a:rPr>
              <a:t>Methods</a:t>
            </a:r>
            <a:r>
              <a:rPr kumimoji="0" lang="pt-PT" altLang="pt-PT" sz="18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pt-PT" altLang="pt-PT" sz="1800" b="0" i="0" u="none" strike="noStrike" cap="none" normalizeH="0" baseline="0" dirty="0" err="1">
                <a:ln>
                  <a:noFill/>
                </a:ln>
                <a:solidFill>
                  <a:schemeClr val="tx1"/>
                </a:solidFill>
                <a:effectLst/>
                <a:latin typeface="Arial" panose="020B0604020202020204" pitchFamily="34" charset="0"/>
              </a:rPr>
              <a:t>Critical</a:t>
            </a:r>
            <a:r>
              <a:rPr kumimoji="0" lang="pt-PT" altLang="pt-PT" sz="1800" b="0" i="0" u="none" strike="noStrike" cap="none" normalizeH="0" baseline="0" dirty="0">
                <a:ln>
                  <a:noFill/>
                </a:ln>
                <a:solidFill>
                  <a:schemeClr val="tx1"/>
                </a:solidFill>
                <a:effectLst/>
                <a:latin typeface="Arial" panose="020B0604020202020204" pitchFamily="34" charset="0"/>
              </a:rPr>
              <a:t> for </a:t>
            </a:r>
            <a:r>
              <a:rPr kumimoji="0" lang="pt-PT" altLang="pt-PT" sz="1800" b="0" i="0" u="none" strike="noStrike" cap="none" normalizeH="0" baseline="0" dirty="0" err="1">
                <a:ln>
                  <a:noFill/>
                </a:ln>
                <a:solidFill>
                  <a:schemeClr val="tx1"/>
                </a:solidFill>
                <a:effectLst/>
                <a:latin typeface="Arial" panose="020B0604020202020204" pitchFamily="34" charset="0"/>
              </a:rPr>
              <a:t>improving</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Recall</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and</a:t>
            </a:r>
            <a:r>
              <a:rPr kumimoji="0" lang="pt-PT" altLang="pt-PT" sz="1800" b="0" i="0" u="none" strike="noStrike" cap="none" normalizeH="0" baseline="0" dirty="0">
                <a:ln>
                  <a:noFill/>
                </a:ln>
                <a:solidFill>
                  <a:schemeClr val="tx1"/>
                </a:solidFill>
                <a:effectLst/>
                <a:latin typeface="Arial" panose="020B0604020202020204" pitchFamily="34" charset="0"/>
              </a:rPr>
              <a:t> F1 Score in </a:t>
            </a:r>
            <a:r>
              <a:rPr kumimoji="0" lang="pt-PT" altLang="pt-PT" sz="1800" b="0" i="0" u="none" strike="noStrike" cap="none" normalizeH="0" baseline="0" dirty="0" err="1">
                <a:ln>
                  <a:noFill/>
                </a:ln>
                <a:solidFill>
                  <a:schemeClr val="tx1"/>
                </a:solidFill>
                <a:effectLst/>
                <a:latin typeface="Arial" panose="020B0604020202020204" pitchFamily="34" charset="0"/>
              </a:rPr>
              <a:t>both</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models</a:t>
            </a:r>
            <a:r>
              <a:rPr kumimoji="0" lang="pt-PT" altLang="pt-PT" sz="18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pt-PT" altLang="pt-PT" sz="1800" b="0" i="0" u="none" strike="noStrike" cap="none" normalizeH="0" baseline="0" dirty="0" err="1">
                <a:ln>
                  <a:noFill/>
                </a:ln>
                <a:solidFill>
                  <a:schemeClr val="tx1"/>
                </a:solidFill>
                <a:effectLst/>
                <a:latin typeface="Arial" panose="020B0604020202020204" pitchFamily="34" charset="0"/>
              </a:rPr>
              <a:t>Techniques</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like</a:t>
            </a:r>
            <a:r>
              <a:rPr kumimoji="0" lang="pt-PT" altLang="pt-PT" sz="1800" b="0" i="0" u="none" strike="noStrike" cap="none" normalizeH="0" baseline="0" dirty="0">
                <a:ln>
                  <a:noFill/>
                </a:ln>
                <a:solidFill>
                  <a:schemeClr val="tx1"/>
                </a:solidFill>
                <a:effectLst/>
                <a:latin typeface="Arial" panose="020B0604020202020204" pitchFamily="34" charset="0"/>
              </a:rPr>
              <a:t> B-SMOTE </a:t>
            </a:r>
            <a:r>
              <a:rPr kumimoji="0" lang="pt-PT" altLang="pt-PT" sz="1800" b="0" i="0" u="none" strike="noStrike" cap="none" normalizeH="0" baseline="0" dirty="0" err="1">
                <a:ln>
                  <a:noFill/>
                </a:ln>
                <a:solidFill>
                  <a:schemeClr val="tx1"/>
                </a:solidFill>
                <a:effectLst/>
                <a:latin typeface="Arial" panose="020B0604020202020204" pitchFamily="34" charset="0"/>
              </a:rPr>
              <a:t>and</a:t>
            </a:r>
            <a:r>
              <a:rPr kumimoji="0" lang="pt-PT" altLang="pt-PT" sz="1800" b="0" i="0" u="none" strike="noStrike" cap="none" normalizeH="0" baseline="0" dirty="0">
                <a:ln>
                  <a:noFill/>
                </a:ln>
                <a:solidFill>
                  <a:schemeClr val="tx1"/>
                </a:solidFill>
                <a:effectLst/>
                <a:latin typeface="Arial" panose="020B0604020202020204" pitchFamily="34" charset="0"/>
              </a:rPr>
              <a:t> ADASYN </a:t>
            </a:r>
            <a:r>
              <a:rPr kumimoji="0" lang="pt-PT" altLang="pt-PT" sz="1800" b="0" i="0" u="none" strike="noStrike" cap="none" normalizeH="0" baseline="0" dirty="0" err="1">
                <a:ln>
                  <a:noFill/>
                </a:ln>
                <a:solidFill>
                  <a:schemeClr val="tx1"/>
                </a:solidFill>
                <a:effectLst/>
                <a:latin typeface="Arial" panose="020B0604020202020204" pitchFamily="34" charset="0"/>
              </a:rPr>
              <a:t>performed</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consistently</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well</a:t>
            </a:r>
            <a:r>
              <a:rPr kumimoji="0" lang="pt-PT" altLang="pt-PT"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pt-PT" altLang="pt-PT" sz="1800" b="1" i="0" u="none" strike="noStrike" cap="none" normalizeH="0" baseline="0" dirty="0" err="1">
                <a:ln>
                  <a:noFill/>
                </a:ln>
                <a:solidFill>
                  <a:schemeClr val="tx1"/>
                </a:solidFill>
                <a:effectLst/>
                <a:latin typeface="Arial" panose="020B0604020202020204" pitchFamily="34" charset="0"/>
              </a:rPr>
              <a:t>Model-Specific</a:t>
            </a:r>
            <a:r>
              <a:rPr kumimoji="0" lang="pt-PT" altLang="pt-PT" sz="1800" b="1" i="0" u="none" strike="noStrike" cap="none" normalizeH="0" baseline="0" dirty="0">
                <a:ln>
                  <a:noFill/>
                </a:ln>
                <a:solidFill>
                  <a:schemeClr val="tx1"/>
                </a:solidFill>
                <a:effectLst/>
                <a:latin typeface="Arial" panose="020B0604020202020204" pitchFamily="34" charset="0"/>
              </a:rPr>
              <a:t> </a:t>
            </a:r>
            <a:r>
              <a:rPr kumimoji="0" lang="pt-PT" altLang="pt-PT" sz="1800" b="1" i="0" u="none" strike="noStrike" cap="none" normalizeH="0" baseline="0" dirty="0" err="1">
                <a:ln>
                  <a:noFill/>
                </a:ln>
                <a:solidFill>
                  <a:schemeClr val="tx1"/>
                </a:solidFill>
                <a:effectLst/>
                <a:latin typeface="Arial" panose="020B0604020202020204" pitchFamily="34" charset="0"/>
              </a:rPr>
              <a:t>Findings</a:t>
            </a:r>
            <a:r>
              <a:rPr kumimoji="0" lang="pt-PT" altLang="pt-PT" sz="18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pt-PT" altLang="pt-PT" sz="1800" b="1" i="0" u="none" strike="noStrike" cap="none" normalizeH="0" baseline="0" dirty="0" err="1">
                <a:ln>
                  <a:noFill/>
                </a:ln>
                <a:solidFill>
                  <a:schemeClr val="tx1"/>
                </a:solidFill>
                <a:effectLst/>
                <a:latin typeface="Arial" panose="020B0604020202020204" pitchFamily="34" charset="0"/>
              </a:rPr>
              <a:t>Random</a:t>
            </a:r>
            <a:r>
              <a:rPr kumimoji="0" lang="pt-PT" altLang="pt-PT" sz="1800" b="1" i="0" u="none" strike="noStrike" cap="none" normalizeH="0" baseline="0" dirty="0">
                <a:ln>
                  <a:noFill/>
                </a:ln>
                <a:solidFill>
                  <a:schemeClr val="tx1"/>
                </a:solidFill>
                <a:effectLst/>
                <a:latin typeface="Arial" panose="020B0604020202020204" pitchFamily="34" charset="0"/>
              </a:rPr>
              <a:t> </a:t>
            </a:r>
            <a:r>
              <a:rPr kumimoji="0" lang="pt-PT" altLang="pt-PT" sz="1800" b="1" i="0" u="none" strike="noStrike" cap="none" normalizeH="0" baseline="0" dirty="0" err="1">
                <a:ln>
                  <a:noFill/>
                </a:ln>
                <a:solidFill>
                  <a:schemeClr val="tx1"/>
                </a:solidFill>
                <a:effectLst/>
                <a:latin typeface="Arial" panose="020B0604020202020204" pitchFamily="34" charset="0"/>
              </a:rPr>
              <a:t>Forest</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Sensitive</a:t>
            </a:r>
            <a:r>
              <a:rPr kumimoji="0" lang="pt-PT" altLang="pt-PT" sz="1800" b="0" i="0" u="none" strike="noStrike" cap="none" normalizeH="0" baseline="0" dirty="0">
                <a:ln>
                  <a:noFill/>
                </a:ln>
                <a:solidFill>
                  <a:schemeClr val="tx1"/>
                </a:solidFill>
                <a:effectLst/>
                <a:latin typeface="Arial" panose="020B0604020202020204" pitchFamily="34" charset="0"/>
              </a:rPr>
              <a:t> to noise; </a:t>
            </a:r>
            <a:r>
              <a:rPr kumimoji="0" lang="pt-PT" altLang="pt-PT" sz="1800" b="0" i="0" u="none" strike="noStrike" cap="none" normalizeH="0" baseline="0" dirty="0" err="1">
                <a:ln>
                  <a:noFill/>
                </a:ln>
                <a:solidFill>
                  <a:schemeClr val="tx1"/>
                </a:solidFill>
                <a:effectLst/>
                <a:latin typeface="Arial" panose="020B0604020202020204" pitchFamily="34" charset="0"/>
              </a:rPr>
              <a:t>balancing</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improved</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Recall</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at</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the</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cost</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of</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Precision</a:t>
            </a:r>
            <a:r>
              <a:rPr kumimoji="0" lang="pt-PT" altLang="pt-PT" sz="18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pt-PT" altLang="pt-PT" sz="1800" b="1" i="0" u="none" strike="noStrike" cap="none" normalizeH="0" baseline="0" dirty="0" err="1">
                <a:ln>
                  <a:noFill/>
                </a:ln>
                <a:solidFill>
                  <a:schemeClr val="tx1"/>
                </a:solidFill>
                <a:effectLst/>
                <a:latin typeface="Arial" panose="020B0604020202020204" pitchFamily="34" charset="0"/>
              </a:rPr>
              <a:t>XGBoost</a:t>
            </a:r>
            <a:r>
              <a:rPr kumimoji="0" lang="pt-PT" altLang="pt-PT" sz="1800" b="0" i="0" u="none" strike="noStrike" cap="none" normalizeH="0" baseline="0" dirty="0">
                <a:ln>
                  <a:noFill/>
                </a:ln>
                <a:solidFill>
                  <a:schemeClr val="tx1"/>
                </a:solidFill>
                <a:effectLst/>
                <a:latin typeface="Arial" panose="020B0604020202020204" pitchFamily="34" charset="0"/>
              </a:rPr>
              <a:t>: More </a:t>
            </a:r>
            <a:r>
              <a:rPr kumimoji="0" lang="pt-PT" altLang="pt-PT" sz="1800" b="0" i="0" u="none" strike="noStrike" cap="none" normalizeH="0" baseline="0" dirty="0" err="1">
                <a:ln>
                  <a:noFill/>
                </a:ln>
                <a:solidFill>
                  <a:schemeClr val="tx1"/>
                </a:solidFill>
                <a:effectLst/>
                <a:latin typeface="Arial" panose="020B0604020202020204" pitchFamily="34" charset="0"/>
              </a:rPr>
              <a:t>robust</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showing</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consistent</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gains</a:t>
            </a:r>
            <a:r>
              <a:rPr kumimoji="0" lang="pt-PT" altLang="pt-PT" sz="1800" b="0" i="0" u="none" strike="noStrike" cap="none" normalizeH="0" baseline="0" dirty="0">
                <a:ln>
                  <a:noFill/>
                </a:ln>
                <a:solidFill>
                  <a:schemeClr val="tx1"/>
                </a:solidFill>
                <a:effectLst/>
                <a:latin typeface="Arial" panose="020B0604020202020204" pitchFamily="34" charset="0"/>
              </a:rPr>
              <a:t> in </a:t>
            </a:r>
            <a:r>
              <a:rPr kumimoji="0" lang="pt-PT" altLang="pt-PT" sz="1800" b="0" i="0" u="none" strike="noStrike" cap="none" normalizeH="0" baseline="0" dirty="0" err="1">
                <a:ln>
                  <a:noFill/>
                </a:ln>
                <a:solidFill>
                  <a:schemeClr val="tx1"/>
                </a:solidFill>
                <a:effectLst/>
                <a:latin typeface="Arial" panose="020B0604020202020204" pitchFamily="34" charset="0"/>
              </a:rPr>
              <a:t>Recall</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and</a:t>
            </a:r>
            <a:r>
              <a:rPr kumimoji="0" lang="pt-PT" altLang="pt-PT" sz="1800" b="0" i="0" u="none" strike="noStrike" cap="none" normalizeH="0" baseline="0" dirty="0">
                <a:ln>
                  <a:noFill/>
                </a:ln>
                <a:solidFill>
                  <a:schemeClr val="tx1"/>
                </a:solidFill>
                <a:effectLst/>
                <a:latin typeface="Arial" panose="020B0604020202020204" pitchFamily="34" charset="0"/>
              </a:rPr>
              <a:t> AUPRCC.</a:t>
            </a:r>
          </a:p>
          <a:p>
            <a:pPr marL="0" marR="0" lvl="0" indent="0" algn="l" defTabSz="914400" rtl="0" eaLnBrk="0" fontAlgn="base" latinLnBrk="0" hangingPunct="0">
              <a:lnSpc>
                <a:spcPct val="100000"/>
              </a:lnSpc>
              <a:spcBef>
                <a:spcPct val="0"/>
              </a:spcBef>
              <a:spcAft>
                <a:spcPct val="0"/>
              </a:spcAft>
              <a:buClrTx/>
              <a:buSzTx/>
              <a:buFontTx/>
              <a:buNone/>
              <a:tabLst/>
            </a:pPr>
            <a:r>
              <a:rPr kumimoji="0" lang="pt-PT" altLang="pt-PT" sz="800" b="1" i="0" u="none" strike="noStrike" cap="none" normalizeH="0" baseline="0" dirty="0" err="1">
                <a:ln>
                  <a:noFill/>
                </a:ln>
                <a:solidFill>
                  <a:schemeClr val="tx1"/>
                </a:solidFill>
                <a:effectLst/>
                <a:latin typeface="Arial" panose="020B0604020202020204" pitchFamily="34" charset="0"/>
              </a:rPr>
              <a:t>Recommendations</a:t>
            </a:r>
            <a:r>
              <a:rPr kumimoji="0" lang="pt-PT" altLang="pt-PT" sz="800" b="1"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800" b="0" i="0" u="none" strike="noStrike" cap="none" normalizeH="0" baseline="0" dirty="0" err="1">
                <a:ln>
                  <a:noFill/>
                </a:ln>
                <a:solidFill>
                  <a:schemeClr val="tx1"/>
                </a:solidFill>
                <a:effectLst/>
                <a:latin typeface="Arial" panose="020B0604020202020204" pitchFamily="34" charset="0"/>
              </a:rPr>
              <a:t>Prioritize</a:t>
            </a:r>
            <a:r>
              <a:rPr kumimoji="0" lang="pt-PT" altLang="pt-PT" sz="800" b="0" i="0" u="none" strike="noStrike" cap="none" normalizeH="0" baseline="0" dirty="0">
                <a:ln>
                  <a:noFill/>
                </a:ln>
                <a:solidFill>
                  <a:schemeClr val="tx1"/>
                </a:solidFill>
                <a:effectLst/>
                <a:latin typeface="Arial" panose="020B0604020202020204" pitchFamily="34" charset="0"/>
              </a:rPr>
              <a:t> B-SMOTE </a:t>
            </a:r>
            <a:r>
              <a:rPr kumimoji="0" lang="pt-PT" altLang="pt-PT" sz="800" b="0" i="0" u="none" strike="noStrike" cap="none" normalizeH="0" baseline="0" dirty="0" err="1">
                <a:ln>
                  <a:noFill/>
                </a:ln>
                <a:solidFill>
                  <a:schemeClr val="tx1"/>
                </a:solidFill>
                <a:effectLst/>
                <a:latin typeface="Arial" panose="020B0604020202020204" pitchFamily="34" charset="0"/>
              </a:rPr>
              <a:t>and</a:t>
            </a:r>
            <a:r>
              <a:rPr kumimoji="0" lang="pt-PT" altLang="pt-PT" sz="800" b="0" i="0" u="none" strike="noStrike" cap="none" normalizeH="0" baseline="0" dirty="0">
                <a:ln>
                  <a:noFill/>
                </a:ln>
                <a:solidFill>
                  <a:schemeClr val="tx1"/>
                </a:solidFill>
                <a:effectLst/>
                <a:latin typeface="Arial" panose="020B0604020202020204" pitchFamily="34" charset="0"/>
              </a:rPr>
              <a:t> ADASYN for </a:t>
            </a:r>
            <a:r>
              <a:rPr kumimoji="0" lang="pt-PT" altLang="pt-PT" sz="800" b="0" i="0" u="none" strike="noStrike" cap="none" normalizeH="0" baseline="0" dirty="0" err="1">
                <a:ln>
                  <a:noFill/>
                </a:ln>
                <a:solidFill>
                  <a:schemeClr val="tx1"/>
                </a:solidFill>
                <a:effectLst/>
                <a:latin typeface="Arial" panose="020B0604020202020204" pitchFamily="34" charset="0"/>
              </a:rPr>
              <a:t>fraud</a:t>
            </a:r>
            <a:r>
              <a:rPr kumimoji="0" lang="pt-PT" altLang="pt-PT" sz="800" b="0" i="0" u="none" strike="noStrike" cap="none" normalizeH="0" baseline="0" dirty="0">
                <a:ln>
                  <a:noFill/>
                </a:ln>
                <a:solidFill>
                  <a:schemeClr val="tx1"/>
                </a:solidFill>
                <a:effectLst/>
                <a:latin typeface="Arial" panose="020B0604020202020204" pitchFamily="34" charset="0"/>
              </a:rPr>
              <a:t> </a:t>
            </a:r>
            <a:r>
              <a:rPr kumimoji="0" lang="pt-PT" altLang="pt-PT" sz="800" b="0" i="0" u="none" strike="noStrike" cap="none" normalizeH="0" baseline="0" dirty="0" err="1">
                <a:ln>
                  <a:noFill/>
                </a:ln>
                <a:solidFill>
                  <a:schemeClr val="tx1"/>
                </a:solidFill>
                <a:effectLst/>
                <a:latin typeface="Arial" panose="020B0604020202020204" pitchFamily="34" charset="0"/>
              </a:rPr>
              <a:t>detection</a:t>
            </a:r>
            <a:r>
              <a:rPr kumimoji="0" lang="pt-PT" altLang="pt-PT" sz="800" b="0" i="0" u="none" strike="noStrike" cap="none" normalizeH="0" baseline="0" dirty="0">
                <a:ln>
                  <a:noFill/>
                </a:ln>
                <a:solidFill>
                  <a:schemeClr val="tx1"/>
                </a:solidFill>
                <a:effectLst/>
                <a:latin typeface="Arial" panose="020B0604020202020204" pitchFamily="34" charset="0"/>
              </a:rPr>
              <a:t> </a:t>
            </a:r>
            <a:r>
              <a:rPr kumimoji="0" lang="pt-PT" altLang="pt-PT" sz="800" b="0" i="0" u="none" strike="noStrike" cap="none" normalizeH="0" baseline="0" dirty="0" err="1">
                <a:ln>
                  <a:noFill/>
                </a:ln>
                <a:solidFill>
                  <a:schemeClr val="tx1"/>
                </a:solidFill>
                <a:effectLst/>
                <a:latin typeface="Arial" panose="020B0604020202020204" pitchFamily="34" charset="0"/>
              </a:rPr>
              <a:t>tasks</a:t>
            </a:r>
            <a:r>
              <a:rPr kumimoji="0" lang="pt-PT" altLang="pt-PT" sz="800" b="0" i="0" u="none" strike="noStrike" cap="none" normalizeH="0" baseline="0" dirty="0">
                <a:ln>
                  <a:noFill/>
                </a:ln>
                <a:solidFill>
                  <a:schemeClr val="tx1"/>
                </a:solidFill>
                <a:effectLst/>
                <a:latin typeface="Arial" panose="020B0604020202020204" pitchFamily="34" charset="0"/>
              </a:rPr>
              <a:t>.</a:t>
            </a:r>
            <a:endParaRPr kumimoji="0" lang="pt-PT" altLang="pt-PT"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800" b="0" i="0" u="none" strike="noStrike" cap="none" normalizeH="0" baseline="0" dirty="0">
                <a:ln>
                  <a:noFill/>
                </a:ln>
                <a:solidFill>
                  <a:schemeClr val="tx1"/>
                </a:solidFill>
                <a:effectLst/>
                <a:latin typeface="Arial" panose="020B0604020202020204" pitchFamily="34" charset="0"/>
              </a:rPr>
              <a:t>Combine </a:t>
            </a:r>
            <a:r>
              <a:rPr kumimoji="0" lang="pt-PT" altLang="pt-PT" sz="1800" b="0" i="0" u="none" strike="noStrike" cap="none" normalizeH="0" baseline="0" dirty="0" err="1">
                <a:ln>
                  <a:noFill/>
                </a:ln>
                <a:solidFill>
                  <a:schemeClr val="tx1"/>
                </a:solidFill>
                <a:effectLst/>
                <a:latin typeface="Arial" panose="020B0604020202020204" pitchFamily="34" charset="0"/>
              </a:rPr>
              <a:t>multiple</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metrics</a:t>
            </a:r>
            <a:r>
              <a:rPr kumimoji="0" lang="pt-PT" altLang="pt-PT" sz="1800" b="0" i="0" u="none" strike="noStrike" cap="none" normalizeH="0" baseline="0" dirty="0">
                <a:ln>
                  <a:noFill/>
                </a:ln>
                <a:solidFill>
                  <a:schemeClr val="tx1"/>
                </a:solidFill>
                <a:effectLst/>
                <a:latin typeface="Arial" panose="020B0604020202020204" pitchFamily="34" charset="0"/>
              </a:rPr>
              <a:t> (F1, AUPRCC) for a </a:t>
            </a:r>
            <a:r>
              <a:rPr kumimoji="0" lang="pt-PT" altLang="pt-PT" sz="1800" b="0" i="0" u="none" strike="noStrike" cap="none" normalizeH="0" baseline="0" dirty="0" err="1">
                <a:ln>
                  <a:noFill/>
                </a:ln>
                <a:solidFill>
                  <a:schemeClr val="tx1"/>
                </a:solidFill>
                <a:effectLst/>
                <a:latin typeface="Arial" panose="020B0604020202020204" pitchFamily="34" charset="0"/>
              </a:rPr>
              <a:t>comprehensive</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evaluation</a:t>
            </a:r>
            <a:r>
              <a:rPr kumimoji="0" lang="pt-PT" altLang="pt-PT"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PT" altLang="pt-PT" sz="1800" b="0" i="0" u="none" strike="noStrike" cap="none" normalizeH="0" baseline="0" dirty="0">
                <a:ln>
                  <a:noFill/>
                </a:ln>
                <a:solidFill>
                  <a:schemeClr val="tx1"/>
                </a:solidFill>
                <a:effectLst/>
                <a:latin typeface="Arial" panose="020B0604020202020204" pitchFamily="34" charset="0"/>
              </a:rPr>
              <a:t>Use </a:t>
            </a:r>
            <a:r>
              <a:rPr kumimoji="0" lang="pt-PT" altLang="pt-PT" sz="1800" b="0" i="0" u="none" strike="noStrike" cap="none" normalizeH="0" baseline="0" dirty="0" err="1">
                <a:ln>
                  <a:noFill/>
                </a:ln>
                <a:solidFill>
                  <a:schemeClr val="tx1"/>
                </a:solidFill>
                <a:effectLst/>
                <a:latin typeface="Arial" panose="020B0604020202020204" pitchFamily="34" charset="0"/>
              </a:rPr>
              <a:t>XGBoost</a:t>
            </a:r>
            <a:r>
              <a:rPr kumimoji="0" lang="pt-PT" altLang="pt-PT" sz="1800" b="0" i="0" u="none" strike="noStrike" cap="none" normalizeH="0" baseline="0" dirty="0">
                <a:ln>
                  <a:noFill/>
                </a:ln>
                <a:solidFill>
                  <a:schemeClr val="tx1"/>
                </a:solidFill>
                <a:effectLst/>
                <a:latin typeface="Arial" panose="020B0604020202020204" pitchFamily="34" charset="0"/>
              </a:rPr>
              <a:t> for </a:t>
            </a:r>
            <a:r>
              <a:rPr kumimoji="0" lang="pt-PT" altLang="pt-PT" sz="1800" b="0" i="0" u="none" strike="noStrike" cap="none" normalizeH="0" baseline="0" dirty="0" err="1">
                <a:ln>
                  <a:noFill/>
                </a:ln>
                <a:solidFill>
                  <a:schemeClr val="tx1"/>
                </a:solidFill>
                <a:effectLst/>
                <a:latin typeface="Arial" panose="020B0604020202020204" pitchFamily="34" charset="0"/>
              </a:rPr>
              <a:t>robust</a:t>
            </a:r>
            <a:r>
              <a:rPr kumimoji="0" lang="pt-PT" altLang="pt-PT" sz="1800" b="0" i="0" u="none" strike="noStrike" cap="none" normalizeH="0" baseline="0" dirty="0">
                <a:ln>
                  <a:noFill/>
                </a:ln>
                <a:solidFill>
                  <a:schemeClr val="tx1"/>
                </a:solidFill>
                <a:effectLst/>
                <a:latin typeface="Arial" panose="020B0604020202020204" pitchFamily="34" charset="0"/>
              </a:rPr>
              <a:t> performance in </a:t>
            </a:r>
            <a:r>
              <a:rPr kumimoji="0" lang="pt-PT" altLang="pt-PT" sz="1800" b="0" i="0" u="none" strike="noStrike" cap="none" normalizeH="0" baseline="0" dirty="0" err="1">
                <a:ln>
                  <a:noFill/>
                </a:ln>
                <a:solidFill>
                  <a:schemeClr val="tx1"/>
                </a:solidFill>
                <a:effectLst/>
                <a:latin typeface="Arial" panose="020B0604020202020204" pitchFamily="34" charset="0"/>
              </a:rPr>
              <a:t>imbalanced</a:t>
            </a:r>
            <a:r>
              <a:rPr kumimoji="0" lang="pt-PT" altLang="pt-PT" sz="1800" b="0" i="0" u="none" strike="noStrike" cap="none" normalizeH="0" baseline="0" dirty="0">
                <a:ln>
                  <a:noFill/>
                </a:ln>
                <a:solidFill>
                  <a:schemeClr val="tx1"/>
                </a:solidFill>
                <a:effectLst/>
                <a:latin typeface="Arial" panose="020B0604020202020204" pitchFamily="34" charset="0"/>
              </a:rPr>
              <a:t> </a:t>
            </a:r>
            <a:r>
              <a:rPr kumimoji="0" lang="pt-PT" altLang="pt-PT" sz="1800" b="0" i="0" u="none" strike="noStrike" cap="none" normalizeH="0" baseline="0" dirty="0" err="1">
                <a:ln>
                  <a:noFill/>
                </a:ln>
                <a:solidFill>
                  <a:schemeClr val="tx1"/>
                </a:solidFill>
                <a:effectLst/>
                <a:latin typeface="Arial" panose="020B0604020202020204" pitchFamily="34" charset="0"/>
              </a:rPr>
              <a:t>datasets</a:t>
            </a:r>
            <a:r>
              <a:rPr kumimoji="0" lang="pt-PT" altLang="pt-PT"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pt-PT" altLang="pt-PT" sz="3200" b="0" i="0" u="none" strike="noStrike" cap="none" normalizeH="0" baseline="0" dirty="0">
              <a:ln>
                <a:noFill/>
              </a:ln>
              <a:solidFill>
                <a:schemeClr val="tx1"/>
              </a:solidFill>
              <a:effectLst/>
              <a:latin typeface="Arial" panose="020B0604020202020204" pitchFamily="34" charset="0"/>
            </a:endParaRPr>
          </a:p>
          <a:p>
            <a:endParaRPr lang="pt-PT" dirty="0"/>
          </a:p>
        </p:txBody>
      </p:sp>
      <p:sp>
        <p:nvSpPr>
          <p:cNvPr id="4" name="Marcador de Posição do Número do Diapositivo 3"/>
          <p:cNvSpPr>
            <a:spLocks noGrp="1"/>
          </p:cNvSpPr>
          <p:nvPr>
            <p:ph type="sldNum" sz="quarter" idx="5"/>
          </p:nvPr>
        </p:nvSpPr>
        <p:spPr/>
        <p:txBody>
          <a:bodyPr/>
          <a:lstStyle/>
          <a:p>
            <a:fld id="{021B9CEB-BF53-49FC-B677-A6A019229240}" type="slidenum">
              <a:rPr lang="pt-PT" smtClean="0"/>
              <a:t>22</a:t>
            </a:fld>
            <a:endParaRPr lang="pt-PT"/>
          </a:p>
        </p:txBody>
      </p:sp>
    </p:spTree>
    <p:extLst>
      <p:ext uri="{BB962C8B-B14F-4D97-AF65-F5344CB8AC3E}">
        <p14:creationId xmlns:p14="http://schemas.microsoft.com/office/powerpoint/2010/main" val="17785566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393C0-990B-19AB-4E2E-6B0CAEC8CDF8}"/>
            </a:ext>
          </a:extLst>
        </p:cNvPr>
        <p:cNvGrpSpPr/>
        <p:nvPr/>
      </p:nvGrpSpPr>
      <p:grpSpPr>
        <a:xfrm>
          <a:off x="0" y="0"/>
          <a:ext cx="0" cy="0"/>
          <a:chOff x="0" y="0"/>
          <a:chExt cx="0" cy="0"/>
        </a:xfrm>
      </p:grpSpPr>
      <p:sp>
        <p:nvSpPr>
          <p:cNvPr id="2" name="Marcador de Posição da Imagem do Diapositivo 1">
            <a:extLst>
              <a:ext uri="{FF2B5EF4-FFF2-40B4-BE49-F238E27FC236}">
                <a16:creationId xmlns:a16="http://schemas.microsoft.com/office/drawing/2014/main" id="{EA3ADC42-DD91-8282-32B5-20D86E3B6C03}"/>
              </a:ext>
            </a:extLst>
          </p:cNvPr>
          <p:cNvSpPr>
            <a:spLocks noGrp="1" noRot="1" noChangeAspect="1"/>
          </p:cNvSpPr>
          <p:nvPr>
            <p:ph type="sldImg"/>
          </p:nvPr>
        </p:nvSpPr>
        <p:spPr/>
      </p:sp>
      <p:sp>
        <p:nvSpPr>
          <p:cNvPr id="3" name="Marcador de Posição de Notas 2">
            <a:extLst>
              <a:ext uri="{FF2B5EF4-FFF2-40B4-BE49-F238E27FC236}">
                <a16:creationId xmlns:a16="http://schemas.microsoft.com/office/drawing/2014/main" id="{33C0F3E0-5D38-2B93-B548-05F7E8DC1275}"/>
              </a:ext>
            </a:extLst>
          </p:cNvPr>
          <p:cNvSpPr>
            <a:spLocks noGrp="1"/>
          </p:cNvSpPr>
          <p:nvPr>
            <p:ph type="body" idx="1"/>
          </p:nvPr>
        </p:nvSpPr>
        <p:spPr/>
        <p:txBody>
          <a:bodyPr/>
          <a:lstStyle/>
          <a:p>
            <a:r>
              <a:rPr lang="pt-PT" b="1" dirty="0"/>
              <a:t>MATHEUS</a:t>
            </a:r>
          </a:p>
          <a:p>
            <a:r>
              <a:rPr lang="pt-PT" b="1" dirty="0" err="1"/>
              <a:t>Objective</a:t>
            </a:r>
            <a:r>
              <a:rPr lang="pt-PT" b="1" dirty="0"/>
              <a:t>:</a:t>
            </a:r>
          </a:p>
          <a:p>
            <a:pPr>
              <a:buFont typeface="Arial" panose="020B0604020202020204" pitchFamily="34" charset="0"/>
              <a:buChar char="•"/>
            </a:pPr>
            <a:r>
              <a:rPr lang="pt-PT" dirty="0"/>
              <a:t>Examine </a:t>
            </a:r>
            <a:r>
              <a:rPr lang="pt-PT" dirty="0" err="1"/>
              <a:t>dataset</a:t>
            </a:r>
            <a:r>
              <a:rPr lang="pt-PT" dirty="0"/>
              <a:t> </a:t>
            </a:r>
            <a:r>
              <a:rPr lang="pt-PT" dirty="0" err="1"/>
              <a:t>instance</a:t>
            </a:r>
            <a:r>
              <a:rPr lang="pt-PT" dirty="0"/>
              <a:t> </a:t>
            </a:r>
            <a:r>
              <a:rPr lang="pt-PT" dirty="0" err="1"/>
              <a:t>difficulty</a:t>
            </a:r>
            <a:r>
              <a:rPr lang="pt-PT" dirty="0"/>
              <a:t> </a:t>
            </a:r>
            <a:r>
              <a:rPr lang="pt-PT" dirty="0" err="1"/>
              <a:t>using</a:t>
            </a:r>
            <a:r>
              <a:rPr lang="pt-PT" dirty="0"/>
              <a:t> </a:t>
            </a:r>
            <a:r>
              <a:rPr lang="pt-PT" b="1" dirty="0" err="1"/>
              <a:t>PyHard</a:t>
            </a:r>
            <a:r>
              <a:rPr lang="pt-PT" b="1" dirty="0"/>
              <a:t> </a:t>
            </a:r>
            <a:r>
              <a:rPr lang="pt-PT" b="1" dirty="0" err="1"/>
              <a:t>metrics</a:t>
            </a:r>
            <a:r>
              <a:rPr lang="pt-PT" dirty="0"/>
              <a:t>.</a:t>
            </a:r>
          </a:p>
          <a:p>
            <a:pPr>
              <a:buFont typeface="Arial" panose="020B0604020202020204" pitchFamily="34" charset="0"/>
              <a:buChar char="•"/>
            </a:pPr>
            <a:r>
              <a:rPr lang="pt-PT" dirty="0" err="1"/>
              <a:t>Assess</a:t>
            </a:r>
            <a:r>
              <a:rPr lang="pt-PT" dirty="0"/>
              <a:t> </a:t>
            </a:r>
            <a:r>
              <a:rPr lang="pt-PT" dirty="0" err="1"/>
              <a:t>the</a:t>
            </a:r>
            <a:r>
              <a:rPr lang="pt-PT" dirty="0"/>
              <a:t> </a:t>
            </a:r>
            <a:r>
              <a:rPr lang="pt-PT" dirty="0" err="1"/>
              <a:t>impact</a:t>
            </a:r>
            <a:r>
              <a:rPr lang="pt-PT" dirty="0"/>
              <a:t> </a:t>
            </a:r>
            <a:r>
              <a:rPr lang="pt-PT" dirty="0" err="1"/>
              <a:t>of</a:t>
            </a:r>
            <a:r>
              <a:rPr lang="pt-PT" dirty="0"/>
              <a:t> </a:t>
            </a:r>
            <a:r>
              <a:rPr lang="pt-PT" b="1" dirty="0"/>
              <a:t>BC-SMOTE</a:t>
            </a:r>
            <a:r>
              <a:rPr lang="pt-PT" dirty="0"/>
              <a:t> </a:t>
            </a:r>
            <a:r>
              <a:rPr lang="pt-PT" dirty="0" err="1"/>
              <a:t>and</a:t>
            </a:r>
            <a:r>
              <a:rPr lang="pt-PT" dirty="0"/>
              <a:t> </a:t>
            </a:r>
            <a:r>
              <a:rPr lang="pt-PT" b="1" dirty="0" err="1"/>
              <a:t>Tomek</a:t>
            </a:r>
            <a:r>
              <a:rPr lang="pt-PT" b="1" dirty="0"/>
              <a:t> Links</a:t>
            </a:r>
            <a:r>
              <a:rPr lang="pt-PT" dirty="0"/>
              <a:t> </a:t>
            </a:r>
            <a:r>
              <a:rPr lang="pt-PT" dirty="0" err="1"/>
              <a:t>on</a:t>
            </a:r>
            <a:r>
              <a:rPr lang="pt-PT" dirty="0"/>
              <a:t> </a:t>
            </a:r>
            <a:r>
              <a:rPr lang="pt-PT" dirty="0" err="1"/>
              <a:t>dataset</a:t>
            </a:r>
            <a:r>
              <a:rPr lang="pt-PT" dirty="0"/>
              <a:t> </a:t>
            </a:r>
            <a:r>
              <a:rPr lang="pt-PT" dirty="0" err="1"/>
              <a:t>quality</a:t>
            </a:r>
            <a:r>
              <a:rPr lang="pt-PT" dirty="0"/>
              <a:t> </a:t>
            </a:r>
            <a:r>
              <a:rPr lang="pt-PT" dirty="0" err="1"/>
              <a:t>and</a:t>
            </a:r>
            <a:r>
              <a:rPr lang="pt-PT" dirty="0"/>
              <a:t> </a:t>
            </a:r>
            <a:r>
              <a:rPr lang="pt-PT" dirty="0" err="1"/>
              <a:t>model</a:t>
            </a:r>
            <a:r>
              <a:rPr lang="pt-PT" dirty="0"/>
              <a:t> performance.</a:t>
            </a:r>
          </a:p>
          <a:p>
            <a:r>
              <a:rPr lang="pt-PT" b="1" dirty="0" err="1"/>
              <a:t>Key</a:t>
            </a:r>
            <a:r>
              <a:rPr lang="pt-PT" b="1" dirty="0"/>
              <a:t> </a:t>
            </a:r>
            <a:r>
              <a:rPr lang="pt-PT" b="1" dirty="0" err="1"/>
              <a:t>Concepts</a:t>
            </a:r>
            <a:r>
              <a:rPr lang="pt-PT" b="1" dirty="0"/>
              <a:t>:</a:t>
            </a:r>
          </a:p>
          <a:p>
            <a:pPr>
              <a:buFont typeface="Arial" panose="020B0604020202020204" pitchFamily="34" charset="0"/>
              <a:buChar char="•"/>
            </a:pPr>
            <a:r>
              <a:rPr lang="pt-PT" b="1" dirty="0" err="1"/>
              <a:t>Hardness</a:t>
            </a:r>
            <a:r>
              <a:rPr lang="pt-PT" b="1" dirty="0"/>
              <a:t> </a:t>
            </a:r>
            <a:r>
              <a:rPr lang="pt-PT" b="1" dirty="0" err="1"/>
              <a:t>Analysis</a:t>
            </a:r>
            <a:r>
              <a:rPr lang="pt-PT" dirty="0"/>
              <a:t>:</a:t>
            </a:r>
          </a:p>
          <a:p>
            <a:pPr marL="742950" lvl="1" indent="-285750">
              <a:buFont typeface="Arial" panose="020B0604020202020204" pitchFamily="34" charset="0"/>
              <a:buChar char="•"/>
            </a:pPr>
            <a:r>
              <a:rPr lang="pt-PT" dirty="0" err="1"/>
              <a:t>Identifies</a:t>
            </a:r>
            <a:r>
              <a:rPr lang="pt-PT" dirty="0"/>
              <a:t> </a:t>
            </a:r>
            <a:r>
              <a:rPr lang="pt-PT" dirty="0" err="1"/>
              <a:t>difficult</a:t>
            </a:r>
            <a:r>
              <a:rPr lang="pt-PT" dirty="0"/>
              <a:t>-to-</a:t>
            </a:r>
            <a:r>
              <a:rPr lang="pt-PT" dirty="0" err="1"/>
              <a:t>classify</a:t>
            </a:r>
            <a:r>
              <a:rPr lang="pt-PT" dirty="0"/>
              <a:t> </a:t>
            </a:r>
            <a:r>
              <a:rPr lang="pt-PT" dirty="0" err="1"/>
              <a:t>instances</a:t>
            </a:r>
            <a:r>
              <a:rPr lang="pt-PT" dirty="0"/>
              <a:t>.</a:t>
            </a:r>
          </a:p>
          <a:p>
            <a:pPr marL="742950" lvl="1" indent="-285750">
              <a:buFont typeface="Arial" panose="020B0604020202020204" pitchFamily="34" charset="0"/>
              <a:buChar char="•"/>
            </a:pPr>
            <a:r>
              <a:rPr lang="pt-PT" dirty="0" err="1"/>
              <a:t>Focus</a:t>
            </a:r>
            <a:r>
              <a:rPr lang="pt-PT" dirty="0"/>
              <a:t> </a:t>
            </a:r>
            <a:r>
              <a:rPr lang="pt-PT" dirty="0" err="1"/>
              <a:t>on</a:t>
            </a:r>
            <a:r>
              <a:rPr lang="pt-PT" dirty="0"/>
              <a:t> </a:t>
            </a:r>
            <a:r>
              <a:rPr lang="pt-PT" dirty="0" err="1"/>
              <a:t>borderline</a:t>
            </a:r>
            <a:r>
              <a:rPr lang="pt-PT" dirty="0"/>
              <a:t> cases, </a:t>
            </a:r>
            <a:r>
              <a:rPr lang="pt-PT" dirty="0" err="1"/>
              <a:t>especially</a:t>
            </a:r>
            <a:r>
              <a:rPr lang="pt-PT" dirty="0"/>
              <a:t> for </a:t>
            </a:r>
            <a:r>
              <a:rPr lang="pt-PT" dirty="0" err="1"/>
              <a:t>fraudulent</a:t>
            </a:r>
            <a:r>
              <a:rPr lang="pt-PT" dirty="0"/>
              <a:t> </a:t>
            </a:r>
            <a:r>
              <a:rPr lang="pt-PT" dirty="0" err="1"/>
              <a:t>transactions</a:t>
            </a:r>
            <a:r>
              <a:rPr lang="pt-PT" dirty="0"/>
              <a:t>.</a:t>
            </a:r>
          </a:p>
          <a:p>
            <a:endParaRPr lang="pt-PT" dirty="0"/>
          </a:p>
          <a:p>
            <a:r>
              <a:rPr lang="en-US" b="1" dirty="0"/>
              <a:t>Observations from Original Dataset:</a:t>
            </a:r>
          </a:p>
          <a:p>
            <a:pPr>
              <a:buFont typeface="Arial" panose="020B0604020202020204" pitchFamily="34" charset="0"/>
              <a:buChar char="•"/>
            </a:pPr>
            <a:r>
              <a:rPr lang="en-US" b="1" dirty="0"/>
              <a:t>Clusters and Challenges</a:t>
            </a:r>
            <a:r>
              <a:rPr lang="en-US" dirty="0"/>
              <a:t>:</a:t>
            </a:r>
          </a:p>
          <a:p>
            <a:pPr marL="742950" lvl="1" indent="-285750">
              <a:buFont typeface="Arial" panose="020B0604020202020204" pitchFamily="34" charset="0"/>
              <a:buChar char="•"/>
            </a:pPr>
            <a:r>
              <a:rPr lang="en-US" dirty="0"/>
              <a:t>Two clear separable clusters identified.</a:t>
            </a:r>
          </a:p>
          <a:p>
            <a:pPr marL="742950" lvl="1" indent="-285750">
              <a:buFont typeface="Arial" panose="020B0604020202020204" pitchFamily="34" charset="0"/>
              <a:buChar char="•"/>
            </a:pPr>
            <a:r>
              <a:rPr lang="en-US" dirty="0"/>
              <a:t>Scattered challenging points outside clusters likely represent borderline fraudulent cases.</a:t>
            </a:r>
          </a:p>
          <a:p>
            <a:r>
              <a:rPr lang="en-US" b="1" dirty="0"/>
              <a:t>Visualization:</a:t>
            </a:r>
          </a:p>
          <a:p>
            <a:pPr>
              <a:buFont typeface="Arial" panose="020B0604020202020204" pitchFamily="34" charset="0"/>
              <a:buChar char="•"/>
            </a:pPr>
            <a:r>
              <a:rPr lang="en-US" dirty="0"/>
              <a:t>Figure 11: Hardness of the Original Dataset (Scatter plot showing clusters and sparse challenging regions).</a:t>
            </a:r>
          </a:p>
          <a:p>
            <a:r>
              <a:rPr lang="en-US" b="1" dirty="0"/>
              <a:t>Insight:</a:t>
            </a:r>
          </a:p>
          <a:p>
            <a:pPr>
              <a:buFont typeface="Arial" panose="020B0604020202020204" pitchFamily="34" charset="0"/>
              <a:buChar char="•"/>
            </a:pPr>
            <a:r>
              <a:rPr lang="en-US" dirty="0"/>
              <a:t>Fraudulent transactions are harder to classify due to their similarity with legitimate ones.</a:t>
            </a:r>
          </a:p>
          <a:p>
            <a:endParaRPr lang="pt-PT" dirty="0"/>
          </a:p>
          <a:p>
            <a:r>
              <a:rPr lang="en-US" b="1" dirty="0"/>
              <a:t>Changes Observed with </a:t>
            </a:r>
            <a:r>
              <a:rPr lang="en-US" b="1" dirty="0" err="1"/>
              <a:t>bcbsmote</a:t>
            </a:r>
            <a:r>
              <a:rPr lang="en-US" b="1" dirty="0"/>
              <a:t>:</a:t>
            </a:r>
          </a:p>
          <a:p>
            <a:pPr>
              <a:buFont typeface="+mj-lt"/>
              <a:buAutoNum type="arabicPeriod"/>
            </a:pPr>
            <a:r>
              <a:rPr lang="en-US" b="1" dirty="0"/>
              <a:t>Expansion of Minority Class</a:t>
            </a:r>
            <a:r>
              <a:rPr lang="en-US" dirty="0"/>
              <a:t>:</a:t>
            </a:r>
          </a:p>
          <a:p>
            <a:pPr marL="742950" lvl="1" indent="-285750">
              <a:buFont typeface="+mj-lt"/>
              <a:buAutoNum type="arabicPeriod"/>
            </a:pPr>
            <a:r>
              <a:rPr lang="en-US" dirty="0"/>
              <a:t>Minority class "footprint" expanded into borderline areas, improving representation in challenging regions.</a:t>
            </a:r>
          </a:p>
          <a:p>
            <a:pPr>
              <a:buFont typeface="+mj-lt"/>
              <a:buAutoNum type="arabicPeriod"/>
            </a:pPr>
            <a:r>
              <a:rPr lang="en-US" b="1" dirty="0"/>
              <a:t>Reduced Sparsity</a:t>
            </a:r>
            <a:r>
              <a:rPr lang="en-US" dirty="0"/>
              <a:t>:</a:t>
            </a:r>
          </a:p>
          <a:p>
            <a:pPr marL="742950" lvl="1" indent="-285750">
              <a:buFont typeface="+mj-lt"/>
              <a:buAutoNum type="arabicPeriod"/>
            </a:pPr>
            <a:r>
              <a:rPr lang="en-US" dirty="0"/>
              <a:t>Increased density in sparse areas (e.g., upper-left, center-right sections).</a:t>
            </a:r>
          </a:p>
          <a:p>
            <a:pPr marL="742950" lvl="1" indent="-285750">
              <a:buFont typeface="+mj-lt"/>
              <a:buAutoNum type="arabicPeriod"/>
            </a:pPr>
            <a:r>
              <a:rPr lang="en-US" dirty="0"/>
              <a:t>Synthetic samples enhanced minority class visibility.</a:t>
            </a:r>
          </a:p>
          <a:p>
            <a:pPr>
              <a:buFont typeface="+mj-lt"/>
              <a:buAutoNum type="arabicPeriod"/>
            </a:pPr>
            <a:r>
              <a:rPr lang="en-US" b="1" dirty="0"/>
              <a:t>Improved Decision Boundaries</a:t>
            </a:r>
            <a:r>
              <a:rPr lang="en-US" dirty="0"/>
              <a:t>:</a:t>
            </a:r>
          </a:p>
          <a:p>
            <a:pPr marL="742950" lvl="1" indent="-285750">
              <a:buFont typeface="+mj-lt"/>
              <a:buAutoNum type="arabicPeriod"/>
            </a:pPr>
            <a:r>
              <a:rPr lang="en-US" dirty="0"/>
              <a:t>Denser representation facilitated better class separability for hard-to-classify instances.</a:t>
            </a:r>
          </a:p>
          <a:p>
            <a:r>
              <a:rPr lang="en-US" b="1" dirty="0"/>
              <a:t>Visualization:</a:t>
            </a:r>
          </a:p>
          <a:p>
            <a:pPr>
              <a:buFont typeface="Arial" panose="020B0604020202020204" pitchFamily="34" charset="0"/>
              <a:buChar char="•"/>
            </a:pPr>
            <a:r>
              <a:rPr lang="en-US" dirty="0"/>
              <a:t>Figure 12: Hardness of the Dataset with BC-SMOTE (showing denser regions and expanded minority class representation).</a:t>
            </a:r>
          </a:p>
          <a:p>
            <a:r>
              <a:rPr lang="en-US" b="1" dirty="0"/>
              <a:t>Key Insight:</a:t>
            </a:r>
          </a:p>
          <a:p>
            <a:pPr>
              <a:buFont typeface="Arial" panose="020B0604020202020204" pitchFamily="34" charset="0"/>
              <a:buChar char="•"/>
            </a:pPr>
            <a:r>
              <a:rPr lang="en-US" dirty="0"/>
              <a:t>BC-SMOTE effectively strengthened the representation of difficult cases, improving model learning potential.</a:t>
            </a:r>
          </a:p>
          <a:p>
            <a:endParaRPr lang="pt-PT" dirty="0"/>
          </a:p>
          <a:p>
            <a:r>
              <a:rPr lang="en-US" b="1" dirty="0"/>
              <a:t>Changes Post Tomek Links:</a:t>
            </a:r>
          </a:p>
          <a:p>
            <a:pPr>
              <a:buFont typeface="+mj-lt"/>
              <a:buAutoNum type="arabicPeriod"/>
            </a:pPr>
            <a:r>
              <a:rPr lang="en-US" b="1" dirty="0"/>
              <a:t>Improved Class Separation</a:t>
            </a:r>
            <a:r>
              <a:rPr lang="en-US" dirty="0"/>
              <a:t>:</a:t>
            </a:r>
          </a:p>
          <a:p>
            <a:pPr marL="742950" lvl="1" indent="-285750">
              <a:buFont typeface="+mj-lt"/>
              <a:buAutoNum type="arabicPeriod"/>
            </a:pPr>
            <a:r>
              <a:rPr lang="en-US" dirty="0"/>
              <a:t>Cleaner, more distinct boundary regions between classes.</a:t>
            </a:r>
          </a:p>
          <a:p>
            <a:pPr marL="742950" lvl="1" indent="-285750">
              <a:buFont typeface="+mj-lt"/>
              <a:buAutoNum type="arabicPeriod"/>
            </a:pPr>
            <a:r>
              <a:rPr lang="en-US" dirty="0"/>
              <a:t>Reduced ambiguity caused by overlapping points.</a:t>
            </a:r>
          </a:p>
          <a:p>
            <a:pPr>
              <a:buFont typeface="+mj-lt"/>
              <a:buAutoNum type="arabicPeriod"/>
            </a:pPr>
            <a:r>
              <a:rPr lang="en-US" b="1" dirty="0"/>
              <a:t>Refined Clusters</a:t>
            </a:r>
            <a:r>
              <a:rPr lang="en-US" dirty="0"/>
              <a:t>:</a:t>
            </a:r>
          </a:p>
          <a:p>
            <a:pPr marL="742950" lvl="1" indent="-285750">
              <a:buFont typeface="+mj-lt"/>
              <a:buAutoNum type="arabicPeriod"/>
            </a:pPr>
            <a:r>
              <a:rPr lang="en-US" dirty="0"/>
              <a:t>Compact clusters with less noise along edges.</a:t>
            </a:r>
          </a:p>
          <a:p>
            <a:pPr marL="742950" lvl="1" indent="-285750">
              <a:buFont typeface="+mj-lt"/>
              <a:buAutoNum type="arabicPeriod"/>
            </a:pPr>
            <a:r>
              <a:rPr lang="en-US" dirty="0"/>
              <a:t>Better class separability and data quality.</a:t>
            </a:r>
          </a:p>
          <a:p>
            <a:pPr>
              <a:buFont typeface="+mj-lt"/>
              <a:buAutoNum type="arabicPeriod"/>
            </a:pPr>
            <a:r>
              <a:rPr lang="en-US" b="1" dirty="0"/>
              <a:t>Persistent Hard Instances</a:t>
            </a:r>
            <a:r>
              <a:rPr lang="en-US" dirty="0"/>
              <a:t>:</a:t>
            </a:r>
          </a:p>
          <a:p>
            <a:pPr marL="742950" lvl="1" indent="-285750">
              <a:buFont typeface="+mj-lt"/>
              <a:buAutoNum type="arabicPeriod"/>
            </a:pPr>
            <a:r>
              <a:rPr lang="en-US" dirty="0"/>
              <a:t>Some challenging points remained along minority class edges, indicating inherent difficulty in specific cases.</a:t>
            </a:r>
          </a:p>
          <a:p>
            <a:pPr>
              <a:buFont typeface="+mj-lt"/>
              <a:buAutoNum type="arabicPeriod"/>
            </a:pPr>
            <a:r>
              <a:rPr lang="en-US" b="1" dirty="0"/>
              <a:t>Balanced and Cleaned Dataset</a:t>
            </a:r>
            <a:r>
              <a:rPr lang="en-US" dirty="0"/>
              <a:t>:</a:t>
            </a:r>
          </a:p>
          <a:p>
            <a:pPr marL="742950" lvl="1" indent="-285750">
              <a:buFont typeface="+mj-lt"/>
              <a:buAutoNum type="arabicPeriod"/>
            </a:pPr>
            <a:r>
              <a:rPr lang="en-US" dirty="0"/>
              <a:t>Emphasized meaningful data points while reducing noise, improving generalization.</a:t>
            </a:r>
          </a:p>
          <a:p>
            <a:r>
              <a:rPr lang="en-US" b="1" dirty="0"/>
              <a:t>Visualization:</a:t>
            </a:r>
          </a:p>
          <a:p>
            <a:pPr>
              <a:buFont typeface="Arial" panose="020B0604020202020204" pitchFamily="34" charset="0"/>
              <a:buChar char="•"/>
            </a:pPr>
            <a:r>
              <a:rPr lang="en-US" dirty="0"/>
              <a:t>Figure 13: Hardness of the Dataset with BC-SMOTE and Tomek Links (showing compact clusters and reduced noise).</a:t>
            </a:r>
          </a:p>
          <a:p>
            <a:r>
              <a:rPr lang="en-US" b="1" dirty="0"/>
              <a:t>Key Insight:</a:t>
            </a:r>
          </a:p>
          <a:p>
            <a:pPr>
              <a:buFont typeface="Arial" panose="020B0604020202020204" pitchFamily="34" charset="0"/>
              <a:buChar char="•"/>
            </a:pPr>
            <a:r>
              <a:rPr lang="en-US" dirty="0"/>
              <a:t>Combining </a:t>
            </a:r>
            <a:r>
              <a:rPr lang="en-US" b="1" dirty="0"/>
              <a:t>BC-SMOTE and Tomek Links</a:t>
            </a:r>
            <a:r>
              <a:rPr lang="en-US" dirty="0"/>
              <a:t> enhanced balance and dataset quality while preserving focus on challenging cases.</a:t>
            </a:r>
          </a:p>
          <a:p>
            <a:endParaRPr lang="pt-PT" dirty="0"/>
          </a:p>
          <a:p>
            <a:r>
              <a:rPr lang="en-US" b="1" dirty="0"/>
              <a:t>Slide 5: </a:t>
            </a:r>
            <a:r>
              <a:rPr lang="en-US" b="1" dirty="0" err="1"/>
              <a:t>PyHard</a:t>
            </a:r>
            <a:r>
              <a:rPr lang="en-US" b="1" dirty="0"/>
              <a:t> Analysis Summary</a:t>
            </a:r>
          </a:p>
          <a:p>
            <a:r>
              <a:rPr lang="en-US" b="1" dirty="0"/>
              <a:t>Key Takeaways:</a:t>
            </a:r>
          </a:p>
          <a:p>
            <a:pPr>
              <a:buFont typeface="+mj-lt"/>
              <a:buAutoNum type="arabicPeriod"/>
            </a:pPr>
            <a:r>
              <a:rPr lang="en-US" b="1" dirty="0"/>
              <a:t>BC-SMOTE</a:t>
            </a:r>
            <a:r>
              <a:rPr lang="en-US" dirty="0"/>
              <a:t>:</a:t>
            </a:r>
          </a:p>
          <a:p>
            <a:pPr marL="742950" lvl="1" indent="-285750">
              <a:buFont typeface="+mj-lt"/>
              <a:buAutoNum type="arabicPeriod"/>
            </a:pPr>
            <a:r>
              <a:rPr lang="en-US" dirty="0"/>
              <a:t>Improved minority class representation, particularly in challenging regions.</a:t>
            </a:r>
          </a:p>
          <a:p>
            <a:pPr marL="742950" lvl="1" indent="-285750">
              <a:buFont typeface="+mj-lt"/>
              <a:buAutoNum type="arabicPeriod"/>
            </a:pPr>
            <a:r>
              <a:rPr lang="en-US" dirty="0"/>
              <a:t>Enhanced decision boundaries through synthetic sample generation.</a:t>
            </a:r>
          </a:p>
          <a:p>
            <a:pPr>
              <a:buFont typeface="+mj-lt"/>
              <a:buAutoNum type="arabicPeriod"/>
            </a:pPr>
            <a:r>
              <a:rPr lang="en-US" b="1" dirty="0"/>
              <a:t>Tomek Links</a:t>
            </a:r>
            <a:r>
              <a:rPr lang="en-US" dirty="0"/>
              <a:t>:</a:t>
            </a:r>
          </a:p>
          <a:p>
            <a:pPr marL="742950" lvl="1" indent="-285750">
              <a:buFont typeface="+mj-lt"/>
              <a:buAutoNum type="arabicPeriod"/>
            </a:pPr>
            <a:r>
              <a:rPr lang="en-US" dirty="0"/>
              <a:t>Refined dataset by removing noisy, overlapping samples.</a:t>
            </a:r>
          </a:p>
          <a:p>
            <a:pPr marL="742950" lvl="1" indent="-285750">
              <a:buFont typeface="+mj-lt"/>
              <a:buAutoNum type="arabicPeriod"/>
            </a:pPr>
            <a:r>
              <a:rPr lang="en-US" dirty="0"/>
              <a:t>Improved cluster compactness and class separability.</a:t>
            </a:r>
          </a:p>
          <a:p>
            <a:pPr>
              <a:buFont typeface="+mj-lt"/>
              <a:buAutoNum type="arabicPeriod"/>
            </a:pPr>
            <a:r>
              <a:rPr lang="en-US" b="1" dirty="0"/>
              <a:t>Integrated Approach</a:t>
            </a:r>
            <a:r>
              <a:rPr lang="en-US" dirty="0"/>
              <a:t>:</a:t>
            </a:r>
          </a:p>
          <a:p>
            <a:pPr marL="742950" lvl="1" indent="-285750">
              <a:buFont typeface="+mj-lt"/>
              <a:buAutoNum type="arabicPeriod"/>
            </a:pPr>
            <a:r>
              <a:rPr lang="en-US" dirty="0"/>
              <a:t>Balance between oversampling (BC-SMOTE) and cleaning (Tomek Links).</a:t>
            </a:r>
          </a:p>
          <a:p>
            <a:pPr marL="742950" lvl="1" indent="-285750">
              <a:buFont typeface="+mj-lt"/>
              <a:buAutoNum type="arabicPeriod"/>
            </a:pPr>
            <a:r>
              <a:rPr lang="en-US" dirty="0"/>
              <a:t>Focused on improving performance for minority class while mitigating noise and overfitting risks.</a:t>
            </a:r>
          </a:p>
          <a:p>
            <a:r>
              <a:rPr lang="en-US" b="1" dirty="0"/>
              <a:t>Performance Implications:</a:t>
            </a:r>
          </a:p>
          <a:p>
            <a:pPr>
              <a:buFont typeface="Arial" panose="020B0604020202020204" pitchFamily="34" charset="0"/>
              <a:buChar char="•"/>
            </a:pPr>
            <a:r>
              <a:rPr lang="en-US" dirty="0"/>
              <a:t>Potential for improved </a:t>
            </a:r>
            <a:r>
              <a:rPr lang="en-US" b="1" dirty="0"/>
              <a:t>Precision</a:t>
            </a:r>
            <a:r>
              <a:rPr lang="en-US" dirty="0"/>
              <a:t> and </a:t>
            </a:r>
            <a:r>
              <a:rPr lang="en-US" b="1" dirty="0"/>
              <a:t>Recall</a:t>
            </a:r>
            <a:r>
              <a:rPr lang="en-US" dirty="0"/>
              <a:t>, particularly for the fraudulent (minority) class.</a:t>
            </a:r>
          </a:p>
          <a:p>
            <a:endParaRPr lang="pt-PT" dirty="0"/>
          </a:p>
          <a:p>
            <a:endParaRPr lang="pt-PT" dirty="0"/>
          </a:p>
          <a:p>
            <a:endParaRPr lang="pt-PT" dirty="0"/>
          </a:p>
        </p:txBody>
      </p:sp>
      <p:sp>
        <p:nvSpPr>
          <p:cNvPr id="4" name="Marcador de Posição do Número do Diapositivo 3">
            <a:extLst>
              <a:ext uri="{FF2B5EF4-FFF2-40B4-BE49-F238E27FC236}">
                <a16:creationId xmlns:a16="http://schemas.microsoft.com/office/drawing/2014/main" id="{075E56AD-4B4C-F19D-D7B3-38F4FDE35CAD}"/>
              </a:ext>
            </a:extLst>
          </p:cNvPr>
          <p:cNvSpPr>
            <a:spLocks noGrp="1"/>
          </p:cNvSpPr>
          <p:nvPr>
            <p:ph type="sldNum" sz="quarter" idx="5"/>
          </p:nvPr>
        </p:nvSpPr>
        <p:spPr/>
        <p:txBody>
          <a:bodyPr/>
          <a:lstStyle/>
          <a:p>
            <a:fld id="{021B9CEB-BF53-49FC-B677-A6A019229240}" type="slidenum">
              <a:rPr lang="pt-PT" smtClean="0"/>
              <a:t>23</a:t>
            </a:fld>
            <a:endParaRPr lang="pt-PT"/>
          </a:p>
        </p:txBody>
      </p:sp>
    </p:spTree>
    <p:extLst>
      <p:ext uri="{BB962C8B-B14F-4D97-AF65-F5344CB8AC3E}">
        <p14:creationId xmlns:p14="http://schemas.microsoft.com/office/powerpoint/2010/main" val="2795333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US" b="1" dirty="0"/>
              <a:t>MATHEUS</a:t>
            </a:r>
          </a:p>
          <a:p>
            <a:r>
              <a:rPr lang="en-US" b="1" dirty="0"/>
              <a:t>Core Insights:</a:t>
            </a:r>
          </a:p>
          <a:p>
            <a:pPr>
              <a:buFont typeface="Arial" panose="020B0604020202020204" pitchFamily="34" charset="0"/>
              <a:buChar char="•"/>
            </a:pPr>
            <a:r>
              <a:rPr lang="en-US" b="1" dirty="0"/>
              <a:t>Imbalanced Datasets</a:t>
            </a:r>
            <a:r>
              <a:rPr lang="en-US" dirty="0"/>
              <a:t>:</a:t>
            </a:r>
          </a:p>
          <a:p>
            <a:pPr marL="742950" lvl="1" indent="-285750">
              <a:buFont typeface="Arial" panose="020B0604020202020204" pitchFamily="34" charset="0"/>
              <a:buChar char="•"/>
            </a:pPr>
            <a:r>
              <a:rPr lang="en-US" dirty="0"/>
              <a:t>Present unique challenges for machine learning models.</a:t>
            </a:r>
          </a:p>
          <a:p>
            <a:pPr marL="742950" lvl="1" indent="-285750">
              <a:buFont typeface="Arial" panose="020B0604020202020204" pitchFamily="34" charset="0"/>
              <a:buChar char="•"/>
            </a:pPr>
            <a:r>
              <a:rPr lang="en-US" dirty="0"/>
              <a:t>Require targeted balancing techniques to improve performance.</a:t>
            </a:r>
          </a:p>
          <a:p>
            <a:pPr>
              <a:buFont typeface="Arial" panose="020B0604020202020204" pitchFamily="34" charset="0"/>
              <a:buChar char="•"/>
            </a:pPr>
            <a:r>
              <a:rPr lang="en-US" b="1" dirty="0"/>
              <a:t>Balancing Techniques</a:t>
            </a:r>
            <a:r>
              <a:rPr lang="en-US" dirty="0"/>
              <a:t>:</a:t>
            </a:r>
          </a:p>
          <a:p>
            <a:pPr marL="742950" lvl="1" indent="-285750">
              <a:buFont typeface="Arial" panose="020B0604020202020204" pitchFamily="34" charset="0"/>
              <a:buChar char="•"/>
            </a:pPr>
            <a:r>
              <a:rPr lang="en-US" dirty="0"/>
              <a:t>Enhanced </a:t>
            </a:r>
            <a:r>
              <a:rPr lang="en-US" b="1" dirty="0"/>
              <a:t>Precision</a:t>
            </a:r>
            <a:r>
              <a:rPr lang="en-US" dirty="0"/>
              <a:t>, particularly for </a:t>
            </a:r>
            <a:r>
              <a:rPr lang="en-US" b="1" dirty="0"/>
              <a:t>Random Oversampling</a:t>
            </a:r>
            <a:r>
              <a:rPr lang="en-US" dirty="0"/>
              <a:t> and </a:t>
            </a:r>
            <a:r>
              <a:rPr lang="en-US" b="1" dirty="0"/>
              <a:t>B-SMOTE</a:t>
            </a:r>
            <a:r>
              <a:rPr lang="en-US" dirty="0"/>
              <a:t>.</a:t>
            </a:r>
          </a:p>
          <a:p>
            <a:pPr marL="742950" lvl="1" indent="-285750">
              <a:buFont typeface="Arial" panose="020B0604020202020204" pitchFamily="34" charset="0"/>
              <a:buChar char="•"/>
            </a:pPr>
            <a:r>
              <a:rPr lang="en-US" dirty="0"/>
              <a:t>Improved </a:t>
            </a:r>
            <a:r>
              <a:rPr lang="en-US" b="1" dirty="0"/>
              <a:t>Recall</a:t>
            </a:r>
            <a:r>
              <a:rPr lang="en-US" dirty="0"/>
              <a:t> with </a:t>
            </a:r>
            <a:r>
              <a:rPr lang="en-US" b="1" dirty="0"/>
              <a:t>SMOTE</a:t>
            </a:r>
            <a:r>
              <a:rPr lang="en-US" dirty="0"/>
              <a:t>, </a:t>
            </a:r>
            <a:r>
              <a:rPr lang="en-US" b="1" dirty="0"/>
              <a:t>B-SMOTE</a:t>
            </a:r>
            <a:r>
              <a:rPr lang="en-US" dirty="0"/>
              <a:t>, and </a:t>
            </a:r>
            <a:r>
              <a:rPr lang="en-US" b="1" dirty="0"/>
              <a:t>ADASYN</a:t>
            </a:r>
            <a:r>
              <a:rPr lang="en-US" dirty="0"/>
              <a:t>.</a:t>
            </a:r>
          </a:p>
          <a:p>
            <a:r>
              <a:rPr lang="en-US" b="1" dirty="0"/>
              <a:t>Key Metrics:</a:t>
            </a:r>
          </a:p>
          <a:p>
            <a:pPr>
              <a:buFont typeface="Arial" panose="020B0604020202020204" pitchFamily="34" charset="0"/>
              <a:buChar char="•"/>
            </a:pPr>
            <a:r>
              <a:rPr lang="en-US" b="1" dirty="0"/>
              <a:t>F1 Score</a:t>
            </a:r>
            <a:r>
              <a:rPr lang="en-US" dirty="0"/>
              <a:t>: Balancing techniques achieved better Precision-Recall balance.</a:t>
            </a:r>
          </a:p>
          <a:p>
            <a:pPr>
              <a:buFont typeface="Arial" panose="020B0604020202020204" pitchFamily="34" charset="0"/>
              <a:buChar char="•"/>
            </a:pPr>
            <a:r>
              <a:rPr lang="en-US" b="1" dirty="0"/>
              <a:t>Accuracy</a:t>
            </a:r>
            <a:r>
              <a:rPr lang="en-US" dirty="0"/>
              <a:t>: Consistently high but insufficient to measure performance in imbalanced scenarios.</a:t>
            </a:r>
          </a:p>
          <a:p>
            <a:endParaRPr lang="pt-PT" dirty="0"/>
          </a:p>
          <a:p>
            <a:r>
              <a:rPr lang="pt-PT" b="1" dirty="0" err="1"/>
              <a:t>Impact</a:t>
            </a:r>
            <a:r>
              <a:rPr lang="pt-PT" b="1" dirty="0"/>
              <a:t> </a:t>
            </a:r>
            <a:r>
              <a:rPr lang="pt-PT" b="1" dirty="0" err="1"/>
              <a:t>on</a:t>
            </a:r>
            <a:r>
              <a:rPr lang="pt-PT" b="1" dirty="0"/>
              <a:t> </a:t>
            </a:r>
            <a:r>
              <a:rPr lang="pt-PT" b="1" dirty="0" err="1"/>
              <a:t>Random</a:t>
            </a:r>
            <a:r>
              <a:rPr lang="pt-PT" b="1" dirty="0"/>
              <a:t> </a:t>
            </a:r>
            <a:r>
              <a:rPr lang="pt-PT" b="1" dirty="0" err="1"/>
              <a:t>Forest</a:t>
            </a:r>
            <a:r>
              <a:rPr lang="pt-PT" b="1" dirty="0"/>
              <a:t>:</a:t>
            </a:r>
          </a:p>
          <a:p>
            <a:pPr>
              <a:buFont typeface="Arial" panose="020B0604020202020204" pitchFamily="34" charset="0"/>
              <a:buChar char="•"/>
            </a:pPr>
            <a:r>
              <a:rPr lang="pt-PT" b="1" dirty="0"/>
              <a:t>Standard </a:t>
            </a:r>
            <a:r>
              <a:rPr lang="pt-PT" b="1" dirty="0" err="1"/>
              <a:t>Random</a:t>
            </a:r>
            <a:r>
              <a:rPr lang="pt-PT" b="1" dirty="0"/>
              <a:t> </a:t>
            </a:r>
            <a:r>
              <a:rPr lang="pt-PT" b="1" dirty="0" err="1"/>
              <a:t>Forest</a:t>
            </a:r>
            <a:r>
              <a:rPr lang="pt-PT" dirty="0"/>
              <a:t>:</a:t>
            </a:r>
          </a:p>
          <a:p>
            <a:pPr marL="742950" lvl="1" indent="-285750">
              <a:buFont typeface="Arial" panose="020B0604020202020204" pitchFamily="34" charset="0"/>
              <a:buChar char="•"/>
            </a:pPr>
            <a:r>
              <a:rPr lang="pt-PT" dirty="0" err="1"/>
              <a:t>Strong</a:t>
            </a:r>
            <a:r>
              <a:rPr lang="pt-PT" dirty="0"/>
              <a:t> </a:t>
            </a:r>
            <a:r>
              <a:rPr lang="pt-PT" dirty="0" err="1"/>
              <a:t>baseline</a:t>
            </a:r>
            <a:r>
              <a:rPr lang="pt-PT" dirty="0"/>
              <a:t> performance.</a:t>
            </a:r>
          </a:p>
          <a:p>
            <a:pPr marL="742950" lvl="1" indent="-285750">
              <a:buFont typeface="Arial" panose="020B0604020202020204" pitchFamily="34" charset="0"/>
              <a:buChar char="•"/>
            </a:pPr>
            <a:r>
              <a:rPr lang="pt-PT" dirty="0" err="1"/>
              <a:t>Outperformed</a:t>
            </a:r>
            <a:r>
              <a:rPr lang="pt-PT" dirty="0"/>
              <a:t> </a:t>
            </a:r>
            <a:r>
              <a:rPr lang="pt-PT" dirty="0" err="1"/>
              <a:t>others</a:t>
            </a:r>
            <a:r>
              <a:rPr lang="pt-PT" dirty="0"/>
              <a:t> in </a:t>
            </a:r>
            <a:r>
              <a:rPr lang="pt-PT" b="1" dirty="0"/>
              <a:t>AUPRCC</a:t>
            </a:r>
            <a:r>
              <a:rPr lang="pt-PT" dirty="0"/>
              <a:t> (</a:t>
            </a:r>
            <a:r>
              <a:rPr lang="pt-PT" dirty="0" err="1"/>
              <a:t>minority</a:t>
            </a:r>
            <a:r>
              <a:rPr lang="pt-PT" dirty="0"/>
              <a:t> </a:t>
            </a:r>
            <a:r>
              <a:rPr lang="pt-PT" dirty="0" err="1"/>
              <a:t>class</a:t>
            </a:r>
            <a:r>
              <a:rPr lang="pt-PT" dirty="0"/>
              <a:t> </a:t>
            </a:r>
            <a:r>
              <a:rPr lang="pt-PT" dirty="0" err="1"/>
              <a:t>focus</a:t>
            </a:r>
            <a:r>
              <a:rPr lang="pt-PT" dirty="0"/>
              <a:t>).</a:t>
            </a:r>
          </a:p>
          <a:p>
            <a:pPr>
              <a:buFont typeface="Arial" panose="020B0604020202020204" pitchFamily="34" charset="0"/>
              <a:buChar char="•"/>
            </a:pPr>
            <a:r>
              <a:rPr lang="pt-PT" b="1" dirty="0" err="1"/>
              <a:t>With</a:t>
            </a:r>
            <a:r>
              <a:rPr lang="pt-PT" b="1" dirty="0"/>
              <a:t> </a:t>
            </a:r>
            <a:r>
              <a:rPr lang="pt-PT" b="1" dirty="0" err="1"/>
              <a:t>Balancing</a:t>
            </a:r>
            <a:r>
              <a:rPr lang="pt-PT" b="1" dirty="0"/>
              <a:t> </a:t>
            </a:r>
            <a:r>
              <a:rPr lang="pt-PT" b="1" dirty="0" err="1"/>
              <a:t>Techniques</a:t>
            </a:r>
            <a:r>
              <a:rPr lang="pt-PT" dirty="0"/>
              <a:t>:</a:t>
            </a:r>
          </a:p>
          <a:p>
            <a:pPr marL="742950" lvl="1" indent="-285750">
              <a:buFont typeface="Arial" panose="020B0604020202020204" pitchFamily="34" charset="0"/>
              <a:buChar char="•"/>
            </a:pPr>
            <a:r>
              <a:rPr lang="pt-PT" dirty="0" err="1"/>
              <a:t>Notable</a:t>
            </a:r>
            <a:r>
              <a:rPr lang="pt-PT" dirty="0"/>
              <a:t> </a:t>
            </a:r>
            <a:r>
              <a:rPr lang="pt-PT" dirty="0" err="1"/>
              <a:t>improvements</a:t>
            </a:r>
            <a:r>
              <a:rPr lang="pt-PT" dirty="0"/>
              <a:t> in </a:t>
            </a:r>
            <a:r>
              <a:rPr lang="pt-PT" b="1" dirty="0" err="1"/>
              <a:t>Recall</a:t>
            </a:r>
            <a:r>
              <a:rPr lang="pt-PT" dirty="0"/>
              <a:t> </a:t>
            </a:r>
            <a:r>
              <a:rPr lang="pt-PT" dirty="0" err="1"/>
              <a:t>and</a:t>
            </a:r>
            <a:r>
              <a:rPr lang="pt-PT" dirty="0"/>
              <a:t> </a:t>
            </a:r>
            <a:r>
              <a:rPr lang="pt-PT" b="1" dirty="0"/>
              <a:t>F1 Score</a:t>
            </a:r>
            <a:r>
              <a:rPr lang="pt-PT" dirty="0"/>
              <a:t>.</a:t>
            </a:r>
          </a:p>
          <a:p>
            <a:pPr marL="742950" lvl="1" indent="-285750">
              <a:buFont typeface="Arial" panose="020B0604020202020204" pitchFamily="34" charset="0"/>
              <a:buChar char="•"/>
            </a:pPr>
            <a:r>
              <a:rPr lang="pt-PT" b="1" dirty="0"/>
              <a:t>B-SMOTE</a:t>
            </a:r>
            <a:r>
              <a:rPr lang="pt-PT" dirty="0"/>
              <a:t>, </a:t>
            </a:r>
            <a:r>
              <a:rPr lang="pt-PT" b="1" dirty="0" err="1"/>
              <a:t>Random</a:t>
            </a:r>
            <a:r>
              <a:rPr lang="pt-PT" b="1" dirty="0"/>
              <a:t> </a:t>
            </a:r>
            <a:r>
              <a:rPr lang="pt-PT" b="1" dirty="0" err="1"/>
              <a:t>Oversampling</a:t>
            </a:r>
            <a:r>
              <a:rPr lang="pt-PT" dirty="0"/>
              <a:t>, </a:t>
            </a:r>
            <a:r>
              <a:rPr lang="pt-PT" dirty="0" err="1"/>
              <a:t>and</a:t>
            </a:r>
            <a:r>
              <a:rPr lang="pt-PT" dirty="0"/>
              <a:t> </a:t>
            </a:r>
            <a:r>
              <a:rPr lang="pt-PT" b="1" dirty="0"/>
              <a:t>SMOTE-</a:t>
            </a:r>
            <a:r>
              <a:rPr lang="pt-PT" b="1" dirty="0" err="1"/>
              <a:t>Tomek</a:t>
            </a:r>
            <a:r>
              <a:rPr lang="pt-PT" dirty="0"/>
              <a:t> </a:t>
            </a:r>
            <a:r>
              <a:rPr lang="pt-PT" dirty="0" err="1"/>
              <a:t>boosted</a:t>
            </a:r>
            <a:r>
              <a:rPr lang="pt-PT" dirty="0"/>
              <a:t> </a:t>
            </a:r>
            <a:r>
              <a:rPr lang="pt-PT" dirty="0" err="1"/>
              <a:t>model</a:t>
            </a:r>
            <a:r>
              <a:rPr lang="pt-PT" dirty="0"/>
              <a:t> </a:t>
            </a:r>
            <a:r>
              <a:rPr lang="pt-PT" dirty="0" err="1"/>
              <a:t>robustness</a:t>
            </a:r>
            <a:r>
              <a:rPr lang="pt-PT" dirty="0"/>
              <a:t>.</a:t>
            </a:r>
          </a:p>
          <a:p>
            <a:r>
              <a:rPr lang="pt-PT" b="1" dirty="0" err="1"/>
              <a:t>Impact</a:t>
            </a:r>
            <a:r>
              <a:rPr lang="pt-PT" b="1" dirty="0"/>
              <a:t> </a:t>
            </a:r>
            <a:r>
              <a:rPr lang="pt-PT" b="1" dirty="0" err="1"/>
              <a:t>on</a:t>
            </a:r>
            <a:r>
              <a:rPr lang="pt-PT" b="1" dirty="0"/>
              <a:t> </a:t>
            </a:r>
            <a:r>
              <a:rPr lang="pt-PT" b="1" dirty="0" err="1"/>
              <a:t>XGBoost</a:t>
            </a:r>
            <a:r>
              <a:rPr lang="pt-PT" b="1" dirty="0"/>
              <a:t>:</a:t>
            </a:r>
          </a:p>
          <a:p>
            <a:pPr>
              <a:buFont typeface="Arial" panose="020B0604020202020204" pitchFamily="34" charset="0"/>
              <a:buChar char="•"/>
            </a:pPr>
            <a:r>
              <a:rPr lang="pt-PT" dirty="0" err="1"/>
              <a:t>Showed</a:t>
            </a:r>
            <a:r>
              <a:rPr lang="pt-PT" dirty="0"/>
              <a:t> </a:t>
            </a:r>
            <a:r>
              <a:rPr lang="pt-PT" dirty="0" err="1"/>
              <a:t>significant</a:t>
            </a:r>
            <a:r>
              <a:rPr lang="pt-PT" dirty="0"/>
              <a:t> performance </a:t>
            </a:r>
            <a:r>
              <a:rPr lang="pt-PT" dirty="0" err="1"/>
              <a:t>improvements</a:t>
            </a:r>
            <a:r>
              <a:rPr lang="pt-PT" dirty="0"/>
              <a:t> </a:t>
            </a:r>
            <a:r>
              <a:rPr lang="pt-PT" dirty="0" err="1"/>
              <a:t>with</a:t>
            </a:r>
            <a:r>
              <a:rPr lang="pt-PT" dirty="0"/>
              <a:t> </a:t>
            </a:r>
            <a:r>
              <a:rPr lang="pt-PT" dirty="0" err="1"/>
              <a:t>balancing</a:t>
            </a:r>
            <a:r>
              <a:rPr lang="pt-PT" dirty="0"/>
              <a:t> </a:t>
            </a:r>
            <a:r>
              <a:rPr lang="pt-PT" dirty="0" err="1"/>
              <a:t>methods</a:t>
            </a:r>
            <a:r>
              <a:rPr lang="pt-PT" dirty="0"/>
              <a:t>.</a:t>
            </a:r>
          </a:p>
          <a:p>
            <a:pPr>
              <a:buFont typeface="Arial" panose="020B0604020202020204" pitchFamily="34" charset="0"/>
              <a:buChar char="•"/>
            </a:pPr>
            <a:r>
              <a:rPr lang="pt-PT" dirty="0" err="1"/>
              <a:t>Techniques</a:t>
            </a:r>
            <a:r>
              <a:rPr lang="pt-PT" dirty="0"/>
              <a:t> </a:t>
            </a:r>
            <a:r>
              <a:rPr lang="pt-PT" dirty="0" err="1"/>
              <a:t>like</a:t>
            </a:r>
            <a:r>
              <a:rPr lang="pt-PT" dirty="0"/>
              <a:t> </a:t>
            </a:r>
            <a:r>
              <a:rPr lang="pt-PT" b="1" dirty="0" err="1"/>
              <a:t>Hybrid</a:t>
            </a:r>
            <a:r>
              <a:rPr lang="pt-PT" b="1" dirty="0"/>
              <a:t> </a:t>
            </a:r>
            <a:r>
              <a:rPr lang="pt-PT" b="1" dirty="0" err="1"/>
              <a:t>Tomek</a:t>
            </a:r>
            <a:r>
              <a:rPr lang="pt-PT" b="1" dirty="0"/>
              <a:t> Links BC-SMOTE</a:t>
            </a:r>
            <a:r>
              <a:rPr lang="pt-PT" dirty="0"/>
              <a:t> </a:t>
            </a:r>
            <a:r>
              <a:rPr lang="pt-PT" dirty="0" err="1"/>
              <a:t>refined</a:t>
            </a:r>
            <a:r>
              <a:rPr lang="pt-PT" dirty="0"/>
              <a:t> </a:t>
            </a:r>
            <a:r>
              <a:rPr lang="pt-PT" dirty="0" err="1"/>
              <a:t>predictions</a:t>
            </a:r>
            <a:r>
              <a:rPr lang="pt-PT" dirty="0"/>
              <a:t> </a:t>
            </a:r>
            <a:r>
              <a:rPr lang="pt-PT" dirty="0" err="1"/>
              <a:t>and</a:t>
            </a:r>
            <a:r>
              <a:rPr lang="pt-PT" dirty="0"/>
              <a:t> </a:t>
            </a:r>
            <a:r>
              <a:rPr lang="pt-PT" dirty="0" err="1"/>
              <a:t>enhanced</a:t>
            </a:r>
            <a:r>
              <a:rPr lang="pt-PT" dirty="0"/>
              <a:t> </a:t>
            </a:r>
            <a:r>
              <a:rPr lang="pt-PT" dirty="0" err="1"/>
              <a:t>decision</a:t>
            </a:r>
            <a:r>
              <a:rPr lang="pt-PT" dirty="0"/>
              <a:t> </a:t>
            </a:r>
            <a:r>
              <a:rPr lang="pt-PT" dirty="0" err="1"/>
              <a:t>boundaries</a:t>
            </a:r>
            <a:r>
              <a:rPr lang="pt-PT" dirty="0"/>
              <a:t>.</a:t>
            </a:r>
          </a:p>
          <a:p>
            <a:endParaRPr lang="pt-PT" dirty="0"/>
          </a:p>
          <a:p>
            <a:endParaRPr lang="pt-PT" dirty="0"/>
          </a:p>
          <a:p>
            <a:r>
              <a:rPr lang="pt-PT" b="1" dirty="0" err="1"/>
              <a:t>Choosing</a:t>
            </a:r>
            <a:r>
              <a:rPr lang="pt-PT" b="1" dirty="0"/>
              <a:t> </a:t>
            </a:r>
            <a:r>
              <a:rPr lang="pt-PT" b="1" dirty="0" err="1"/>
              <a:t>Balancing</a:t>
            </a:r>
            <a:r>
              <a:rPr lang="pt-PT" b="1" dirty="0"/>
              <a:t> </a:t>
            </a:r>
            <a:r>
              <a:rPr lang="pt-PT" b="1" dirty="0" err="1"/>
              <a:t>Techniques</a:t>
            </a:r>
            <a:r>
              <a:rPr lang="pt-PT" b="1" dirty="0"/>
              <a:t>:</a:t>
            </a:r>
          </a:p>
          <a:p>
            <a:pPr>
              <a:buFont typeface="Arial" panose="020B0604020202020204" pitchFamily="34" charset="0"/>
              <a:buChar char="•"/>
            </a:pPr>
            <a:r>
              <a:rPr lang="pt-PT" dirty="0" err="1"/>
              <a:t>Dataset-specific</a:t>
            </a:r>
            <a:r>
              <a:rPr lang="pt-PT" dirty="0"/>
              <a:t> </a:t>
            </a:r>
            <a:r>
              <a:rPr lang="pt-PT" dirty="0" err="1"/>
              <a:t>strategies</a:t>
            </a:r>
            <a:r>
              <a:rPr lang="pt-PT" dirty="0"/>
              <a:t> are crucial for </a:t>
            </a:r>
            <a:r>
              <a:rPr lang="pt-PT" dirty="0" err="1"/>
              <a:t>optimal</a:t>
            </a:r>
            <a:r>
              <a:rPr lang="pt-PT" dirty="0"/>
              <a:t> </a:t>
            </a:r>
            <a:r>
              <a:rPr lang="pt-PT" dirty="0" err="1"/>
              <a:t>results</a:t>
            </a:r>
            <a:r>
              <a:rPr lang="pt-PT" dirty="0"/>
              <a:t>:</a:t>
            </a:r>
          </a:p>
          <a:p>
            <a:pPr marL="742950" lvl="1" indent="-285750">
              <a:buFont typeface="Arial" panose="020B0604020202020204" pitchFamily="34" charset="0"/>
              <a:buChar char="•"/>
            </a:pPr>
            <a:r>
              <a:rPr lang="pt-PT" dirty="0" err="1"/>
              <a:t>Random</a:t>
            </a:r>
            <a:r>
              <a:rPr lang="pt-PT" dirty="0"/>
              <a:t> </a:t>
            </a:r>
            <a:r>
              <a:rPr lang="pt-PT" dirty="0" err="1"/>
              <a:t>Forest</a:t>
            </a:r>
            <a:r>
              <a:rPr lang="pt-PT" dirty="0"/>
              <a:t>: </a:t>
            </a:r>
            <a:r>
              <a:rPr lang="pt-PT" dirty="0" err="1"/>
              <a:t>Resilient</a:t>
            </a:r>
            <a:r>
              <a:rPr lang="pt-PT" dirty="0"/>
              <a:t> </a:t>
            </a:r>
            <a:r>
              <a:rPr lang="pt-PT" dirty="0" err="1"/>
              <a:t>but</a:t>
            </a:r>
            <a:r>
              <a:rPr lang="pt-PT" dirty="0"/>
              <a:t> </a:t>
            </a:r>
            <a:r>
              <a:rPr lang="pt-PT" dirty="0" err="1"/>
              <a:t>enhanced</a:t>
            </a:r>
            <a:r>
              <a:rPr lang="pt-PT" dirty="0"/>
              <a:t> </a:t>
            </a:r>
            <a:r>
              <a:rPr lang="pt-PT" dirty="0" err="1"/>
              <a:t>by</a:t>
            </a:r>
            <a:r>
              <a:rPr lang="pt-PT" dirty="0"/>
              <a:t> </a:t>
            </a:r>
            <a:r>
              <a:rPr lang="pt-PT" dirty="0" err="1"/>
              <a:t>methods</a:t>
            </a:r>
            <a:r>
              <a:rPr lang="pt-PT" dirty="0"/>
              <a:t> </a:t>
            </a:r>
            <a:r>
              <a:rPr lang="pt-PT" dirty="0" err="1"/>
              <a:t>like</a:t>
            </a:r>
            <a:r>
              <a:rPr lang="pt-PT" dirty="0"/>
              <a:t> B-SMOTE.</a:t>
            </a:r>
          </a:p>
          <a:p>
            <a:pPr marL="742950" lvl="1" indent="-285750">
              <a:buFont typeface="Arial" panose="020B0604020202020204" pitchFamily="34" charset="0"/>
              <a:buChar char="•"/>
            </a:pPr>
            <a:r>
              <a:rPr lang="pt-PT" dirty="0" err="1"/>
              <a:t>XGBoost</a:t>
            </a:r>
            <a:r>
              <a:rPr lang="pt-PT" dirty="0"/>
              <a:t>: </a:t>
            </a:r>
            <a:r>
              <a:rPr lang="pt-PT" dirty="0" err="1"/>
              <a:t>Requires</a:t>
            </a:r>
            <a:r>
              <a:rPr lang="pt-PT" dirty="0"/>
              <a:t> </a:t>
            </a:r>
            <a:r>
              <a:rPr lang="pt-PT" dirty="0" err="1"/>
              <a:t>careful</a:t>
            </a:r>
            <a:r>
              <a:rPr lang="pt-PT" dirty="0"/>
              <a:t> </a:t>
            </a:r>
            <a:r>
              <a:rPr lang="pt-PT" dirty="0" err="1"/>
              <a:t>calibration</a:t>
            </a:r>
            <a:r>
              <a:rPr lang="pt-PT" dirty="0"/>
              <a:t> </a:t>
            </a:r>
            <a:r>
              <a:rPr lang="pt-PT" dirty="0" err="1"/>
              <a:t>with</a:t>
            </a:r>
            <a:r>
              <a:rPr lang="pt-PT" dirty="0"/>
              <a:t> </a:t>
            </a:r>
            <a:r>
              <a:rPr lang="pt-PT" dirty="0" err="1"/>
              <a:t>advanced</a:t>
            </a:r>
            <a:r>
              <a:rPr lang="pt-PT" dirty="0"/>
              <a:t> </a:t>
            </a:r>
            <a:r>
              <a:rPr lang="pt-PT" dirty="0" err="1"/>
              <a:t>techniques</a:t>
            </a:r>
            <a:r>
              <a:rPr lang="pt-PT" dirty="0"/>
              <a:t>.</a:t>
            </a:r>
          </a:p>
          <a:p>
            <a:r>
              <a:rPr lang="pt-PT" b="1" dirty="0" err="1"/>
              <a:t>Broader</a:t>
            </a:r>
            <a:r>
              <a:rPr lang="pt-PT" b="1" dirty="0"/>
              <a:t> </a:t>
            </a:r>
            <a:r>
              <a:rPr lang="pt-PT" b="1" dirty="0" err="1"/>
              <a:t>Implications</a:t>
            </a:r>
            <a:r>
              <a:rPr lang="pt-PT" b="1" dirty="0"/>
              <a:t>:</a:t>
            </a:r>
          </a:p>
          <a:p>
            <a:pPr>
              <a:buFont typeface="Arial" panose="020B0604020202020204" pitchFamily="34" charset="0"/>
              <a:buChar char="•"/>
            </a:pPr>
            <a:r>
              <a:rPr lang="pt-PT" dirty="0" err="1"/>
              <a:t>Importance</a:t>
            </a:r>
            <a:r>
              <a:rPr lang="pt-PT" dirty="0"/>
              <a:t> </a:t>
            </a:r>
            <a:r>
              <a:rPr lang="pt-PT" dirty="0" err="1"/>
              <a:t>of</a:t>
            </a:r>
            <a:r>
              <a:rPr lang="pt-PT" dirty="0"/>
              <a:t> </a:t>
            </a:r>
            <a:r>
              <a:rPr lang="pt-PT" dirty="0" err="1"/>
              <a:t>evaluating</a:t>
            </a:r>
            <a:r>
              <a:rPr lang="pt-PT" dirty="0"/>
              <a:t> </a:t>
            </a:r>
            <a:r>
              <a:rPr lang="pt-PT" dirty="0" err="1"/>
              <a:t>models</a:t>
            </a:r>
            <a:r>
              <a:rPr lang="pt-PT" dirty="0"/>
              <a:t> </a:t>
            </a:r>
            <a:r>
              <a:rPr lang="pt-PT" dirty="0" err="1"/>
              <a:t>beyond</a:t>
            </a:r>
            <a:r>
              <a:rPr lang="pt-PT" dirty="0"/>
              <a:t> </a:t>
            </a:r>
            <a:r>
              <a:rPr lang="pt-PT" b="1" dirty="0" err="1"/>
              <a:t>Accuracy</a:t>
            </a:r>
            <a:r>
              <a:rPr lang="pt-PT" dirty="0"/>
              <a:t>, </a:t>
            </a:r>
            <a:r>
              <a:rPr lang="pt-PT" dirty="0" err="1"/>
              <a:t>using</a:t>
            </a:r>
            <a:r>
              <a:rPr lang="pt-PT" dirty="0"/>
              <a:t> </a:t>
            </a:r>
            <a:r>
              <a:rPr lang="pt-PT" dirty="0" err="1"/>
              <a:t>metrics</a:t>
            </a:r>
            <a:r>
              <a:rPr lang="pt-PT" dirty="0"/>
              <a:t> </a:t>
            </a:r>
            <a:r>
              <a:rPr lang="pt-PT" dirty="0" err="1"/>
              <a:t>like</a:t>
            </a:r>
            <a:r>
              <a:rPr lang="pt-PT" dirty="0"/>
              <a:t>:</a:t>
            </a:r>
          </a:p>
          <a:p>
            <a:pPr marL="742950" lvl="1" indent="-285750">
              <a:buFont typeface="Arial" panose="020B0604020202020204" pitchFamily="34" charset="0"/>
              <a:buChar char="•"/>
            </a:pPr>
            <a:r>
              <a:rPr lang="pt-PT" b="1" dirty="0"/>
              <a:t>F1 Score</a:t>
            </a:r>
            <a:r>
              <a:rPr lang="pt-PT" dirty="0"/>
              <a:t> (</a:t>
            </a:r>
            <a:r>
              <a:rPr lang="pt-PT" dirty="0" err="1"/>
              <a:t>Precision-Recall</a:t>
            </a:r>
            <a:r>
              <a:rPr lang="pt-PT" dirty="0"/>
              <a:t> </a:t>
            </a:r>
            <a:r>
              <a:rPr lang="pt-PT" dirty="0" err="1"/>
              <a:t>trade-off</a:t>
            </a:r>
            <a:r>
              <a:rPr lang="pt-PT" dirty="0"/>
              <a:t>).</a:t>
            </a:r>
          </a:p>
          <a:p>
            <a:pPr marL="742950" lvl="1" indent="-285750">
              <a:buFont typeface="Arial" panose="020B0604020202020204" pitchFamily="34" charset="0"/>
              <a:buChar char="•"/>
            </a:pPr>
            <a:r>
              <a:rPr lang="pt-PT" b="1" dirty="0"/>
              <a:t>AUPRCC</a:t>
            </a:r>
            <a:r>
              <a:rPr lang="pt-PT" dirty="0"/>
              <a:t> (</a:t>
            </a:r>
            <a:r>
              <a:rPr lang="pt-PT" dirty="0" err="1"/>
              <a:t>minority</a:t>
            </a:r>
            <a:r>
              <a:rPr lang="pt-PT" dirty="0"/>
              <a:t> </a:t>
            </a:r>
            <a:r>
              <a:rPr lang="pt-PT" dirty="0" err="1"/>
              <a:t>class</a:t>
            </a:r>
            <a:r>
              <a:rPr lang="pt-PT" dirty="0"/>
              <a:t> </a:t>
            </a:r>
            <a:r>
              <a:rPr lang="pt-PT" dirty="0" err="1"/>
              <a:t>sensitivity</a:t>
            </a:r>
            <a:r>
              <a:rPr lang="pt-PT" dirty="0"/>
              <a:t>).</a:t>
            </a:r>
          </a:p>
          <a:p>
            <a:endParaRPr lang="pt-PT" dirty="0"/>
          </a:p>
          <a:p>
            <a:endParaRPr lang="pt-PT" dirty="0"/>
          </a:p>
          <a:p>
            <a:r>
              <a:rPr lang="en-US" b="1" dirty="0"/>
              <a:t>Contributions to Machine Learning:</a:t>
            </a:r>
          </a:p>
          <a:p>
            <a:pPr>
              <a:buFont typeface="Arial" panose="020B0604020202020204" pitchFamily="34" charset="0"/>
              <a:buChar char="•"/>
            </a:pPr>
            <a:r>
              <a:rPr lang="en-US" dirty="0"/>
              <a:t>Reinforced the importance of balancing techniques in:</a:t>
            </a:r>
          </a:p>
          <a:p>
            <a:pPr marL="742950" lvl="1" indent="-285750">
              <a:buFont typeface="Arial" panose="020B0604020202020204" pitchFamily="34" charset="0"/>
              <a:buChar char="•"/>
            </a:pPr>
            <a:r>
              <a:rPr lang="en-US" dirty="0"/>
              <a:t>Equitable representation of minority classes.</a:t>
            </a:r>
          </a:p>
          <a:p>
            <a:pPr marL="742950" lvl="1" indent="-285750">
              <a:buFont typeface="Arial" panose="020B0604020202020204" pitchFamily="34" charset="0"/>
              <a:buChar char="•"/>
            </a:pPr>
            <a:r>
              <a:rPr lang="en-US" dirty="0"/>
              <a:t>Enhancing predictive capabilities for imbalanced datasets.</a:t>
            </a:r>
          </a:p>
          <a:p>
            <a:pPr>
              <a:buFont typeface="Arial" panose="020B0604020202020204" pitchFamily="34" charset="0"/>
              <a:buChar char="•"/>
            </a:pPr>
            <a:r>
              <a:rPr lang="en-US" dirty="0"/>
              <a:t>Provided valuable insights into the effectiveness of specific strategies like:</a:t>
            </a:r>
          </a:p>
          <a:p>
            <a:pPr marL="742950" lvl="1" indent="-285750">
              <a:buFont typeface="Arial" panose="020B0604020202020204" pitchFamily="34" charset="0"/>
              <a:buChar char="•"/>
            </a:pPr>
            <a:r>
              <a:rPr lang="en-US" b="1" dirty="0"/>
              <a:t>BC-SMOTE</a:t>
            </a:r>
            <a:r>
              <a:rPr lang="en-US" dirty="0"/>
              <a:t>, </a:t>
            </a:r>
            <a:r>
              <a:rPr lang="en-US" b="1" dirty="0"/>
              <a:t>ADASYN</a:t>
            </a:r>
            <a:r>
              <a:rPr lang="en-US" dirty="0"/>
              <a:t>, and </a:t>
            </a:r>
            <a:r>
              <a:rPr lang="en-US" b="1" dirty="0"/>
              <a:t>Hybrid Tomek Links BC-SMOTE</a:t>
            </a:r>
            <a:r>
              <a:rPr lang="en-US" dirty="0"/>
              <a:t>.</a:t>
            </a:r>
          </a:p>
          <a:p>
            <a:r>
              <a:rPr lang="en-US" b="1" dirty="0"/>
              <a:t>Future Directions:</a:t>
            </a:r>
          </a:p>
          <a:p>
            <a:pPr>
              <a:buFont typeface="Arial" panose="020B0604020202020204" pitchFamily="34" charset="0"/>
              <a:buChar char="•"/>
            </a:pPr>
            <a:r>
              <a:rPr lang="en-US" dirty="0"/>
              <a:t>Further research into hybrid methods to reduce noise while maintaining balance.</a:t>
            </a:r>
          </a:p>
          <a:p>
            <a:pPr>
              <a:buFont typeface="Arial" panose="020B0604020202020204" pitchFamily="34" charset="0"/>
              <a:buChar char="•"/>
            </a:pPr>
            <a:r>
              <a:rPr lang="en-US" dirty="0"/>
              <a:t>Explore dataset-specific optimizations to enhance model generalizability.</a:t>
            </a:r>
          </a:p>
          <a:p>
            <a:endParaRPr lang="pt-PT" dirty="0"/>
          </a:p>
          <a:p>
            <a:endParaRPr lang="pt-PT" dirty="0"/>
          </a:p>
          <a:p>
            <a:endParaRPr lang="pt-PT" dirty="0"/>
          </a:p>
        </p:txBody>
      </p:sp>
      <p:sp>
        <p:nvSpPr>
          <p:cNvPr id="4" name="Marcador de Posição do Número do Diapositivo 3"/>
          <p:cNvSpPr>
            <a:spLocks noGrp="1"/>
          </p:cNvSpPr>
          <p:nvPr>
            <p:ph type="sldNum" sz="quarter" idx="5"/>
          </p:nvPr>
        </p:nvSpPr>
        <p:spPr/>
        <p:txBody>
          <a:bodyPr/>
          <a:lstStyle/>
          <a:p>
            <a:fld id="{021B9CEB-BF53-49FC-B677-A6A019229240}" type="slidenum">
              <a:rPr lang="pt-PT" smtClean="0"/>
              <a:t>25</a:t>
            </a:fld>
            <a:endParaRPr lang="pt-PT"/>
          </a:p>
        </p:txBody>
      </p:sp>
    </p:spTree>
    <p:extLst>
      <p:ext uri="{BB962C8B-B14F-4D97-AF65-F5344CB8AC3E}">
        <p14:creationId xmlns:p14="http://schemas.microsoft.com/office/powerpoint/2010/main" val="3815099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o de Título">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pt-PT"/>
              <a:t>Clique para editar o estilo de título do Modelo Global</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PT"/>
              <a:t>Clique para editar o estilo de subtítulo do Modelo Global</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12/6/2024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‹nº›</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Obje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Clique para editar o estilo de título do Modelo Global</a:t>
            </a:r>
            <a:endParaRPr lang="en-US" dirty="0"/>
          </a:p>
        </p:txBody>
      </p:sp>
      <p:sp>
        <p:nvSpPr>
          <p:cNvPr id="3" name="Content Placeholder 2"/>
          <p:cNvSpPr>
            <a:spLocks noGrp="1"/>
          </p:cNvSpPr>
          <p:nvPr>
            <p:ph idx="1"/>
          </p:nvPr>
        </p:nvSpPr>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12/6/2024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cção">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pt-PT"/>
              <a:t>Clique para editar o estilo de título do Modelo Global</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PT"/>
              <a:t>Clique para editar os estilos do texto de Modelo Global</a:t>
            </a:r>
          </a:p>
        </p:txBody>
      </p:sp>
      <p:sp>
        <p:nvSpPr>
          <p:cNvPr id="7" name="Date Placeholder 6"/>
          <p:cNvSpPr>
            <a:spLocks noGrp="1"/>
          </p:cNvSpPr>
          <p:nvPr>
            <p:ph type="dt" sz="half" idx="10"/>
          </p:nvPr>
        </p:nvSpPr>
        <p:spPr/>
        <p:txBody>
          <a:bodyPr/>
          <a:lstStyle/>
          <a:p>
            <a:fld id="{1160EA64-D806-43AC-9DF2-F8C432F32B4C}" type="datetimeFigureOut">
              <a:rPr lang="en-US" dirty="0"/>
              <a:t>12/6/2024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‹nº›</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údo Dup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Clique para editar o estilo de título do Modelo Global</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12/6/2024</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 do texto de Modelo Global</a:t>
            </a:r>
          </a:p>
        </p:txBody>
      </p:sp>
      <p:sp>
        <p:nvSpPr>
          <p:cNvPr id="4" name="Content Placeholder 3"/>
          <p:cNvSpPr>
            <a:spLocks noGrp="1"/>
          </p:cNvSpPr>
          <p:nvPr>
            <p:ph sz="half" idx="2"/>
          </p:nvPr>
        </p:nvSpPr>
        <p:spPr>
          <a:xfrm>
            <a:off x="1583436" y="3143250"/>
            <a:ext cx="4270248" cy="2596776"/>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 do texto de Modelo Global</a:t>
            </a:r>
          </a:p>
        </p:txBody>
      </p:sp>
      <p:sp>
        <p:nvSpPr>
          <p:cNvPr id="7" name="Date Placeholder 6"/>
          <p:cNvSpPr>
            <a:spLocks noGrp="1"/>
          </p:cNvSpPr>
          <p:nvPr>
            <p:ph type="dt" sz="half" idx="10"/>
          </p:nvPr>
        </p:nvSpPr>
        <p:spPr/>
        <p:txBody>
          <a:bodyPr/>
          <a:lstStyle/>
          <a:p>
            <a:fld id="{4F7D4976-E339-4826-83B7-FBD03F55ECF8}" type="datetimeFigureOut">
              <a:rPr lang="en-US" dirty="0"/>
              <a:t>12/6/2024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‹nº›</a:t>
            </a:fld>
            <a:endParaRPr lang="en-US" dirty="0"/>
          </a:p>
        </p:txBody>
      </p:sp>
      <p:sp>
        <p:nvSpPr>
          <p:cNvPr id="10" name="Title 9"/>
          <p:cNvSpPr>
            <a:spLocks noGrp="1"/>
          </p:cNvSpPr>
          <p:nvPr>
            <p:ph type="title"/>
          </p:nvPr>
        </p:nvSpPr>
        <p:spPr/>
        <p:txBody>
          <a:bodyPr/>
          <a:lstStyle/>
          <a:p>
            <a:r>
              <a:rPr lang="pt-PT"/>
              <a:t>Clique para editar o estilo de título do Modelo Global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Clique para editar o estilo de título do Modelo Global</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12/6/2024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12/6/2024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pt-PT"/>
              <a:t>Clique para editar o estilo de título do Modelo Global</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a:t>Clique para editar os estilos do texto de Modelo Global</a:t>
            </a:r>
          </a:p>
        </p:txBody>
      </p:sp>
      <p:sp>
        <p:nvSpPr>
          <p:cNvPr id="9" name="Date Placeholder 8"/>
          <p:cNvSpPr>
            <a:spLocks noGrp="1"/>
          </p:cNvSpPr>
          <p:nvPr>
            <p:ph type="dt" sz="half" idx="10"/>
          </p:nvPr>
        </p:nvSpPr>
        <p:spPr/>
        <p:txBody>
          <a:bodyPr/>
          <a:lstStyle/>
          <a:p>
            <a:fld id="{D1BE4249-C0D0-4B06-8692-E8BB871AF643}" type="datetimeFigureOut">
              <a:rPr lang="en-US" dirty="0"/>
              <a:t>12/6/2024</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pt-PT"/>
              <a:t>Clique para editar o estilo de título do Modelo Global</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PT"/>
              <a:t>Clique no ícone para adicionar uma imagem</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a:t>Clique para editar os estilos do texto de Modelo Global</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12/6/2024</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Clique para editar o estilo de título do Modelo Global</a:t>
            </a:r>
            <a:endParaRPr lang="en-US" dirty="0"/>
          </a:p>
        </p:txBody>
      </p:sp>
      <p:sp>
        <p:nvSpPr>
          <p:cNvPr id="3" name="Vertical Text Placeholder 2"/>
          <p:cNvSpPr>
            <a:spLocks noGrp="1"/>
          </p:cNvSpPr>
          <p:nvPr>
            <p:ph type="body" orient="vert" idx="1"/>
          </p:nvPr>
        </p:nvSpPr>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e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pt-PT"/>
              <a:t>Clique para editar o estilo de título do Modelo Global</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pt-PT"/>
              <a:t>Clique para editar o estilo de título do Modelo Global</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12/6/2024</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png"/><Relationship Id="rId7" Type="http://schemas.openxmlformats.org/officeDocument/2006/relationships/diagramQuickStyle" Target="../diagrams/quickStyle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9.png"/><Relationship Id="rId9" Type="http://schemas.microsoft.com/office/2007/relationships/diagramDrawing" Target="../diagrams/drawing1.xml"/></Relationships>
</file>

<file path=ppt/slides/_rels/slide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7.jpg"/><Relationship Id="rId5" Type="http://schemas.openxmlformats.org/officeDocument/2006/relationships/image" Target="../media/image26.jpg"/><Relationship Id="rId4" Type="http://schemas.openxmlformats.org/officeDocument/2006/relationships/image" Target="../media/image25.jp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2CBAE"/>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B098DF-6EB3-7269-9C13-3E43EBF8466A}"/>
              </a:ext>
            </a:extLst>
          </p:cNvPr>
          <p:cNvSpPr>
            <a:spLocks noGrp="1"/>
          </p:cNvSpPr>
          <p:nvPr>
            <p:ph type="ctrTitle"/>
          </p:nvPr>
        </p:nvSpPr>
        <p:spPr>
          <a:xfrm>
            <a:off x="1600200" y="1682496"/>
            <a:ext cx="8991600" cy="1645920"/>
          </a:xfrm>
        </p:spPr>
        <p:txBody>
          <a:bodyPr/>
          <a:lstStyle/>
          <a:p>
            <a:r>
              <a:rPr lang="pt-PT" dirty="0"/>
              <a:t>(De)</a:t>
            </a:r>
            <a:r>
              <a:rPr lang="pt-PT" dirty="0" err="1"/>
              <a:t>generative</a:t>
            </a:r>
            <a:r>
              <a:rPr lang="pt-PT" dirty="0"/>
              <a:t> AI</a:t>
            </a:r>
          </a:p>
        </p:txBody>
      </p:sp>
      <p:sp>
        <p:nvSpPr>
          <p:cNvPr id="3" name="Subtítulo 2">
            <a:extLst>
              <a:ext uri="{FF2B5EF4-FFF2-40B4-BE49-F238E27FC236}">
                <a16:creationId xmlns:a16="http://schemas.microsoft.com/office/drawing/2014/main" id="{11B6A7A4-F037-7FFF-FA06-545F0964EE6A}"/>
              </a:ext>
            </a:extLst>
          </p:cNvPr>
          <p:cNvSpPr>
            <a:spLocks noGrp="1"/>
          </p:cNvSpPr>
          <p:nvPr>
            <p:ph type="subTitle" idx="1"/>
          </p:nvPr>
        </p:nvSpPr>
        <p:spPr>
          <a:xfrm>
            <a:off x="1600200" y="3721767"/>
            <a:ext cx="8991600" cy="2261937"/>
          </a:xfrm>
        </p:spPr>
        <p:txBody>
          <a:bodyPr>
            <a:normAutofit fontScale="92500" lnSpcReduction="20000"/>
          </a:bodyPr>
          <a:lstStyle/>
          <a:p>
            <a:r>
              <a:rPr lang="pt-PT" sz="3000" b="1" dirty="0"/>
              <a:t>Artificial </a:t>
            </a:r>
            <a:r>
              <a:rPr lang="pt-PT" sz="3000" b="1" dirty="0" err="1"/>
              <a:t>Intelligence</a:t>
            </a:r>
            <a:r>
              <a:rPr lang="pt-PT" sz="3000" b="1" dirty="0"/>
              <a:t> </a:t>
            </a:r>
            <a:r>
              <a:rPr lang="pt-PT" sz="3000" b="1" dirty="0" err="1"/>
              <a:t>and</a:t>
            </a:r>
            <a:r>
              <a:rPr lang="pt-PT" sz="3000" b="1" dirty="0"/>
              <a:t> </a:t>
            </a:r>
            <a:r>
              <a:rPr lang="pt-PT" sz="3000" b="1" dirty="0" err="1"/>
              <a:t>Society</a:t>
            </a:r>
            <a:endParaRPr lang="pt-PT" sz="3000" b="1" dirty="0"/>
          </a:p>
          <a:p>
            <a:r>
              <a:rPr lang="pt-PT" dirty="0"/>
              <a:t>Catarina Monteiro – 202105279</a:t>
            </a:r>
          </a:p>
          <a:p>
            <a:r>
              <a:rPr lang="pt-PT" dirty="0"/>
              <a:t>Diogo Mendes - 202108102</a:t>
            </a:r>
          </a:p>
          <a:p>
            <a:r>
              <a:rPr lang="pt-PT" dirty="0"/>
              <a:t>Guilherme Vaz - 202106775</a:t>
            </a:r>
          </a:p>
          <a:p>
            <a:r>
              <a:rPr lang="pt-PT" dirty="0"/>
              <a:t>Gonçalo Brochado - 202106090</a:t>
            </a:r>
          </a:p>
          <a:p>
            <a:r>
              <a:rPr lang="pt-PT" dirty="0"/>
              <a:t>Matheus </a:t>
            </a:r>
            <a:r>
              <a:rPr lang="pt-PT" dirty="0" err="1"/>
              <a:t>Bissacot</a:t>
            </a:r>
            <a:r>
              <a:rPr lang="pt-PT" dirty="0"/>
              <a:t> - 202106708</a:t>
            </a:r>
          </a:p>
        </p:txBody>
      </p:sp>
      <p:pic>
        <p:nvPicPr>
          <p:cNvPr id="5" name="Imagem 4">
            <a:extLst>
              <a:ext uri="{FF2B5EF4-FFF2-40B4-BE49-F238E27FC236}">
                <a16:creationId xmlns:a16="http://schemas.microsoft.com/office/drawing/2014/main" id="{64599110-6AD1-2D83-2C23-AD6A6DEE951F}"/>
              </a:ext>
            </a:extLst>
          </p:cNvPr>
          <p:cNvPicPr>
            <a:picLocks noChangeAspect="1"/>
          </p:cNvPicPr>
          <p:nvPr/>
        </p:nvPicPr>
        <p:blipFill>
          <a:blip r:embed="rId2"/>
          <a:srcRect l="14970"/>
          <a:stretch/>
        </p:blipFill>
        <p:spPr>
          <a:xfrm>
            <a:off x="0" y="-1"/>
            <a:ext cx="2726888" cy="168249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043134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AD7C5BE-418C-4A44-91BF-28E411F75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1559052"/>
            <a:ext cx="10271760" cy="4347972"/>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372777A-4AB0-B9EB-739E-AA737EBFC9AD}"/>
              </a:ext>
            </a:extLst>
          </p:cNvPr>
          <p:cNvSpPr>
            <a:spLocks noGrp="1"/>
          </p:cNvSpPr>
          <p:nvPr>
            <p:ph type="title"/>
          </p:nvPr>
        </p:nvSpPr>
        <p:spPr>
          <a:xfrm>
            <a:off x="2231136" y="964692"/>
            <a:ext cx="7729728" cy="1188720"/>
          </a:xfrm>
          <a:ln>
            <a:solidFill>
              <a:srgbClr val="404040"/>
            </a:solidFill>
          </a:ln>
        </p:spPr>
        <p:txBody>
          <a:bodyPr vert="horz" lIns="182880" tIns="182880" rIns="182880" bIns="182880" rtlCol="0" anchor="ctr">
            <a:normAutofit/>
          </a:bodyPr>
          <a:lstStyle/>
          <a:p>
            <a:r>
              <a:rPr lang="en-US"/>
              <a:t>Case study</a:t>
            </a:r>
          </a:p>
        </p:txBody>
      </p:sp>
      <p:pic>
        <p:nvPicPr>
          <p:cNvPr id="7" name="Marcador de Posição de Conteúdo 6" descr="Uma imagem com texto, captura de ecrã, diagrama, file&#10;&#10;Descrição gerada automaticamente">
            <a:extLst>
              <a:ext uri="{FF2B5EF4-FFF2-40B4-BE49-F238E27FC236}">
                <a16:creationId xmlns:a16="http://schemas.microsoft.com/office/drawing/2014/main" id="{1FB2FD73-7847-7259-2E2C-533B5EA1C018}"/>
              </a:ext>
            </a:extLst>
          </p:cNvPr>
          <p:cNvPicPr>
            <a:picLocks noGrp="1" noChangeAspect="1"/>
          </p:cNvPicPr>
          <p:nvPr>
            <p:ph idx="1"/>
          </p:nvPr>
        </p:nvPicPr>
        <p:blipFill>
          <a:blip r:embed="rId3"/>
          <a:stretch>
            <a:fillRect/>
          </a:stretch>
        </p:blipFill>
        <p:spPr>
          <a:xfrm>
            <a:off x="2592074" y="2482596"/>
            <a:ext cx="7019526" cy="2930652"/>
          </a:xfrm>
          <a:prstGeom prst="rect">
            <a:avLst/>
          </a:prstGeom>
        </p:spPr>
      </p:pic>
      <p:pic>
        <p:nvPicPr>
          <p:cNvPr id="5" name="Imagem 4" descr="Uma imagem com Gráficos, fogo de artifício, design&#10;&#10;Descrição gerada automaticamente">
            <a:extLst>
              <a:ext uri="{FF2B5EF4-FFF2-40B4-BE49-F238E27FC236}">
                <a16:creationId xmlns:a16="http://schemas.microsoft.com/office/drawing/2014/main" id="{B14BEADF-5E65-F02A-9BB7-F0B66EDE9D5B}"/>
              </a:ext>
            </a:extLst>
          </p:cNvPr>
          <p:cNvPicPr>
            <a:picLocks noChangeAspect="1"/>
          </p:cNvPicPr>
          <p:nvPr/>
        </p:nvPicPr>
        <p:blipFill>
          <a:blip r:embed="rId4"/>
          <a:srcRect l="14970"/>
          <a:stretch/>
        </p:blipFill>
        <p:spPr>
          <a:xfrm>
            <a:off x="0" y="-1"/>
            <a:ext cx="2036190" cy="1256334"/>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450267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1A431-46E1-66C6-2307-CD6108924217}"/>
              </a:ext>
            </a:extLst>
          </p:cNvPr>
          <p:cNvSpPr>
            <a:spLocks noGrp="1"/>
          </p:cNvSpPr>
          <p:nvPr>
            <p:ph type="title"/>
          </p:nvPr>
        </p:nvSpPr>
        <p:spPr/>
        <p:txBody>
          <a:bodyPr/>
          <a:lstStyle/>
          <a:p>
            <a:r>
              <a:rPr lang="pt-PT" dirty="0" err="1"/>
              <a:t>Our</a:t>
            </a:r>
            <a:r>
              <a:rPr lang="pt-PT" dirty="0"/>
              <a:t> </a:t>
            </a:r>
            <a:r>
              <a:rPr lang="pt-PT" dirty="0" err="1"/>
              <a:t>approach</a:t>
            </a:r>
            <a:endParaRPr lang="pt-PT" dirty="0"/>
          </a:p>
        </p:txBody>
      </p:sp>
      <p:pic>
        <p:nvPicPr>
          <p:cNvPr id="6" name="Imagem 5">
            <a:extLst>
              <a:ext uri="{FF2B5EF4-FFF2-40B4-BE49-F238E27FC236}">
                <a16:creationId xmlns:a16="http://schemas.microsoft.com/office/drawing/2014/main" id="{5B297533-44FE-D6E0-39DE-8E810FEDDFB1}"/>
              </a:ext>
            </a:extLst>
          </p:cNvPr>
          <p:cNvPicPr>
            <a:picLocks noChangeAspect="1"/>
          </p:cNvPicPr>
          <p:nvPr/>
        </p:nvPicPr>
        <p:blipFill>
          <a:blip r:embed="rId3"/>
          <a:srcRect l="14970"/>
          <a:stretch/>
        </p:blipFill>
        <p:spPr>
          <a:xfrm>
            <a:off x="0" y="-1"/>
            <a:ext cx="2036190" cy="1256334"/>
          </a:xfrm>
          <a:prstGeom prst="rect">
            <a:avLst/>
          </a:prstGeom>
          <a:effectLst>
            <a:outerShdw blurRad="50800" dist="38100" dir="5400000" algn="t" rotWithShape="0">
              <a:prstClr val="black">
                <a:alpha val="40000"/>
              </a:prstClr>
            </a:outerShdw>
          </a:effectLst>
        </p:spPr>
      </p:pic>
      <p:pic>
        <p:nvPicPr>
          <p:cNvPr id="1029" name="Picture 5">
            <a:extLst>
              <a:ext uri="{FF2B5EF4-FFF2-40B4-BE49-F238E27FC236}">
                <a16:creationId xmlns:a16="http://schemas.microsoft.com/office/drawing/2014/main" id="{A752D644-CAE5-E7D0-35C2-C2051AB61C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3453785">
            <a:off x="9973315" y="-149823"/>
            <a:ext cx="2683948" cy="3297830"/>
          </a:xfrm>
          <a:prstGeom prst="rect">
            <a:avLst/>
          </a:prstGeom>
          <a:noFill/>
          <a:extLst>
            <a:ext uri="{909E8E84-426E-40DD-AFC4-6F175D3DCCD1}">
              <a14:hiddenFill xmlns:a14="http://schemas.microsoft.com/office/drawing/2010/main">
                <a:solidFill>
                  <a:srgbClr val="FFFFFF"/>
                </a:solidFill>
              </a14:hiddenFill>
            </a:ext>
          </a:extLst>
        </p:spPr>
      </p:pic>
      <p:sp>
        <p:nvSpPr>
          <p:cNvPr id="9" name="Fluxograma: Conexão 8">
            <a:extLst>
              <a:ext uri="{FF2B5EF4-FFF2-40B4-BE49-F238E27FC236}">
                <a16:creationId xmlns:a16="http://schemas.microsoft.com/office/drawing/2014/main" id="{424D71ED-E1D3-3F60-1545-35DEE11D1F74}"/>
              </a:ext>
            </a:extLst>
          </p:cNvPr>
          <p:cNvSpPr/>
          <p:nvPr/>
        </p:nvSpPr>
        <p:spPr>
          <a:xfrm>
            <a:off x="400704" y="3539424"/>
            <a:ext cx="2325948" cy="2192312"/>
          </a:xfrm>
          <a:prstGeom prst="flowChartConnector">
            <a:avLst/>
          </a:prstGeom>
          <a:solidFill>
            <a:srgbClr val="B2CBAE"/>
          </a:solidFill>
          <a:ln>
            <a:solidFill>
              <a:srgbClr val="B2CBAE"/>
            </a:solidFill>
          </a:ln>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0" name="Fluxograma: Conexão 9">
            <a:extLst>
              <a:ext uri="{FF2B5EF4-FFF2-40B4-BE49-F238E27FC236}">
                <a16:creationId xmlns:a16="http://schemas.microsoft.com/office/drawing/2014/main" id="{C3E417A6-89A2-B7A2-B99E-FCA57DC84C25}"/>
              </a:ext>
            </a:extLst>
          </p:cNvPr>
          <p:cNvSpPr/>
          <p:nvPr/>
        </p:nvSpPr>
        <p:spPr>
          <a:xfrm>
            <a:off x="3508223" y="3539424"/>
            <a:ext cx="2325948" cy="2192312"/>
          </a:xfrm>
          <a:prstGeom prst="flowChartConnector">
            <a:avLst/>
          </a:prstGeom>
          <a:solidFill>
            <a:srgbClr val="B2CBAE"/>
          </a:solidFill>
          <a:ln>
            <a:solidFill>
              <a:srgbClr val="B2CBAE"/>
            </a:solidFill>
          </a:ln>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1" name="Fluxograma: Conexão 10">
            <a:extLst>
              <a:ext uri="{FF2B5EF4-FFF2-40B4-BE49-F238E27FC236}">
                <a16:creationId xmlns:a16="http://schemas.microsoft.com/office/drawing/2014/main" id="{B02A0413-23FB-802F-578A-9E427FB9C854}"/>
              </a:ext>
            </a:extLst>
          </p:cNvPr>
          <p:cNvSpPr/>
          <p:nvPr/>
        </p:nvSpPr>
        <p:spPr>
          <a:xfrm>
            <a:off x="6455035" y="3539424"/>
            <a:ext cx="2325948" cy="2192312"/>
          </a:xfrm>
          <a:prstGeom prst="flowChartConnector">
            <a:avLst/>
          </a:prstGeom>
          <a:solidFill>
            <a:srgbClr val="B2CBAE"/>
          </a:solidFill>
          <a:ln>
            <a:solidFill>
              <a:srgbClr val="B2CBAE"/>
            </a:solidFill>
          </a:ln>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2" name="Fluxograma: Conexão 11">
            <a:extLst>
              <a:ext uri="{FF2B5EF4-FFF2-40B4-BE49-F238E27FC236}">
                <a16:creationId xmlns:a16="http://schemas.microsoft.com/office/drawing/2014/main" id="{453C9B6B-61A6-2C1E-2C87-724C7C9A94D4}"/>
              </a:ext>
            </a:extLst>
          </p:cNvPr>
          <p:cNvSpPr/>
          <p:nvPr/>
        </p:nvSpPr>
        <p:spPr>
          <a:xfrm>
            <a:off x="9465348" y="3539424"/>
            <a:ext cx="2325948" cy="2192312"/>
          </a:xfrm>
          <a:prstGeom prst="flowChartConnector">
            <a:avLst/>
          </a:prstGeom>
          <a:solidFill>
            <a:srgbClr val="B2CBAE"/>
          </a:solidFill>
          <a:ln>
            <a:solidFill>
              <a:srgbClr val="B2CBAE"/>
            </a:solidFill>
          </a:ln>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3" name="CaixaDeTexto 12">
            <a:extLst>
              <a:ext uri="{FF2B5EF4-FFF2-40B4-BE49-F238E27FC236}">
                <a16:creationId xmlns:a16="http://schemas.microsoft.com/office/drawing/2014/main" id="{261ADC15-ED06-67D3-2DAC-9618C577FF9F}"/>
              </a:ext>
            </a:extLst>
          </p:cNvPr>
          <p:cNvSpPr txBox="1"/>
          <p:nvPr/>
        </p:nvSpPr>
        <p:spPr>
          <a:xfrm>
            <a:off x="656594" y="4173913"/>
            <a:ext cx="1813810" cy="923330"/>
          </a:xfrm>
          <a:prstGeom prst="rect">
            <a:avLst/>
          </a:prstGeom>
          <a:noFill/>
        </p:spPr>
        <p:txBody>
          <a:bodyPr wrap="square" rtlCol="0">
            <a:spAutoFit/>
          </a:bodyPr>
          <a:lstStyle/>
          <a:p>
            <a:pPr algn="ctr"/>
            <a:r>
              <a:rPr lang="pt-PT" dirty="0" err="1"/>
              <a:t>Analyze</a:t>
            </a:r>
            <a:r>
              <a:rPr lang="pt-PT" dirty="0"/>
              <a:t> </a:t>
            </a:r>
            <a:r>
              <a:rPr lang="pt-PT" dirty="0" err="1"/>
              <a:t>imbalances</a:t>
            </a:r>
            <a:r>
              <a:rPr lang="pt-PT" dirty="0"/>
              <a:t> in </a:t>
            </a:r>
            <a:r>
              <a:rPr lang="pt-PT" dirty="0" err="1"/>
              <a:t>dataset</a:t>
            </a:r>
            <a:r>
              <a:rPr lang="pt-PT" dirty="0"/>
              <a:t> </a:t>
            </a:r>
            <a:r>
              <a:rPr lang="pt-PT" dirty="0" err="1"/>
              <a:t>structure</a:t>
            </a:r>
            <a:endParaRPr lang="pt-PT" dirty="0"/>
          </a:p>
        </p:txBody>
      </p:sp>
      <p:sp>
        <p:nvSpPr>
          <p:cNvPr id="14" name="CaixaDeTexto 13">
            <a:extLst>
              <a:ext uri="{FF2B5EF4-FFF2-40B4-BE49-F238E27FC236}">
                <a16:creationId xmlns:a16="http://schemas.microsoft.com/office/drawing/2014/main" id="{6DBE0CBF-FA01-82C8-4262-5766017BA630}"/>
              </a:ext>
            </a:extLst>
          </p:cNvPr>
          <p:cNvSpPr txBox="1"/>
          <p:nvPr/>
        </p:nvSpPr>
        <p:spPr>
          <a:xfrm>
            <a:off x="3764292" y="4035415"/>
            <a:ext cx="1813810" cy="1200329"/>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pt-PT" altLang="pt-PT" sz="1800" b="0" i="0" u="none" strike="noStrike" cap="none" normalizeH="0" baseline="0" dirty="0" err="1">
                <a:ln>
                  <a:noFill/>
                </a:ln>
                <a:solidFill>
                  <a:schemeClr val="tx1"/>
                </a:solidFill>
                <a:effectLst/>
              </a:rPr>
              <a:t>Train</a:t>
            </a:r>
            <a:r>
              <a:rPr kumimoji="0" lang="pt-PT" altLang="pt-PT" sz="1800" b="0" i="0" u="none" strike="noStrike" cap="none" normalizeH="0" baseline="0" dirty="0">
                <a:ln>
                  <a:noFill/>
                </a:ln>
                <a:solidFill>
                  <a:schemeClr val="tx1"/>
                </a:solidFill>
                <a:effectLst/>
              </a:rPr>
              <a:t> </a:t>
            </a:r>
            <a:r>
              <a:rPr kumimoji="0" lang="pt-PT" altLang="pt-PT" sz="1800" b="0" i="0" u="none" strike="noStrike" cap="none" normalizeH="0" baseline="0" dirty="0" err="1">
                <a:ln>
                  <a:noFill/>
                </a:ln>
                <a:solidFill>
                  <a:schemeClr val="tx1"/>
                </a:solidFill>
                <a:effectLst/>
              </a:rPr>
              <a:t>models</a:t>
            </a:r>
            <a:r>
              <a:rPr kumimoji="0" lang="pt-PT" altLang="pt-PT" sz="1800" b="0" i="0" u="none" strike="noStrike" cap="none" normalizeH="0" baseline="0" dirty="0">
                <a:ln>
                  <a:noFill/>
                </a:ln>
                <a:solidFill>
                  <a:schemeClr val="tx1"/>
                </a:solidFill>
                <a:effectLst/>
              </a:rPr>
              <a:t> </a:t>
            </a:r>
            <a:r>
              <a:rPr kumimoji="0" lang="pt-PT" altLang="pt-PT" sz="1800" b="0" i="0" u="none" strike="noStrike" cap="none" normalizeH="0" baseline="0" dirty="0" err="1">
                <a:ln>
                  <a:noFill/>
                </a:ln>
                <a:solidFill>
                  <a:schemeClr val="tx1"/>
                </a:solidFill>
                <a:effectLst/>
              </a:rPr>
              <a:t>on</a:t>
            </a:r>
            <a:r>
              <a:rPr kumimoji="0" lang="pt-PT" altLang="pt-PT" sz="1800" b="0" i="0" u="none" strike="noStrike" cap="none" normalizeH="0" baseline="0" dirty="0">
                <a:ln>
                  <a:noFill/>
                </a:ln>
                <a:solidFill>
                  <a:schemeClr val="tx1"/>
                </a:solidFill>
                <a:effectLst/>
              </a:rPr>
              <a:t> </a:t>
            </a:r>
            <a:r>
              <a:rPr kumimoji="0" lang="pt-PT" altLang="pt-PT" sz="1800" b="0" i="0" u="none" strike="noStrike" cap="none" normalizeH="0" baseline="0" dirty="0" err="1">
                <a:ln>
                  <a:noFill/>
                </a:ln>
                <a:solidFill>
                  <a:schemeClr val="tx1"/>
                </a:solidFill>
                <a:effectLst/>
              </a:rPr>
              <a:t>raw</a:t>
            </a:r>
            <a:r>
              <a:rPr kumimoji="0" lang="pt-PT" altLang="pt-PT" sz="1800" b="0" i="0" u="none" strike="noStrike" cap="none" normalizeH="0" baseline="0" dirty="0">
                <a:ln>
                  <a:noFill/>
                </a:ln>
                <a:solidFill>
                  <a:schemeClr val="tx1"/>
                </a:solidFill>
                <a:effectLst/>
              </a:rPr>
              <a:t> data to observe </a:t>
            </a:r>
            <a:r>
              <a:rPr kumimoji="0" lang="pt-PT" altLang="pt-PT" sz="1800" b="0" i="0" u="none" strike="noStrike" cap="none" normalizeH="0" baseline="0" dirty="0" err="1">
                <a:ln>
                  <a:noFill/>
                </a:ln>
                <a:solidFill>
                  <a:schemeClr val="tx1"/>
                </a:solidFill>
                <a:effectLst/>
              </a:rPr>
              <a:t>imbalance</a:t>
            </a:r>
            <a:r>
              <a:rPr kumimoji="0" lang="pt-PT" altLang="pt-PT" sz="1800" b="0" i="0" u="none" strike="noStrike" cap="none" normalizeH="0" baseline="0" dirty="0">
                <a:ln>
                  <a:noFill/>
                </a:ln>
                <a:solidFill>
                  <a:schemeClr val="tx1"/>
                </a:solidFill>
                <a:effectLst/>
              </a:rPr>
              <a:t> </a:t>
            </a:r>
            <a:r>
              <a:rPr kumimoji="0" lang="pt-PT" altLang="pt-PT" sz="1800" b="0" i="0" u="none" strike="noStrike" cap="none" normalizeH="0" baseline="0" dirty="0" err="1">
                <a:ln>
                  <a:noFill/>
                </a:ln>
                <a:solidFill>
                  <a:schemeClr val="tx1"/>
                </a:solidFill>
                <a:effectLst/>
              </a:rPr>
              <a:t>effects</a:t>
            </a:r>
            <a:endParaRPr kumimoji="0" lang="pt-PT" altLang="pt-PT" sz="1800" b="0" i="0" u="none" strike="noStrike" cap="none" normalizeH="0" baseline="0" dirty="0">
              <a:ln>
                <a:noFill/>
              </a:ln>
              <a:solidFill>
                <a:schemeClr val="tx1"/>
              </a:solidFill>
              <a:effectLst/>
            </a:endParaRPr>
          </a:p>
        </p:txBody>
      </p:sp>
      <p:sp>
        <p:nvSpPr>
          <p:cNvPr id="15" name="CaixaDeTexto 14">
            <a:extLst>
              <a:ext uri="{FF2B5EF4-FFF2-40B4-BE49-F238E27FC236}">
                <a16:creationId xmlns:a16="http://schemas.microsoft.com/office/drawing/2014/main" id="{54EE9867-6378-AF3F-255C-E79194DC6C35}"/>
              </a:ext>
            </a:extLst>
          </p:cNvPr>
          <p:cNvSpPr txBox="1"/>
          <p:nvPr/>
        </p:nvSpPr>
        <p:spPr>
          <a:xfrm>
            <a:off x="6711104" y="4038476"/>
            <a:ext cx="1813810" cy="1200329"/>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pt-PT" altLang="pt-PT" sz="1800" b="0" i="0" u="none" strike="noStrike" cap="none" normalizeH="0" baseline="0" dirty="0" err="1">
                <a:ln>
                  <a:noFill/>
                </a:ln>
                <a:solidFill>
                  <a:schemeClr val="tx1"/>
                </a:solidFill>
                <a:effectLst/>
              </a:rPr>
              <a:t>Apply</a:t>
            </a:r>
            <a:r>
              <a:rPr kumimoji="0" lang="pt-PT" altLang="pt-PT" sz="1800" b="0" i="0" u="none" strike="noStrike" cap="none" normalizeH="0" baseline="0" dirty="0">
                <a:ln>
                  <a:noFill/>
                </a:ln>
                <a:solidFill>
                  <a:schemeClr val="tx1"/>
                </a:solidFill>
                <a:effectLst/>
              </a:rPr>
              <a:t> </a:t>
            </a:r>
            <a:r>
              <a:rPr kumimoji="0" lang="pt-PT" altLang="pt-PT" sz="1800" b="0" i="0" u="none" strike="noStrike" cap="none" normalizeH="0" baseline="0" dirty="0" err="1">
                <a:ln>
                  <a:noFill/>
                </a:ln>
                <a:solidFill>
                  <a:schemeClr val="tx1"/>
                </a:solidFill>
                <a:effectLst/>
              </a:rPr>
              <a:t>resampling</a:t>
            </a:r>
            <a:r>
              <a:rPr kumimoji="0" lang="pt-PT" altLang="pt-PT" sz="1800" b="0" i="0" u="none" strike="noStrike" cap="none" normalizeH="0" baseline="0" dirty="0">
                <a:ln>
                  <a:noFill/>
                </a:ln>
                <a:solidFill>
                  <a:schemeClr val="tx1"/>
                </a:solidFill>
                <a:effectLst/>
              </a:rPr>
              <a:t> </a:t>
            </a:r>
            <a:r>
              <a:rPr kumimoji="0" lang="pt-PT" altLang="pt-PT" sz="1800" b="0" i="0" u="none" strike="noStrike" cap="none" normalizeH="0" baseline="0" dirty="0" err="1">
                <a:ln>
                  <a:noFill/>
                </a:ln>
                <a:solidFill>
                  <a:schemeClr val="tx1"/>
                </a:solidFill>
                <a:effectLst/>
              </a:rPr>
              <a:t>techniques</a:t>
            </a:r>
            <a:r>
              <a:rPr kumimoji="0" lang="pt-PT" altLang="pt-PT" sz="1800" b="0" i="0" u="none" strike="noStrike" cap="none" normalizeH="0" baseline="0" dirty="0">
                <a:ln>
                  <a:noFill/>
                </a:ln>
                <a:solidFill>
                  <a:schemeClr val="tx1"/>
                </a:solidFill>
                <a:effectLst/>
              </a:rPr>
              <a:t> to </a:t>
            </a:r>
            <a:r>
              <a:rPr kumimoji="0" lang="pt-PT" altLang="pt-PT" sz="1800" b="0" i="0" u="none" strike="noStrike" cap="none" normalizeH="0" baseline="0" dirty="0" err="1">
                <a:ln>
                  <a:noFill/>
                </a:ln>
                <a:solidFill>
                  <a:schemeClr val="tx1"/>
                </a:solidFill>
                <a:effectLst/>
              </a:rPr>
              <a:t>address</a:t>
            </a:r>
            <a:r>
              <a:rPr kumimoji="0" lang="pt-PT" altLang="pt-PT" sz="1800" b="0" i="0" u="none" strike="noStrike" cap="none" normalizeH="0" baseline="0" dirty="0">
                <a:ln>
                  <a:noFill/>
                </a:ln>
                <a:solidFill>
                  <a:schemeClr val="tx1"/>
                </a:solidFill>
                <a:effectLst/>
              </a:rPr>
              <a:t> </a:t>
            </a:r>
            <a:r>
              <a:rPr kumimoji="0" lang="pt-PT" altLang="pt-PT" sz="1800" b="0" i="0" u="none" strike="noStrike" cap="none" normalizeH="0" baseline="0" dirty="0" err="1">
                <a:ln>
                  <a:noFill/>
                </a:ln>
                <a:solidFill>
                  <a:schemeClr val="tx1"/>
                </a:solidFill>
                <a:effectLst/>
              </a:rPr>
              <a:t>class</a:t>
            </a:r>
            <a:r>
              <a:rPr kumimoji="0" lang="pt-PT" altLang="pt-PT" sz="1800" b="0" i="0" u="none" strike="noStrike" cap="none" normalizeH="0" baseline="0" dirty="0">
                <a:ln>
                  <a:noFill/>
                </a:ln>
                <a:solidFill>
                  <a:schemeClr val="tx1"/>
                </a:solidFill>
                <a:effectLst/>
              </a:rPr>
              <a:t> </a:t>
            </a:r>
            <a:r>
              <a:rPr kumimoji="0" lang="pt-PT" altLang="pt-PT" sz="1800" b="0" i="0" u="none" strike="noStrike" cap="none" normalizeH="0" baseline="0" dirty="0" err="1">
                <a:ln>
                  <a:noFill/>
                </a:ln>
                <a:solidFill>
                  <a:schemeClr val="tx1"/>
                </a:solidFill>
                <a:effectLst/>
              </a:rPr>
              <a:t>imbalance</a:t>
            </a:r>
            <a:endParaRPr kumimoji="0" lang="pt-PT" altLang="pt-PT" sz="1800" b="0" i="0" u="none" strike="noStrike" cap="none" normalizeH="0" baseline="0" dirty="0">
              <a:ln>
                <a:noFill/>
              </a:ln>
              <a:solidFill>
                <a:schemeClr val="tx1"/>
              </a:solidFill>
              <a:effectLst/>
            </a:endParaRPr>
          </a:p>
        </p:txBody>
      </p:sp>
      <p:sp>
        <p:nvSpPr>
          <p:cNvPr id="16" name="CaixaDeTexto 15">
            <a:extLst>
              <a:ext uri="{FF2B5EF4-FFF2-40B4-BE49-F238E27FC236}">
                <a16:creationId xmlns:a16="http://schemas.microsoft.com/office/drawing/2014/main" id="{15114F97-059C-7897-474B-2C06D3E541D0}"/>
              </a:ext>
            </a:extLst>
          </p:cNvPr>
          <p:cNvSpPr txBox="1"/>
          <p:nvPr/>
        </p:nvSpPr>
        <p:spPr>
          <a:xfrm>
            <a:off x="9721417" y="4035414"/>
            <a:ext cx="1813810" cy="1200329"/>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pt-PT" altLang="pt-PT" sz="1800" b="0" i="0" u="none" strike="noStrike" cap="none" normalizeH="0" baseline="0" dirty="0">
                <a:ln>
                  <a:noFill/>
                </a:ln>
                <a:solidFill>
                  <a:schemeClr val="tx1"/>
                </a:solidFill>
                <a:effectLst/>
              </a:rPr>
              <a:t>Compare </a:t>
            </a:r>
            <a:r>
              <a:rPr kumimoji="0" lang="pt-PT" altLang="pt-PT" sz="1800" b="0" i="0" u="none" strike="noStrike" cap="none" normalizeH="0" baseline="0" dirty="0" err="1">
                <a:ln>
                  <a:noFill/>
                </a:ln>
                <a:solidFill>
                  <a:schemeClr val="tx1"/>
                </a:solidFill>
                <a:effectLst/>
              </a:rPr>
              <a:t>model</a:t>
            </a:r>
            <a:r>
              <a:rPr kumimoji="0" lang="pt-PT" altLang="pt-PT" sz="1800" b="0" i="0" u="none" strike="noStrike" cap="none" normalizeH="0" baseline="0" dirty="0">
                <a:ln>
                  <a:noFill/>
                </a:ln>
                <a:solidFill>
                  <a:schemeClr val="tx1"/>
                </a:solidFill>
                <a:effectLst/>
              </a:rPr>
              <a:t> performance </a:t>
            </a:r>
            <a:r>
              <a:rPr kumimoji="0" lang="pt-PT" altLang="pt-PT" sz="1800" b="0" i="0" u="none" strike="noStrike" cap="none" normalizeH="0" baseline="0" dirty="0" err="1">
                <a:ln>
                  <a:noFill/>
                </a:ln>
                <a:solidFill>
                  <a:schemeClr val="tx1"/>
                </a:solidFill>
                <a:effectLst/>
              </a:rPr>
              <a:t>before</a:t>
            </a:r>
            <a:r>
              <a:rPr kumimoji="0" lang="pt-PT" altLang="pt-PT" sz="1800" b="0" i="0" u="none" strike="noStrike" cap="none" normalizeH="0" baseline="0" dirty="0">
                <a:ln>
                  <a:noFill/>
                </a:ln>
                <a:solidFill>
                  <a:schemeClr val="tx1"/>
                </a:solidFill>
                <a:effectLst/>
              </a:rPr>
              <a:t> </a:t>
            </a:r>
            <a:r>
              <a:rPr kumimoji="0" lang="pt-PT" altLang="pt-PT" sz="1800" b="0" i="0" u="none" strike="noStrike" cap="none" normalizeH="0" baseline="0" dirty="0" err="1">
                <a:ln>
                  <a:noFill/>
                </a:ln>
                <a:solidFill>
                  <a:schemeClr val="tx1"/>
                </a:solidFill>
                <a:effectLst/>
              </a:rPr>
              <a:t>and</a:t>
            </a:r>
            <a:r>
              <a:rPr kumimoji="0" lang="pt-PT" altLang="pt-PT" sz="1800" b="0" i="0" u="none" strike="noStrike" cap="none" normalizeH="0" baseline="0" dirty="0">
                <a:ln>
                  <a:noFill/>
                </a:ln>
                <a:solidFill>
                  <a:schemeClr val="tx1"/>
                </a:solidFill>
                <a:effectLst/>
              </a:rPr>
              <a:t> </a:t>
            </a:r>
            <a:r>
              <a:rPr kumimoji="0" lang="pt-PT" altLang="pt-PT" sz="1800" b="0" i="0" u="none" strike="noStrike" cap="none" normalizeH="0" baseline="0" dirty="0" err="1">
                <a:ln>
                  <a:noFill/>
                </a:ln>
                <a:solidFill>
                  <a:schemeClr val="tx1"/>
                </a:solidFill>
                <a:effectLst/>
              </a:rPr>
              <a:t>after</a:t>
            </a:r>
            <a:r>
              <a:rPr kumimoji="0" lang="pt-PT" altLang="pt-PT" sz="1800" b="0" i="0" u="none" strike="noStrike" cap="none" normalizeH="0" baseline="0" dirty="0">
                <a:ln>
                  <a:noFill/>
                </a:ln>
                <a:solidFill>
                  <a:schemeClr val="tx1"/>
                </a:solidFill>
                <a:effectLst/>
              </a:rPr>
              <a:t> </a:t>
            </a:r>
            <a:r>
              <a:rPr kumimoji="0" lang="pt-PT" altLang="pt-PT" sz="1800" b="0" i="0" u="none" strike="noStrike" cap="none" normalizeH="0" baseline="0" dirty="0" err="1">
                <a:ln>
                  <a:noFill/>
                </a:ln>
                <a:solidFill>
                  <a:schemeClr val="tx1"/>
                </a:solidFill>
                <a:effectLst/>
              </a:rPr>
              <a:t>resampling</a:t>
            </a:r>
            <a:endParaRPr kumimoji="0" lang="pt-PT" altLang="pt-PT"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099896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AD7C5BE-418C-4A44-91BF-28E411F75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1559052"/>
            <a:ext cx="10271760" cy="4347972"/>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5F0B58B-0FD6-FDEB-4900-B73F1FF18B61}"/>
              </a:ext>
            </a:extLst>
          </p:cNvPr>
          <p:cNvSpPr>
            <a:spLocks noGrp="1"/>
          </p:cNvSpPr>
          <p:nvPr>
            <p:ph type="title"/>
          </p:nvPr>
        </p:nvSpPr>
        <p:spPr>
          <a:xfrm>
            <a:off x="2231136" y="964692"/>
            <a:ext cx="7729728" cy="1188720"/>
          </a:xfrm>
          <a:ln>
            <a:solidFill>
              <a:srgbClr val="404040"/>
            </a:solidFill>
          </a:ln>
        </p:spPr>
        <p:txBody>
          <a:bodyPr vert="horz" lIns="182880" tIns="182880" rIns="182880" bIns="182880" rtlCol="0" anchor="ctr">
            <a:normAutofit/>
          </a:bodyPr>
          <a:lstStyle/>
          <a:p>
            <a:r>
              <a:rPr lang="en-US"/>
              <a:t>Data analysis – class distribution</a:t>
            </a:r>
          </a:p>
        </p:txBody>
      </p:sp>
      <p:pic>
        <p:nvPicPr>
          <p:cNvPr id="8" name="Marcador de Posição de Conteúdo 7">
            <a:extLst>
              <a:ext uri="{FF2B5EF4-FFF2-40B4-BE49-F238E27FC236}">
                <a16:creationId xmlns:a16="http://schemas.microsoft.com/office/drawing/2014/main" id="{EFE61A1C-066F-28AF-B078-D072716A6A11}"/>
              </a:ext>
            </a:extLst>
          </p:cNvPr>
          <p:cNvPicPr>
            <a:picLocks noGrp="1" noChangeAspect="1"/>
          </p:cNvPicPr>
          <p:nvPr>
            <p:ph idx="1"/>
          </p:nvPr>
        </p:nvPicPr>
        <p:blipFill>
          <a:blip r:embed="rId3"/>
          <a:stretch>
            <a:fillRect/>
          </a:stretch>
        </p:blipFill>
        <p:spPr>
          <a:xfrm>
            <a:off x="3993454" y="2482596"/>
            <a:ext cx="4216765" cy="2930652"/>
          </a:xfrm>
          <a:prstGeom prst="rect">
            <a:avLst/>
          </a:prstGeom>
        </p:spPr>
      </p:pic>
      <p:pic>
        <p:nvPicPr>
          <p:cNvPr id="5" name="Imagem 4">
            <a:extLst>
              <a:ext uri="{FF2B5EF4-FFF2-40B4-BE49-F238E27FC236}">
                <a16:creationId xmlns:a16="http://schemas.microsoft.com/office/drawing/2014/main" id="{479C0AB4-8F56-1969-98F8-CA81C522C471}"/>
              </a:ext>
            </a:extLst>
          </p:cNvPr>
          <p:cNvPicPr>
            <a:picLocks noChangeAspect="1"/>
          </p:cNvPicPr>
          <p:nvPr/>
        </p:nvPicPr>
        <p:blipFill>
          <a:blip r:embed="rId4"/>
          <a:srcRect l="14970"/>
          <a:stretch/>
        </p:blipFill>
        <p:spPr>
          <a:xfrm>
            <a:off x="0" y="-1"/>
            <a:ext cx="2036190" cy="1256334"/>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188210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ABE1B5C5-F726-5D64-1F53-CE10158DE049}"/>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2D419B6D-31DF-70F1-E58F-489DCA5FBD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1559052"/>
            <a:ext cx="10271760" cy="4347972"/>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BB04100-44B2-D1F5-1415-93DDFAC56A90}"/>
              </a:ext>
            </a:extLst>
          </p:cNvPr>
          <p:cNvSpPr>
            <a:spLocks noGrp="1"/>
          </p:cNvSpPr>
          <p:nvPr>
            <p:ph type="title"/>
          </p:nvPr>
        </p:nvSpPr>
        <p:spPr>
          <a:xfrm>
            <a:off x="2231136" y="964692"/>
            <a:ext cx="7729728" cy="1188720"/>
          </a:xfrm>
          <a:ln>
            <a:solidFill>
              <a:srgbClr val="404040"/>
            </a:solidFill>
          </a:ln>
        </p:spPr>
        <p:txBody>
          <a:bodyPr vert="horz" lIns="182880" tIns="182880" rIns="182880" bIns="182880" rtlCol="0" anchor="ctr">
            <a:normAutofit/>
          </a:bodyPr>
          <a:lstStyle/>
          <a:p>
            <a:r>
              <a:rPr lang="en-US" dirty="0"/>
              <a:t>Data analysis – features distribution</a:t>
            </a:r>
          </a:p>
        </p:txBody>
      </p:sp>
      <p:pic>
        <p:nvPicPr>
          <p:cNvPr id="5" name="Imagem 4">
            <a:extLst>
              <a:ext uri="{FF2B5EF4-FFF2-40B4-BE49-F238E27FC236}">
                <a16:creationId xmlns:a16="http://schemas.microsoft.com/office/drawing/2014/main" id="{D8100B5C-CE12-3BBA-6929-EF048400BEF7}"/>
              </a:ext>
            </a:extLst>
          </p:cNvPr>
          <p:cNvPicPr>
            <a:picLocks noChangeAspect="1"/>
          </p:cNvPicPr>
          <p:nvPr/>
        </p:nvPicPr>
        <p:blipFill>
          <a:blip r:embed="rId3"/>
          <a:srcRect l="14970"/>
          <a:stretch/>
        </p:blipFill>
        <p:spPr>
          <a:xfrm>
            <a:off x="0" y="-1"/>
            <a:ext cx="2036190" cy="1256334"/>
          </a:xfrm>
          <a:prstGeom prst="rect">
            <a:avLst/>
          </a:prstGeom>
          <a:effectLst>
            <a:outerShdw blurRad="50800" dist="38100" dir="5400000" algn="t" rotWithShape="0">
              <a:prstClr val="black">
                <a:alpha val="40000"/>
              </a:prstClr>
            </a:outerShdw>
          </a:effectLst>
        </p:spPr>
      </p:pic>
      <p:sp>
        <p:nvSpPr>
          <p:cNvPr id="6" name="Marcador de Posição do Texto 1">
            <a:extLst>
              <a:ext uri="{FF2B5EF4-FFF2-40B4-BE49-F238E27FC236}">
                <a16:creationId xmlns:a16="http://schemas.microsoft.com/office/drawing/2014/main" id="{1B27823F-E7B2-1BDB-0DB6-A788DE7036CB}"/>
              </a:ext>
            </a:extLst>
          </p:cNvPr>
          <p:cNvSpPr txBox="1">
            <a:spLocks/>
          </p:cNvSpPr>
          <p:nvPr/>
        </p:nvSpPr>
        <p:spPr>
          <a:xfrm>
            <a:off x="1894174" y="2709673"/>
            <a:ext cx="4270248" cy="70408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lgn="ctr">
              <a:buNone/>
            </a:pPr>
            <a:r>
              <a:rPr lang="pt-PT" sz="1900" dirty="0">
                <a:solidFill>
                  <a:schemeClr val="accent2">
                    <a:lumMod val="75000"/>
                  </a:schemeClr>
                </a:solidFill>
              </a:rPr>
              <a:t>TIME ATTRIBUTE</a:t>
            </a:r>
          </a:p>
        </p:txBody>
      </p:sp>
      <p:pic>
        <p:nvPicPr>
          <p:cNvPr id="9" name="Marcador de Posição de Conteúdo 8">
            <a:extLst>
              <a:ext uri="{FF2B5EF4-FFF2-40B4-BE49-F238E27FC236}">
                <a16:creationId xmlns:a16="http://schemas.microsoft.com/office/drawing/2014/main" id="{367A6EB3-769E-5E8C-1E61-ED131CB0883E}"/>
              </a:ext>
            </a:extLst>
          </p:cNvPr>
          <p:cNvPicPr>
            <a:picLocks noChangeAspect="1"/>
          </p:cNvPicPr>
          <p:nvPr/>
        </p:nvPicPr>
        <p:blipFill>
          <a:blip r:embed="rId4"/>
          <a:stretch>
            <a:fillRect/>
          </a:stretch>
        </p:blipFill>
        <p:spPr>
          <a:xfrm>
            <a:off x="1582738" y="3273122"/>
            <a:ext cx="4270375" cy="2337405"/>
          </a:xfrm>
          <a:prstGeom prst="rect">
            <a:avLst/>
          </a:prstGeom>
        </p:spPr>
      </p:pic>
      <p:pic>
        <p:nvPicPr>
          <p:cNvPr id="10" name="Marcador de Posição de Conteúdo 12">
            <a:extLst>
              <a:ext uri="{FF2B5EF4-FFF2-40B4-BE49-F238E27FC236}">
                <a16:creationId xmlns:a16="http://schemas.microsoft.com/office/drawing/2014/main" id="{231F13EC-5C2E-63BF-0E48-E95C5917DF6C}"/>
              </a:ext>
            </a:extLst>
          </p:cNvPr>
          <p:cNvPicPr>
            <a:picLocks noChangeAspect="1"/>
          </p:cNvPicPr>
          <p:nvPr/>
        </p:nvPicPr>
        <p:blipFill>
          <a:blip r:embed="rId5"/>
          <a:stretch>
            <a:fillRect/>
          </a:stretch>
        </p:blipFill>
        <p:spPr>
          <a:xfrm>
            <a:off x="6338888" y="3310976"/>
            <a:ext cx="4252912" cy="2261697"/>
          </a:xfrm>
          <a:prstGeom prst="rect">
            <a:avLst/>
          </a:prstGeom>
        </p:spPr>
      </p:pic>
      <p:sp>
        <p:nvSpPr>
          <p:cNvPr id="11" name="Marcador de Posição do Texto 1">
            <a:extLst>
              <a:ext uri="{FF2B5EF4-FFF2-40B4-BE49-F238E27FC236}">
                <a16:creationId xmlns:a16="http://schemas.microsoft.com/office/drawing/2014/main" id="{EAB933B6-BD38-0D10-84FC-3A4BC6974755}"/>
              </a:ext>
            </a:extLst>
          </p:cNvPr>
          <p:cNvSpPr txBox="1">
            <a:spLocks/>
          </p:cNvSpPr>
          <p:nvPr/>
        </p:nvSpPr>
        <p:spPr>
          <a:xfrm>
            <a:off x="6475731" y="2709673"/>
            <a:ext cx="4270248" cy="70408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lgn="ctr">
              <a:buNone/>
            </a:pPr>
            <a:r>
              <a:rPr lang="pt-PT" sz="1900" dirty="0">
                <a:solidFill>
                  <a:schemeClr val="accent2">
                    <a:lumMod val="75000"/>
                  </a:schemeClr>
                </a:solidFill>
              </a:rPr>
              <a:t>AMOUNT ATTRIBUTE</a:t>
            </a:r>
          </a:p>
        </p:txBody>
      </p:sp>
    </p:spTree>
    <p:extLst>
      <p:ext uri="{BB962C8B-B14F-4D97-AF65-F5344CB8AC3E}">
        <p14:creationId xmlns:p14="http://schemas.microsoft.com/office/powerpoint/2010/main" val="3352608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AD7C5BE-418C-4A44-91BF-28E411F75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1559052"/>
            <a:ext cx="10271760" cy="4347972"/>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A3901A6-0486-0367-995A-B5E495A21E65}"/>
              </a:ext>
            </a:extLst>
          </p:cNvPr>
          <p:cNvSpPr>
            <a:spLocks noGrp="1"/>
          </p:cNvSpPr>
          <p:nvPr>
            <p:ph type="title"/>
          </p:nvPr>
        </p:nvSpPr>
        <p:spPr>
          <a:xfrm>
            <a:off x="2231136" y="964692"/>
            <a:ext cx="7729728" cy="1188720"/>
          </a:xfrm>
          <a:ln>
            <a:solidFill>
              <a:srgbClr val="404040"/>
            </a:solidFill>
          </a:ln>
        </p:spPr>
        <p:txBody>
          <a:bodyPr vert="horz" lIns="182880" tIns="182880" rIns="182880" bIns="182880" rtlCol="0" anchor="ctr">
            <a:normAutofit/>
          </a:bodyPr>
          <a:lstStyle/>
          <a:p>
            <a:r>
              <a:rPr lang="en-US"/>
              <a:t>Feature analysis – amount by class</a:t>
            </a:r>
          </a:p>
        </p:txBody>
      </p:sp>
      <p:pic>
        <p:nvPicPr>
          <p:cNvPr id="7" name="Marcador de Posição de Conteúdo 6">
            <a:extLst>
              <a:ext uri="{FF2B5EF4-FFF2-40B4-BE49-F238E27FC236}">
                <a16:creationId xmlns:a16="http://schemas.microsoft.com/office/drawing/2014/main" id="{7095B95F-594A-1517-A963-4C1045C9EA2B}"/>
              </a:ext>
            </a:extLst>
          </p:cNvPr>
          <p:cNvPicPr>
            <a:picLocks noGrp="1" noChangeAspect="1"/>
          </p:cNvPicPr>
          <p:nvPr>
            <p:ph idx="1"/>
          </p:nvPr>
        </p:nvPicPr>
        <p:blipFill>
          <a:blip r:embed="rId3"/>
          <a:stretch>
            <a:fillRect/>
          </a:stretch>
        </p:blipFill>
        <p:spPr>
          <a:xfrm>
            <a:off x="4087643" y="2482596"/>
            <a:ext cx="4028387" cy="2930652"/>
          </a:xfrm>
          <a:prstGeom prst="rect">
            <a:avLst/>
          </a:prstGeom>
        </p:spPr>
      </p:pic>
      <p:pic>
        <p:nvPicPr>
          <p:cNvPr id="5" name="Imagem 4">
            <a:extLst>
              <a:ext uri="{FF2B5EF4-FFF2-40B4-BE49-F238E27FC236}">
                <a16:creationId xmlns:a16="http://schemas.microsoft.com/office/drawing/2014/main" id="{F30B7B2F-0B43-47DC-616A-FD88D581EB97}"/>
              </a:ext>
            </a:extLst>
          </p:cNvPr>
          <p:cNvPicPr>
            <a:picLocks noChangeAspect="1"/>
          </p:cNvPicPr>
          <p:nvPr/>
        </p:nvPicPr>
        <p:blipFill>
          <a:blip r:embed="rId4"/>
          <a:srcRect l="14970"/>
          <a:stretch/>
        </p:blipFill>
        <p:spPr>
          <a:xfrm>
            <a:off x="0" y="-1"/>
            <a:ext cx="2036190" cy="1256334"/>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102285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0EA97F-9273-7262-E19A-BBFBCABEA52A}"/>
              </a:ext>
            </a:extLst>
          </p:cNvPr>
          <p:cNvSpPr>
            <a:spLocks noGrp="1"/>
          </p:cNvSpPr>
          <p:nvPr>
            <p:ph type="title"/>
          </p:nvPr>
        </p:nvSpPr>
        <p:spPr/>
        <p:txBody>
          <a:bodyPr/>
          <a:lstStyle/>
          <a:p>
            <a:r>
              <a:rPr lang="pt-PT" dirty="0"/>
              <a:t>Performance </a:t>
            </a:r>
            <a:r>
              <a:rPr lang="pt-PT" dirty="0" err="1"/>
              <a:t>metrics</a:t>
            </a:r>
            <a:endParaRPr lang="pt-PT" dirty="0"/>
          </a:p>
        </p:txBody>
      </p:sp>
      <p:pic>
        <p:nvPicPr>
          <p:cNvPr id="4" name="Imagem 3">
            <a:extLst>
              <a:ext uri="{FF2B5EF4-FFF2-40B4-BE49-F238E27FC236}">
                <a16:creationId xmlns:a16="http://schemas.microsoft.com/office/drawing/2014/main" id="{C562F030-3C90-7F76-EEE7-0C8795F40E46}"/>
              </a:ext>
            </a:extLst>
          </p:cNvPr>
          <p:cNvPicPr>
            <a:picLocks noChangeAspect="1"/>
          </p:cNvPicPr>
          <p:nvPr/>
        </p:nvPicPr>
        <p:blipFill>
          <a:blip r:embed="rId3"/>
          <a:srcRect l="14970"/>
          <a:stretch/>
        </p:blipFill>
        <p:spPr>
          <a:xfrm>
            <a:off x="0" y="-1"/>
            <a:ext cx="2036190" cy="1256334"/>
          </a:xfrm>
          <a:prstGeom prst="rect">
            <a:avLst/>
          </a:prstGeom>
          <a:effectLst>
            <a:outerShdw blurRad="50800" dist="38100" dir="5400000" algn="t" rotWithShape="0">
              <a:prstClr val="black">
                <a:alpha val="40000"/>
              </a:prstClr>
            </a:outerShdw>
          </a:effectLst>
        </p:spPr>
      </p:pic>
      <p:grpSp>
        <p:nvGrpSpPr>
          <p:cNvPr id="15" name="Agrupar 14">
            <a:extLst>
              <a:ext uri="{FF2B5EF4-FFF2-40B4-BE49-F238E27FC236}">
                <a16:creationId xmlns:a16="http://schemas.microsoft.com/office/drawing/2014/main" id="{97600993-6CD0-11FE-B7C9-E71AD672449F}"/>
              </a:ext>
            </a:extLst>
          </p:cNvPr>
          <p:cNvGrpSpPr/>
          <p:nvPr/>
        </p:nvGrpSpPr>
        <p:grpSpPr>
          <a:xfrm>
            <a:off x="609251" y="3429000"/>
            <a:ext cx="1813810" cy="1722387"/>
            <a:chOff x="400704" y="3539424"/>
            <a:chExt cx="1813810" cy="1722387"/>
          </a:xfrm>
        </p:grpSpPr>
        <p:sp>
          <p:nvSpPr>
            <p:cNvPr id="5" name="Fluxograma: Conexão 4">
              <a:extLst>
                <a:ext uri="{FF2B5EF4-FFF2-40B4-BE49-F238E27FC236}">
                  <a16:creationId xmlns:a16="http://schemas.microsoft.com/office/drawing/2014/main" id="{1C96DAEF-C03B-7874-6AD8-660E0E40CA52}"/>
                </a:ext>
              </a:extLst>
            </p:cNvPr>
            <p:cNvSpPr/>
            <p:nvPr/>
          </p:nvSpPr>
          <p:spPr>
            <a:xfrm>
              <a:off x="400704" y="3539424"/>
              <a:ext cx="1813810" cy="1722387"/>
            </a:xfrm>
            <a:prstGeom prst="flowChartConnector">
              <a:avLst/>
            </a:prstGeom>
            <a:solidFill>
              <a:srgbClr val="B2CBAE"/>
            </a:solidFill>
            <a:ln>
              <a:solidFill>
                <a:srgbClr val="B2CBAE"/>
              </a:solidFill>
            </a:ln>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6" name="CaixaDeTexto 5">
              <a:extLst>
                <a:ext uri="{FF2B5EF4-FFF2-40B4-BE49-F238E27FC236}">
                  <a16:creationId xmlns:a16="http://schemas.microsoft.com/office/drawing/2014/main" id="{CFCC5EB0-E2CD-41AD-E2A7-4F8D0A61CD91}"/>
                </a:ext>
              </a:extLst>
            </p:cNvPr>
            <p:cNvSpPr txBox="1"/>
            <p:nvPr/>
          </p:nvSpPr>
          <p:spPr>
            <a:xfrm>
              <a:off x="400704" y="4215951"/>
              <a:ext cx="1813810" cy="369332"/>
            </a:xfrm>
            <a:prstGeom prst="rect">
              <a:avLst/>
            </a:prstGeom>
            <a:noFill/>
          </p:spPr>
          <p:txBody>
            <a:bodyPr wrap="square" rtlCol="0">
              <a:spAutoFit/>
            </a:bodyPr>
            <a:lstStyle/>
            <a:p>
              <a:pPr algn="ctr"/>
              <a:r>
                <a:rPr lang="pt-PT" dirty="0" err="1"/>
                <a:t>Precision</a:t>
              </a:r>
              <a:endParaRPr lang="pt-PT" dirty="0"/>
            </a:p>
          </p:txBody>
        </p:sp>
      </p:grpSp>
      <p:grpSp>
        <p:nvGrpSpPr>
          <p:cNvPr id="16" name="Agrupar 15">
            <a:extLst>
              <a:ext uri="{FF2B5EF4-FFF2-40B4-BE49-F238E27FC236}">
                <a16:creationId xmlns:a16="http://schemas.microsoft.com/office/drawing/2014/main" id="{A0CFA7D1-6A1E-167E-2A3D-6175FBF87B09}"/>
              </a:ext>
            </a:extLst>
          </p:cNvPr>
          <p:cNvGrpSpPr/>
          <p:nvPr/>
        </p:nvGrpSpPr>
        <p:grpSpPr>
          <a:xfrm>
            <a:off x="2879209" y="3436838"/>
            <a:ext cx="1813810" cy="1722387"/>
            <a:chOff x="2670662" y="3539424"/>
            <a:chExt cx="1813810" cy="1722387"/>
          </a:xfrm>
        </p:grpSpPr>
        <p:sp>
          <p:nvSpPr>
            <p:cNvPr id="7" name="Fluxograma: Conexão 6">
              <a:extLst>
                <a:ext uri="{FF2B5EF4-FFF2-40B4-BE49-F238E27FC236}">
                  <a16:creationId xmlns:a16="http://schemas.microsoft.com/office/drawing/2014/main" id="{C7B07922-67ED-BA00-4C58-955D50B6D5C3}"/>
                </a:ext>
              </a:extLst>
            </p:cNvPr>
            <p:cNvSpPr/>
            <p:nvPr/>
          </p:nvSpPr>
          <p:spPr>
            <a:xfrm>
              <a:off x="2670662" y="3539424"/>
              <a:ext cx="1813810" cy="1722387"/>
            </a:xfrm>
            <a:prstGeom prst="flowChartConnector">
              <a:avLst/>
            </a:prstGeom>
            <a:solidFill>
              <a:srgbClr val="B2CBAE"/>
            </a:solidFill>
            <a:ln>
              <a:solidFill>
                <a:srgbClr val="B2CBAE"/>
              </a:solidFill>
            </a:ln>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8" name="CaixaDeTexto 7">
              <a:extLst>
                <a:ext uri="{FF2B5EF4-FFF2-40B4-BE49-F238E27FC236}">
                  <a16:creationId xmlns:a16="http://schemas.microsoft.com/office/drawing/2014/main" id="{DFBD8B16-22F2-2F6D-9408-151B51CCDF49}"/>
                </a:ext>
              </a:extLst>
            </p:cNvPr>
            <p:cNvSpPr txBox="1"/>
            <p:nvPr/>
          </p:nvSpPr>
          <p:spPr>
            <a:xfrm>
              <a:off x="2670662" y="4215951"/>
              <a:ext cx="1813810" cy="369332"/>
            </a:xfrm>
            <a:prstGeom prst="rect">
              <a:avLst/>
            </a:prstGeom>
            <a:noFill/>
          </p:spPr>
          <p:txBody>
            <a:bodyPr wrap="square" rtlCol="0">
              <a:spAutoFit/>
            </a:bodyPr>
            <a:lstStyle/>
            <a:p>
              <a:pPr algn="ctr"/>
              <a:r>
                <a:rPr lang="pt-PT" dirty="0" err="1"/>
                <a:t>Recall</a:t>
              </a:r>
              <a:endParaRPr lang="pt-PT" dirty="0"/>
            </a:p>
          </p:txBody>
        </p:sp>
      </p:grpSp>
      <p:grpSp>
        <p:nvGrpSpPr>
          <p:cNvPr id="17" name="Agrupar 16">
            <a:extLst>
              <a:ext uri="{FF2B5EF4-FFF2-40B4-BE49-F238E27FC236}">
                <a16:creationId xmlns:a16="http://schemas.microsoft.com/office/drawing/2014/main" id="{27951A48-3915-8CF9-21FB-01F412B2C5E5}"/>
              </a:ext>
            </a:extLst>
          </p:cNvPr>
          <p:cNvGrpSpPr/>
          <p:nvPr/>
        </p:nvGrpSpPr>
        <p:grpSpPr>
          <a:xfrm>
            <a:off x="5149167" y="3428999"/>
            <a:ext cx="1813810" cy="1722387"/>
            <a:chOff x="4940620" y="3429000"/>
            <a:chExt cx="1813810" cy="1722387"/>
          </a:xfrm>
        </p:grpSpPr>
        <p:sp>
          <p:nvSpPr>
            <p:cNvPr id="9" name="Fluxograma: Conexão 8">
              <a:extLst>
                <a:ext uri="{FF2B5EF4-FFF2-40B4-BE49-F238E27FC236}">
                  <a16:creationId xmlns:a16="http://schemas.microsoft.com/office/drawing/2014/main" id="{A23DFB19-C058-66E7-22E1-7F7B84A059FF}"/>
                </a:ext>
              </a:extLst>
            </p:cNvPr>
            <p:cNvSpPr/>
            <p:nvPr/>
          </p:nvSpPr>
          <p:spPr>
            <a:xfrm>
              <a:off x="4940620" y="3429000"/>
              <a:ext cx="1813810" cy="1722387"/>
            </a:xfrm>
            <a:prstGeom prst="flowChartConnector">
              <a:avLst/>
            </a:prstGeom>
            <a:solidFill>
              <a:srgbClr val="B2CBAE"/>
            </a:solidFill>
            <a:ln>
              <a:solidFill>
                <a:srgbClr val="B2CBAE"/>
              </a:solidFill>
            </a:ln>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0" name="CaixaDeTexto 9">
              <a:extLst>
                <a:ext uri="{FF2B5EF4-FFF2-40B4-BE49-F238E27FC236}">
                  <a16:creationId xmlns:a16="http://schemas.microsoft.com/office/drawing/2014/main" id="{37D10232-D167-C9B0-5353-976425C45673}"/>
                </a:ext>
              </a:extLst>
            </p:cNvPr>
            <p:cNvSpPr txBox="1"/>
            <p:nvPr/>
          </p:nvSpPr>
          <p:spPr>
            <a:xfrm>
              <a:off x="4940620" y="4105527"/>
              <a:ext cx="1813810" cy="369332"/>
            </a:xfrm>
            <a:prstGeom prst="rect">
              <a:avLst/>
            </a:prstGeom>
            <a:noFill/>
          </p:spPr>
          <p:txBody>
            <a:bodyPr wrap="square" rtlCol="0">
              <a:spAutoFit/>
            </a:bodyPr>
            <a:lstStyle/>
            <a:p>
              <a:pPr algn="ctr"/>
              <a:r>
                <a:rPr lang="pt-PT" dirty="0"/>
                <a:t>F1 Score</a:t>
              </a:r>
            </a:p>
          </p:txBody>
        </p:sp>
      </p:grpSp>
      <p:grpSp>
        <p:nvGrpSpPr>
          <p:cNvPr id="18" name="Agrupar 17">
            <a:extLst>
              <a:ext uri="{FF2B5EF4-FFF2-40B4-BE49-F238E27FC236}">
                <a16:creationId xmlns:a16="http://schemas.microsoft.com/office/drawing/2014/main" id="{C28D78C8-14D7-1E7A-63B9-8A3737C89ABF}"/>
              </a:ext>
            </a:extLst>
          </p:cNvPr>
          <p:cNvGrpSpPr/>
          <p:nvPr/>
        </p:nvGrpSpPr>
        <p:grpSpPr>
          <a:xfrm>
            <a:off x="7419125" y="3449888"/>
            <a:ext cx="1813810" cy="1722387"/>
            <a:chOff x="7210578" y="3429000"/>
            <a:chExt cx="1813810" cy="1722387"/>
          </a:xfrm>
        </p:grpSpPr>
        <p:sp>
          <p:nvSpPr>
            <p:cNvPr id="11" name="Fluxograma: Conexão 10">
              <a:extLst>
                <a:ext uri="{FF2B5EF4-FFF2-40B4-BE49-F238E27FC236}">
                  <a16:creationId xmlns:a16="http://schemas.microsoft.com/office/drawing/2014/main" id="{3AAFF5FF-8C2D-3F48-FDCC-A0BEDD2F9EC9}"/>
                </a:ext>
              </a:extLst>
            </p:cNvPr>
            <p:cNvSpPr/>
            <p:nvPr/>
          </p:nvSpPr>
          <p:spPr>
            <a:xfrm>
              <a:off x="7210578" y="3429000"/>
              <a:ext cx="1813810" cy="1722387"/>
            </a:xfrm>
            <a:prstGeom prst="flowChartConnector">
              <a:avLst/>
            </a:prstGeom>
            <a:solidFill>
              <a:srgbClr val="B2CBAE"/>
            </a:solidFill>
            <a:ln>
              <a:solidFill>
                <a:srgbClr val="B2CBAE"/>
              </a:solidFill>
            </a:ln>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2" name="CaixaDeTexto 11">
              <a:extLst>
                <a:ext uri="{FF2B5EF4-FFF2-40B4-BE49-F238E27FC236}">
                  <a16:creationId xmlns:a16="http://schemas.microsoft.com/office/drawing/2014/main" id="{C12B4447-2350-6A94-6308-BDB8D504B542}"/>
                </a:ext>
              </a:extLst>
            </p:cNvPr>
            <p:cNvSpPr txBox="1"/>
            <p:nvPr/>
          </p:nvSpPr>
          <p:spPr>
            <a:xfrm>
              <a:off x="7210578" y="4031284"/>
              <a:ext cx="1813810" cy="369332"/>
            </a:xfrm>
            <a:prstGeom prst="rect">
              <a:avLst/>
            </a:prstGeom>
            <a:noFill/>
          </p:spPr>
          <p:txBody>
            <a:bodyPr wrap="square" rtlCol="0">
              <a:spAutoFit/>
            </a:bodyPr>
            <a:lstStyle/>
            <a:p>
              <a:pPr algn="ctr"/>
              <a:r>
                <a:rPr lang="pt-PT" dirty="0" err="1"/>
                <a:t>Accuracy</a:t>
              </a:r>
              <a:endParaRPr lang="pt-PT" dirty="0"/>
            </a:p>
          </p:txBody>
        </p:sp>
      </p:grpSp>
      <p:grpSp>
        <p:nvGrpSpPr>
          <p:cNvPr id="19" name="Agrupar 18">
            <a:extLst>
              <a:ext uri="{FF2B5EF4-FFF2-40B4-BE49-F238E27FC236}">
                <a16:creationId xmlns:a16="http://schemas.microsoft.com/office/drawing/2014/main" id="{24546569-B3C8-12AC-6EB4-0489CAFFD940}"/>
              </a:ext>
            </a:extLst>
          </p:cNvPr>
          <p:cNvGrpSpPr/>
          <p:nvPr/>
        </p:nvGrpSpPr>
        <p:grpSpPr>
          <a:xfrm>
            <a:off x="9689083" y="3385719"/>
            <a:ext cx="1813810" cy="1722387"/>
            <a:chOff x="9761273" y="3429000"/>
            <a:chExt cx="1813810" cy="1722387"/>
          </a:xfrm>
        </p:grpSpPr>
        <p:sp>
          <p:nvSpPr>
            <p:cNvPr id="13" name="Fluxograma: Conexão 12">
              <a:extLst>
                <a:ext uri="{FF2B5EF4-FFF2-40B4-BE49-F238E27FC236}">
                  <a16:creationId xmlns:a16="http://schemas.microsoft.com/office/drawing/2014/main" id="{8FB29F8A-FD73-AA03-DC56-F48C234A6C34}"/>
                </a:ext>
              </a:extLst>
            </p:cNvPr>
            <p:cNvSpPr/>
            <p:nvPr/>
          </p:nvSpPr>
          <p:spPr>
            <a:xfrm>
              <a:off x="9761273" y="3429000"/>
              <a:ext cx="1813810" cy="1722387"/>
            </a:xfrm>
            <a:prstGeom prst="flowChartConnector">
              <a:avLst/>
            </a:prstGeom>
            <a:solidFill>
              <a:srgbClr val="B2CBAE"/>
            </a:solidFill>
            <a:ln>
              <a:solidFill>
                <a:srgbClr val="B2CBAE"/>
              </a:solidFill>
            </a:ln>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14" name="CaixaDeTexto 13">
              <a:extLst>
                <a:ext uri="{FF2B5EF4-FFF2-40B4-BE49-F238E27FC236}">
                  <a16:creationId xmlns:a16="http://schemas.microsoft.com/office/drawing/2014/main" id="{940E3499-33CE-6A5B-ED4A-B1EF748AC0B5}"/>
                </a:ext>
              </a:extLst>
            </p:cNvPr>
            <p:cNvSpPr txBox="1"/>
            <p:nvPr/>
          </p:nvSpPr>
          <p:spPr>
            <a:xfrm>
              <a:off x="9761273" y="4105527"/>
              <a:ext cx="1813810" cy="369332"/>
            </a:xfrm>
            <a:prstGeom prst="rect">
              <a:avLst/>
            </a:prstGeom>
            <a:noFill/>
          </p:spPr>
          <p:txBody>
            <a:bodyPr wrap="square" rtlCol="0">
              <a:spAutoFit/>
            </a:bodyPr>
            <a:lstStyle/>
            <a:p>
              <a:pPr algn="ctr"/>
              <a:r>
                <a:rPr lang="pt-PT" dirty="0"/>
                <a:t>AUPRCC</a:t>
              </a:r>
            </a:p>
          </p:txBody>
        </p:sp>
      </p:grpSp>
      <p:pic>
        <p:nvPicPr>
          <p:cNvPr id="10242" name="Picture 2">
            <a:extLst>
              <a:ext uri="{FF2B5EF4-FFF2-40B4-BE49-F238E27FC236}">
                <a16:creationId xmlns:a16="http://schemas.microsoft.com/office/drawing/2014/main" id="{C243549A-ADA9-FED7-9B47-EEB7529D9B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42608" y="-247561"/>
            <a:ext cx="2589233" cy="1722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9500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D5F2F4-BEFE-9158-C258-592310F0D745}"/>
              </a:ext>
            </a:extLst>
          </p:cNvPr>
          <p:cNvSpPr>
            <a:spLocks noGrp="1"/>
          </p:cNvSpPr>
          <p:nvPr>
            <p:ph type="title"/>
          </p:nvPr>
        </p:nvSpPr>
        <p:spPr/>
        <p:txBody>
          <a:bodyPr/>
          <a:lstStyle/>
          <a:p>
            <a:r>
              <a:rPr lang="pt-PT" dirty="0" err="1"/>
              <a:t>Classification</a:t>
            </a:r>
            <a:r>
              <a:rPr lang="pt-PT" dirty="0"/>
              <a:t> </a:t>
            </a:r>
            <a:r>
              <a:rPr lang="pt-PT" dirty="0" err="1"/>
              <a:t>algorithms</a:t>
            </a:r>
            <a:endParaRPr lang="pt-PT" dirty="0"/>
          </a:p>
        </p:txBody>
      </p:sp>
      <p:pic>
        <p:nvPicPr>
          <p:cNvPr id="4" name="Imagem 3">
            <a:extLst>
              <a:ext uri="{FF2B5EF4-FFF2-40B4-BE49-F238E27FC236}">
                <a16:creationId xmlns:a16="http://schemas.microsoft.com/office/drawing/2014/main" id="{B2AD87A8-9D7B-5FB5-95AE-EB7EDB878B4D}"/>
              </a:ext>
            </a:extLst>
          </p:cNvPr>
          <p:cNvPicPr>
            <a:picLocks noChangeAspect="1"/>
          </p:cNvPicPr>
          <p:nvPr/>
        </p:nvPicPr>
        <p:blipFill>
          <a:blip r:embed="rId3"/>
          <a:srcRect l="14970"/>
          <a:stretch/>
        </p:blipFill>
        <p:spPr>
          <a:xfrm>
            <a:off x="0" y="-1"/>
            <a:ext cx="2036190" cy="1256334"/>
          </a:xfrm>
          <a:prstGeom prst="rect">
            <a:avLst/>
          </a:prstGeom>
          <a:effectLst>
            <a:outerShdw blurRad="50800" dist="38100" dir="5400000" algn="t" rotWithShape="0">
              <a:prstClr val="black">
                <a:alpha val="40000"/>
              </a:prstClr>
            </a:outerShdw>
          </a:effectLst>
        </p:spPr>
      </p:pic>
      <p:pic>
        <p:nvPicPr>
          <p:cNvPr id="11266" name="Picture 2" descr="Classification - Free business and finance icons">
            <a:extLst>
              <a:ext uri="{FF2B5EF4-FFF2-40B4-BE49-F238E27FC236}">
                <a16:creationId xmlns:a16="http://schemas.microsoft.com/office/drawing/2014/main" id="{6124C721-6928-068B-2B48-C538C908C8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90406" y="63533"/>
            <a:ext cx="1720297" cy="172029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3" name="Diagrama 12">
            <a:extLst>
              <a:ext uri="{FF2B5EF4-FFF2-40B4-BE49-F238E27FC236}">
                <a16:creationId xmlns:a16="http://schemas.microsoft.com/office/drawing/2014/main" id="{C2F6ABF5-4139-5840-5010-7DB2DED2C0DD}"/>
              </a:ext>
            </a:extLst>
          </p:cNvPr>
          <p:cNvGraphicFramePr/>
          <p:nvPr>
            <p:extLst>
              <p:ext uri="{D42A27DB-BD31-4B8C-83A1-F6EECF244321}">
                <p14:modId xmlns:p14="http://schemas.microsoft.com/office/powerpoint/2010/main" val="2518573211"/>
              </p:ext>
            </p:extLst>
          </p:nvPr>
        </p:nvGraphicFramePr>
        <p:xfrm>
          <a:off x="1511408" y="1256333"/>
          <a:ext cx="8878998" cy="581132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665287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834B84-A174-5AA5-CEDC-AA2F7117D2C1}"/>
              </a:ext>
            </a:extLst>
          </p:cNvPr>
          <p:cNvSpPr>
            <a:spLocks noGrp="1"/>
          </p:cNvSpPr>
          <p:nvPr>
            <p:ph type="title"/>
          </p:nvPr>
        </p:nvSpPr>
        <p:spPr/>
        <p:txBody>
          <a:bodyPr/>
          <a:lstStyle/>
          <a:p>
            <a:r>
              <a:rPr lang="pt-PT" dirty="0" err="1"/>
              <a:t>Balancing</a:t>
            </a:r>
            <a:r>
              <a:rPr lang="pt-PT" dirty="0"/>
              <a:t> </a:t>
            </a:r>
            <a:r>
              <a:rPr lang="pt-PT" dirty="0" err="1"/>
              <a:t>techniques</a:t>
            </a:r>
            <a:endParaRPr lang="pt-PT" dirty="0"/>
          </a:p>
        </p:txBody>
      </p:sp>
      <p:graphicFrame>
        <p:nvGraphicFramePr>
          <p:cNvPr id="5" name="Marcador de Posição de Conteúdo 4">
            <a:extLst>
              <a:ext uri="{FF2B5EF4-FFF2-40B4-BE49-F238E27FC236}">
                <a16:creationId xmlns:a16="http://schemas.microsoft.com/office/drawing/2014/main" id="{9FDDB87B-8B93-BAF5-4A4E-3EF6223E0071}"/>
              </a:ext>
            </a:extLst>
          </p:cNvPr>
          <p:cNvGraphicFramePr>
            <a:graphicFrameLocks noGrp="1"/>
          </p:cNvGraphicFramePr>
          <p:nvPr>
            <p:ph idx="1"/>
            <p:extLst>
              <p:ext uri="{D42A27DB-BD31-4B8C-83A1-F6EECF244321}">
                <p14:modId xmlns:p14="http://schemas.microsoft.com/office/powerpoint/2010/main" val="1953313344"/>
              </p:ext>
            </p:extLst>
          </p:nvPr>
        </p:nvGraphicFramePr>
        <p:xfrm>
          <a:off x="1276004" y="2387600"/>
          <a:ext cx="9639991" cy="43779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Imagem 3">
            <a:extLst>
              <a:ext uri="{FF2B5EF4-FFF2-40B4-BE49-F238E27FC236}">
                <a16:creationId xmlns:a16="http://schemas.microsoft.com/office/drawing/2014/main" id="{D6F4914F-D63C-7DC6-030F-4C5350D46F5D}"/>
              </a:ext>
            </a:extLst>
          </p:cNvPr>
          <p:cNvPicPr>
            <a:picLocks noChangeAspect="1"/>
          </p:cNvPicPr>
          <p:nvPr/>
        </p:nvPicPr>
        <p:blipFill>
          <a:blip r:embed="rId8"/>
          <a:srcRect l="14970"/>
          <a:stretch/>
        </p:blipFill>
        <p:spPr>
          <a:xfrm>
            <a:off x="0" y="-1"/>
            <a:ext cx="2036190" cy="1256334"/>
          </a:xfrm>
          <a:prstGeom prst="rect">
            <a:avLst/>
          </a:prstGeom>
          <a:effectLst>
            <a:outerShdw blurRad="50800" dist="38100" dir="5400000" algn="t" rotWithShape="0">
              <a:prstClr val="black">
                <a:alpha val="40000"/>
              </a:prstClr>
            </a:outerShdw>
          </a:effectLst>
        </p:spPr>
      </p:pic>
      <p:pic>
        <p:nvPicPr>
          <p:cNvPr id="12292" name="Picture 4">
            <a:extLst>
              <a:ext uri="{FF2B5EF4-FFF2-40B4-BE49-F238E27FC236}">
                <a16:creationId xmlns:a16="http://schemas.microsoft.com/office/drawing/2014/main" id="{BB145856-79E4-697E-2D3F-F22ADCE2399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30884" y="-303551"/>
            <a:ext cx="2411993" cy="2411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286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7AD7C5BE-418C-4A44-91BF-28E411F75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1559052"/>
            <a:ext cx="10271760" cy="4347972"/>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3190F40-0E45-5F1D-E4A0-7301AE17E6DE}"/>
              </a:ext>
            </a:extLst>
          </p:cNvPr>
          <p:cNvSpPr>
            <a:spLocks noGrp="1"/>
          </p:cNvSpPr>
          <p:nvPr>
            <p:ph type="title"/>
          </p:nvPr>
        </p:nvSpPr>
        <p:spPr>
          <a:xfrm>
            <a:off x="2231136" y="964692"/>
            <a:ext cx="7729728" cy="1188720"/>
          </a:xfrm>
          <a:ln>
            <a:solidFill>
              <a:srgbClr val="404040"/>
            </a:solidFill>
          </a:ln>
        </p:spPr>
        <p:txBody>
          <a:bodyPr vert="horz" lIns="182880" tIns="182880" rIns="182880" bIns="182880" rtlCol="0" anchor="ctr">
            <a:normAutofit/>
          </a:bodyPr>
          <a:lstStyle/>
          <a:p>
            <a:r>
              <a:rPr lang="en-US"/>
              <a:t>Random oversampling</a:t>
            </a:r>
          </a:p>
        </p:txBody>
      </p:sp>
      <p:pic>
        <p:nvPicPr>
          <p:cNvPr id="1026" name="Picture 2" descr="Random oversampling process.">
            <a:extLst>
              <a:ext uri="{FF2B5EF4-FFF2-40B4-BE49-F238E27FC236}">
                <a16:creationId xmlns:a16="http://schemas.microsoft.com/office/drawing/2014/main" id="{21804502-3AD9-A8F3-A5EC-7D946C2EEB1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168075" y="2482596"/>
            <a:ext cx="7867523" cy="2930652"/>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m 3">
            <a:extLst>
              <a:ext uri="{FF2B5EF4-FFF2-40B4-BE49-F238E27FC236}">
                <a16:creationId xmlns:a16="http://schemas.microsoft.com/office/drawing/2014/main" id="{205A1439-D595-4F82-850E-90DA93C49782}"/>
              </a:ext>
            </a:extLst>
          </p:cNvPr>
          <p:cNvPicPr>
            <a:picLocks noChangeAspect="1"/>
          </p:cNvPicPr>
          <p:nvPr/>
        </p:nvPicPr>
        <p:blipFill>
          <a:blip r:embed="rId4"/>
          <a:srcRect l="14970"/>
          <a:stretch/>
        </p:blipFill>
        <p:spPr>
          <a:xfrm>
            <a:off x="0" y="-1"/>
            <a:ext cx="2036190" cy="1256334"/>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33817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079" name="Rectangle 3078">
            <a:extLst>
              <a:ext uri="{FF2B5EF4-FFF2-40B4-BE49-F238E27FC236}">
                <a16:creationId xmlns:a16="http://schemas.microsoft.com/office/drawing/2014/main" id="{7AD7C5BE-418C-4A44-91BF-28E411F75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1559052"/>
            <a:ext cx="10271760" cy="4347972"/>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591C754-C206-42DE-A113-AC4ACAE6C0A5}"/>
              </a:ext>
            </a:extLst>
          </p:cNvPr>
          <p:cNvSpPr>
            <a:spLocks noGrp="1"/>
          </p:cNvSpPr>
          <p:nvPr>
            <p:ph type="title"/>
          </p:nvPr>
        </p:nvSpPr>
        <p:spPr>
          <a:xfrm>
            <a:off x="2231136" y="964692"/>
            <a:ext cx="7729728" cy="1188720"/>
          </a:xfrm>
          <a:ln>
            <a:solidFill>
              <a:srgbClr val="404040"/>
            </a:solidFill>
          </a:ln>
        </p:spPr>
        <p:txBody>
          <a:bodyPr vert="horz" lIns="182880" tIns="182880" rIns="182880" bIns="182880" rtlCol="0" anchor="ctr">
            <a:normAutofit/>
          </a:bodyPr>
          <a:lstStyle/>
          <a:p>
            <a:r>
              <a:rPr lang="en-US"/>
              <a:t>smote</a:t>
            </a:r>
          </a:p>
        </p:txBody>
      </p:sp>
      <p:pic>
        <p:nvPicPr>
          <p:cNvPr id="3074" name="Picture 2" descr="Schematic diagram of SMOTE algorithm principle">
            <a:extLst>
              <a:ext uri="{FF2B5EF4-FFF2-40B4-BE49-F238E27FC236}">
                <a16:creationId xmlns:a16="http://schemas.microsoft.com/office/drawing/2014/main" id="{F833D6CE-B3AC-A20C-EAD2-5B61751413F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950604" y="2482596"/>
            <a:ext cx="6302465" cy="2930652"/>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m 3">
            <a:extLst>
              <a:ext uri="{FF2B5EF4-FFF2-40B4-BE49-F238E27FC236}">
                <a16:creationId xmlns:a16="http://schemas.microsoft.com/office/drawing/2014/main" id="{4F56B627-AB18-713F-49BD-4D46887AD0C9}"/>
              </a:ext>
            </a:extLst>
          </p:cNvPr>
          <p:cNvPicPr>
            <a:picLocks noChangeAspect="1"/>
          </p:cNvPicPr>
          <p:nvPr/>
        </p:nvPicPr>
        <p:blipFill>
          <a:blip r:embed="rId4"/>
          <a:srcRect l="14970"/>
          <a:stretch/>
        </p:blipFill>
        <p:spPr>
          <a:xfrm>
            <a:off x="0" y="-1"/>
            <a:ext cx="2036190" cy="1256334"/>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077427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103" name="Rectangle 4102">
            <a:extLst>
              <a:ext uri="{FF2B5EF4-FFF2-40B4-BE49-F238E27FC236}">
                <a16:creationId xmlns:a16="http://schemas.microsoft.com/office/drawing/2014/main" id="{7AD7C5BE-418C-4A44-91BF-28E411F75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1559052"/>
            <a:ext cx="10271760" cy="4347972"/>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E80DCD5-1808-799E-FC68-48F4F1A5E7D4}"/>
              </a:ext>
            </a:extLst>
          </p:cNvPr>
          <p:cNvSpPr>
            <a:spLocks noGrp="1"/>
          </p:cNvSpPr>
          <p:nvPr>
            <p:ph type="title"/>
          </p:nvPr>
        </p:nvSpPr>
        <p:spPr>
          <a:xfrm>
            <a:off x="2231136" y="964692"/>
            <a:ext cx="7729728" cy="1188720"/>
          </a:xfrm>
          <a:ln>
            <a:solidFill>
              <a:srgbClr val="404040"/>
            </a:solidFill>
          </a:ln>
        </p:spPr>
        <p:txBody>
          <a:bodyPr vert="horz" lIns="182880" tIns="182880" rIns="182880" bIns="182880" rtlCol="0" anchor="ctr">
            <a:normAutofit/>
          </a:bodyPr>
          <a:lstStyle/>
          <a:p>
            <a:r>
              <a:rPr lang="en-US"/>
              <a:t>B-smote</a:t>
            </a:r>
          </a:p>
        </p:txBody>
      </p:sp>
      <p:pic>
        <p:nvPicPr>
          <p:cNvPr id="4098" name="Picture 2" descr="Schematic diagram of Borderline‐SMOTE algorithm principle">
            <a:extLst>
              <a:ext uri="{FF2B5EF4-FFF2-40B4-BE49-F238E27FC236}">
                <a16:creationId xmlns:a16="http://schemas.microsoft.com/office/drawing/2014/main" id="{6E0B5A8A-7203-2B95-6106-C3F0576249B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000624" y="2482596"/>
            <a:ext cx="6202426" cy="2930652"/>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m 3">
            <a:extLst>
              <a:ext uri="{FF2B5EF4-FFF2-40B4-BE49-F238E27FC236}">
                <a16:creationId xmlns:a16="http://schemas.microsoft.com/office/drawing/2014/main" id="{5CFA561D-1301-4E1C-A929-67B3AC91B674}"/>
              </a:ext>
            </a:extLst>
          </p:cNvPr>
          <p:cNvPicPr>
            <a:picLocks noChangeAspect="1"/>
          </p:cNvPicPr>
          <p:nvPr/>
        </p:nvPicPr>
        <p:blipFill>
          <a:blip r:embed="rId4"/>
          <a:srcRect l="14970"/>
          <a:stretch/>
        </p:blipFill>
        <p:spPr>
          <a:xfrm>
            <a:off x="0" y="-1"/>
            <a:ext cx="2036190" cy="1256334"/>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089886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5127" name="Rectangle 5126">
            <a:extLst>
              <a:ext uri="{FF2B5EF4-FFF2-40B4-BE49-F238E27FC236}">
                <a16:creationId xmlns:a16="http://schemas.microsoft.com/office/drawing/2014/main" id="{7AD7C5BE-418C-4A44-91BF-28E411F75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1559052"/>
            <a:ext cx="10271760" cy="4347972"/>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784CC9B-2F30-7F2C-D9E9-20A7258FB06F}"/>
              </a:ext>
            </a:extLst>
          </p:cNvPr>
          <p:cNvSpPr>
            <a:spLocks noGrp="1"/>
          </p:cNvSpPr>
          <p:nvPr>
            <p:ph type="title"/>
          </p:nvPr>
        </p:nvSpPr>
        <p:spPr>
          <a:xfrm>
            <a:off x="2231136" y="964692"/>
            <a:ext cx="7729728" cy="1188720"/>
          </a:xfrm>
          <a:ln>
            <a:solidFill>
              <a:srgbClr val="404040"/>
            </a:solidFill>
          </a:ln>
        </p:spPr>
        <p:txBody>
          <a:bodyPr vert="horz" lIns="182880" tIns="182880" rIns="182880" bIns="182880" rtlCol="0" anchor="ctr">
            <a:normAutofit/>
          </a:bodyPr>
          <a:lstStyle/>
          <a:p>
            <a:r>
              <a:rPr lang="en-US"/>
              <a:t>adasyn</a:t>
            </a:r>
          </a:p>
        </p:txBody>
      </p:sp>
      <p:pic>
        <p:nvPicPr>
          <p:cNvPr id="5122" name="Picture 2" descr="SMOTE and ADASYN ( Handling Imbalanced Data Set ) | by Indresh  Bhattacharyya | Coinmonks | Medium">
            <a:extLst>
              <a:ext uri="{FF2B5EF4-FFF2-40B4-BE49-F238E27FC236}">
                <a16:creationId xmlns:a16="http://schemas.microsoft.com/office/drawing/2014/main" id="{A51DFCD2-1EB4-674B-D64F-5885E047960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607359" y="2268106"/>
            <a:ext cx="2977282" cy="3412359"/>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m 3">
            <a:extLst>
              <a:ext uri="{FF2B5EF4-FFF2-40B4-BE49-F238E27FC236}">
                <a16:creationId xmlns:a16="http://schemas.microsoft.com/office/drawing/2014/main" id="{E63C179F-09AA-E1A4-F8A3-1D75A6624EF1}"/>
              </a:ext>
            </a:extLst>
          </p:cNvPr>
          <p:cNvPicPr>
            <a:picLocks noChangeAspect="1"/>
          </p:cNvPicPr>
          <p:nvPr/>
        </p:nvPicPr>
        <p:blipFill>
          <a:blip r:embed="rId4"/>
          <a:srcRect l="14970"/>
          <a:stretch/>
        </p:blipFill>
        <p:spPr>
          <a:xfrm>
            <a:off x="0" y="-1"/>
            <a:ext cx="2036190" cy="1256334"/>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172951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7AD7C5BE-418C-4A44-91BF-28E411F75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1559052"/>
            <a:ext cx="10271760" cy="4347972"/>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D4D4960-DE5D-CC83-E706-683681AC6095}"/>
              </a:ext>
            </a:extLst>
          </p:cNvPr>
          <p:cNvSpPr>
            <a:spLocks noGrp="1"/>
          </p:cNvSpPr>
          <p:nvPr>
            <p:ph type="title"/>
          </p:nvPr>
        </p:nvSpPr>
        <p:spPr>
          <a:xfrm>
            <a:off x="2231136" y="964692"/>
            <a:ext cx="7729728" cy="1188720"/>
          </a:xfrm>
          <a:ln>
            <a:solidFill>
              <a:srgbClr val="404040"/>
            </a:solidFill>
          </a:ln>
        </p:spPr>
        <p:txBody>
          <a:bodyPr vert="horz" lIns="182880" tIns="182880" rIns="182880" bIns="182880" rtlCol="0" anchor="ctr">
            <a:normAutofit/>
          </a:bodyPr>
          <a:lstStyle/>
          <a:p>
            <a:r>
              <a:rPr lang="en-US"/>
              <a:t>Random undersampling</a:t>
            </a:r>
          </a:p>
        </p:txBody>
      </p:sp>
      <p:pic>
        <p:nvPicPr>
          <p:cNvPr id="2050" name="Picture 2" descr="Random undersampling process.">
            <a:extLst>
              <a:ext uri="{FF2B5EF4-FFF2-40B4-BE49-F238E27FC236}">
                <a16:creationId xmlns:a16="http://schemas.microsoft.com/office/drawing/2014/main" id="{316BA338-F8B2-6A6F-8A4E-B9BB25B8925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059559" y="2482596"/>
            <a:ext cx="8084556" cy="2930652"/>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m 3" descr="Uma imagem com Gráficos, fogo de artifício, design&#10;&#10;Descrição gerada automaticamente">
            <a:extLst>
              <a:ext uri="{FF2B5EF4-FFF2-40B4-BE49-F238E27FC236}">
                <a16:creationId xmlns:a16="http://schemas.microsoft.com/office/drawing/2014/main" id="{3ABB3115-9923-9AEE-8229-95CC7E24995D}"/>
              </a:ext>
            </a:extLst>
          </p:cNvPr>
          <p:cNvPicPr>
            <a:picLocks noChangeAspect="1"/>
          </p:cNvPicPr>
          <p:nvPr/>
        </p:nvPicPr>
        <p:blipFill>
          <a:blip r:embed="rId4"/>
          <a:srcRect l="14970"/>
          <a:stretch/>
        </p:blipFill>
        <p:spPr>
          <a:xfrm>
            <a:off x="0" y="-1"/>
            <a:ext cx="2036190" cy="1256334"/>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744746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0247" name="Rectangle 10246">
            <a:extLst>
              <a:ext uri="{FF2B5EF4-FFF2-40B4-BE49-F238E27FC236}">
                <a16:creationId xmlns:a16="http://schemas.microsoft.com/office/drawing/2014/main" id="{7AD7C5BE-418C-4A44-91BF-28E411F75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1559052"/>
            <a:ext cx="10271760" cy="4347972"/>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1F870F6-E056-191C-C849-F2447DE8DF77}"/>
              </a:ext>
            </a:extLst>
          </p:cNvPr>
          <p:cNvSpPr>
            <a:spLocks noGrp="1"/>
          </p:cNvSpPr>
          <p:nvPr>
            <p:ph type="title"/>
          </p:nvPr>
        </p:nvSpPr>
        <p:spPr>
          <a:xfrm>
            <a:off x="2231136" y="964692"/>
            <a:ext cx="7729728" cy="1188720"/>
          </a:xfrm>
          <a:ln>
            <a:solidFill>
              <a:srgbClr val="404040"/>
            </a:solidFill>
          </a:ln>
        </p:spPr>
        <p:txBody>
          <a:bodyPr vert="horz" lIns="182880" tIns="182880" rIns="182880" bIns="182880" rtlCol="0" anchor="ctr">
            <a:normAutofit/>
          </a:bodyPr>
          <a:lstStyle/>
          <a:p>
            <a:r>
              <a:rPr lang="en-US"/>
              <a:t>smoteenn</a:t>
            </a:r>
          </a:p>
        </p:txBody>
      </p:sp>
      <p:pic>
        <p:nvPicPr>
          <p:cNvPr id="10242" name="Picture 2" descr="Illustration of SMOTE+ENN. | Download Scientific Diagram">
            <a:extLst>
              <a:ext uri="{FF2B5EF4-FFF2-40B4-BE49-F238E27FC236}">
                <a16:creationId xmlns:a16="http://schemas.microsoft.com/office/drawing/2014/main" id="{DC48A812-C692-A38B-A0A7-A40E4FC6B82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197363" y="2482596"/>
            <a:ext cx="7808947" cy="2930652"/>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m 3" descr="Uma imagem com Gráficos, fogo de artifício, design&#10;&#10;Descrição gerada automaticamente">
            <a:extLst>
              <a:ext uri="{FF2B5EF4-FFF2-40B4-BE49-F238E27FC236}">
                <a16:creationId xmlns:a16="http://schemas.microsoft.com/office/drawing/2014/main" id="{E497BCED-0AFE-60AE-33CF-2189BF45496A}"/>
              </a:ext>
            </a:extLst>
          </p:cNvPr>
          <p:cNvPicPr>
            <a:picLocks noChangeAspect="1"/>
          </p:cNvPicPr>
          <p:nvPr/>
        </p:nvPicPr>
        <p:blipFill>
          <a:blip r:embed="rId4"/>
          <a:srcRect l="14970"/>
          <a:stretch/>
        </p:blipFill>
        <p:spPr>
          <a:xfrm>
            <a:off x="0" y="-1"/>
            <a:ext cx="2036190" cy="1256334"/>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306945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AD7C5BE-418C-4A44-91BF-28E411F75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1559052"/>
            <a:ext cx="10271760" cy="4347972"/>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EC751D3-7700-3023-8364-02CBB6A4DEEE}"/>
              </a:ext>
            </a:extLst>
          </p:cNvPr>
          <p:cNvSpPr>
            <a:spLocks noGrp="1"/>
          </p:cNvSpPr>
          <p:nvPr>
            <p:ph type="title"/>
          </p:nvPr>
        </p:nvSpPr>
        <p:spPr>
          <a:xfrm>
            <a:off x="2231136" y="964692"/>
            <a:ext cx="7729728" cy="1188720"/>
          </a:xfrm>
          <a:ln>
            <a:solidFill>
              <a:srgbClr val="404040"/>
            </a:solidFill>
          </a:ln>
        </p:spPr>
        <p:txBody>
          <a:bodyPr vert="horz" lIns="182880" tIns="182880" rIns="182880" bIns="182880" rtlCol="0" anchor="ctr">
            <a:normAutofit/>
          </a:bodyPr>
          <a:lstStyle/>
          <a:p>
            <a:r>
              <a:rPr lang="en-US"/>
              <a:t>Hybrid tomek link bcbsmote</a:t>
            </a:r>
          </a:p>
        </p:txBody>
      </p:sp>
      <p:pic>
        <p:nvPicPr>
          <p:cNvPr id="6" name="Imagem 5" descr="Uma imagem com texto, captura de ecrã, diagrama&#10;&#10;Descrição gerada automaticamente">
            <a:extLst>
              <a:ext uri="{FF2B5EF4-FFF2-40B4-BE49-F238E27FC236}">
                <a16:creationId xmlns:a16="http://schemas.microsoft.com/office/drawing/2014/main" id="{A354CE8A-655A-4411-FEE2-45CCA8734AD0}"/>
              </a:ext>
            </a:extLst>
          </p:cNvPr>
          <p:cNvPicPr>
            <a:picLocks noChangeAspect="1"/>
          </p:cNvPicPr>
          <p:nvPr/>
        </p:nvPicPr>
        <p:blipFill>
          <a:blip r:embed="rId3"/>
          <a:stretch>
            <a:fillRect/>
          </a:stretch>
        </p:blipFill>
        <p:spPr>
          <a:xfrm>
            <a:off x="3033091" y="2482596"/>
            <a:ext cx="6137491" cy="2930652"/>
          </a:xfrm>
          <a:prstGeom prst="rect">
            <a:avLst/>
          </a:prstGeom>
        </p:spPr>
      </p:pic>
      <p:pic>
        <p:nvPicPr>
          <p:cNvPr id="4" name="Imagem 3" descr="Uma imagem com Gráficos, fogo de artifício, design&#10;&#10;Descrição gerada automaticamente">
            <a:extLst>
              <a:ext uri="{FF2B5EF4-FFF2-40B4-BE49-F238E27FC236}">
                <a16:creationId xmlns:a16="http://schemas.microsoft.com/office/drawing/2014/main" id="{9616544B-3E21-DAF4-20EF-2653D31E8B99}"/>
              </a:ext>
            </a:extLst>
          </p:cNvPr>
          <p:cNvPicPr>
            <a:picLocks noChangeAspect="1"/>
          </p:cNvPicPr>
          <p:nvPr/>
        </p:nvPicPr>
        <p:blipFill>
          <a:blip r:embed="rId4"/>
          <a:srcRect l="14970"/>
          <a:stretch/>
        </p:blipFill>
        <p:spPr>
          <a:xfrm>
            <a:off x="0" y="-1"/>
            <a:ext cx="2036190" cy="1256334"/>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7147004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175" name="Rectangle 7174">
            <a:extLst>
              <a:ext uri="{FF2B5EF4-FFF2-40B4-BE49-F238E27FC236}">
                <a16:creationId xmlns:a16="http://schemas.microsoft.com/office/drawing/2014/main" id="{7AD7C5BE-418C-4A44-91BF-28E411F75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1559052"/>
            <a:ext cx="10271760" cy="4347972"/>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2167C67-68A3-3BB8-0F8A-B4AA4A654A7E}"/>
              </a:ext>
            </a:extLst>
          </p:cNvPr>
          <p:cNvSpPr>
            <a:spLocks noGrp="1"/>
          </p:cNvSpPr>
          <p:nvPr>
            <p:ph type="title"/>
          </p:nvPr>
        </p:nvSpPr>
        <p:spPr>
          <a:xfrm>
            <a:off x="2231136" y="964692"/>
            <a:ext cx="7729728" cy="1188720"/>
          </a:xfrm>
          <a:ln>
            <a:solidFill>
              <a:srgbClr val="404040"/>
            </a:solidFill>
          </a:ln>
        </p:spPr>
        <p:txBody>
          <a:bodyPr vert="horz" lIns="182880" tIns="182880" rIns="182880" bIns="182880" rtlCol="0" anchor="ctr">
            <a:normAutofit/>
          </a:bodyPr>
          <a:lstStyle/>
          <a:p>
            <a:r>
              <a:rPr lang="en-US"/>
              <a:t>Smote – tomek </a:t>
            </a:r>
          </a:p>
        </p:txBody>
      </p:sp>
      <p:pic>
        <p:nvPicPr>
          <p:cNvPr id="7170" name="Picture 2" descr="Schematic diagram of SMOTE-Tomek method. | Download Scientific Diagram">
            <a:extLst>
              <a:ext uri="{FF2B5EF4-FFF2-40B4-BE49-F238E27FC236}">
                <a16:creationId xmlns:a16="http://schemas.microsoft.com/office/drawing/2014/main" id="{B0F2DF28-56A7-C527-EB83-FD9422F73A9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392151" y="2482596"/>
            <a:ext cx="7419372" cy="2930652"/>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m 3" descr="Uma imagem com Gráficos, fogo de artifício, design&#10;&#10;Descrição gerada automaticamente">
            <a:extLst>
              <a:ext uri="{FF2B5EF4-FFF2-40B4-BE49-F238E27FC236}">
                <a16:creationId xmlns:a16="http://schemas.microsoft.com/office/drawing/2014/main" id="{1B05D71F-9D4A-3ED2-33DC-9C6C4677C078}"/>
              </a:ext>
            </a:extLst>
          </p:cNvPr>
          <p:cNvPicPr>
            <a:picLocks noChangeAspect="1"/>
          </p:cNvPicPr>
          <p:nvPr/>
        </p:nvPicPr>
        <p:blipFill>
          <a:blip r:embed="rId4"/>
          <a:srcRect l="14970"/>
          <a:stretch/>
        </p:blipFill>
        <p:spPr>
          <a:xfrm>
            <a:off x="0" y="-1"/>
            <a:ext cx="2036190" cy="1256334"/>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97857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151" name="Rectangle 6150">
            <a:extLst>
              <a:ext uri="{FF2B5EF4-FFF2-40B4-BE49-F238E27FC236}">
                <a16:creationId xmlns:a16="http://schemas.microsoft.com/office/drawing/2014/main" id="{7AD7C5BE-418C-4A44-91BF-28E411F75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1559052"/>
            <a:ext cx="10271760" cy="4347972"/>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65262F5-249C-5FD0-213B-371BA97706A0}"/>
              </a:ext>
            </a:extLst>
          </p:cNvPr>
          <p:cNvSpPr>
            <a:spLocks noGrp="1"/>
          </p:cNvSpPr>
          <p:nvPr>
            <p:ph type="title"/>
          </p:nvPr>
        </p:nvSpPr>
        <p:spPr>
          <a:xfrm>
            <a:off x="2231136" y="964692"/>
            <a:ext cx="7729728" cy="1188720"/>
          </a:xfrm>
          <a:ln>
            <a:solidFill>
              <a:srgbClr val="404040"/>
            </a:solidFill>
          </a:ln>
        </p:spPr>
        <p:txBody>
          <a:bodyPr vert="horz" lIns="182880" tIns="182880" rIns="182880" bIns="182880" rtlCol="0" anchor="ctr">
            <a:normAutofit/>
          </a:bodyPr>
          <a:lstStyle/>
          <a:p>
            <a:r>
              <a:rPr lang="en-US"/>
              <a:t>Class weights</a:t>
            </a:r>
          </a:p>
        </p:txBody>
      </p:sp>
      <p:pic>
        <p:nvPicPr>
          <p:cNvPr id="6146" name="Picture 2" descr="How to Handle Imbalanced Classes in Machine Learning">
            <a:extLst>
              <a:ext uri="{FF2B5EF4-FFF2-40B4-BE49-F238E27FC236}">
                <a16:creationId xmlns:a16="http://schemas.microsoft.com/office/drawing/2014/main" id="{75D32BA8-4CF8-39F0-7B9F-191A23705B2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906592" y="2482596"/>
            <a:ext cx="4390490" cy="2930652"/>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m 3" descr="Uma imagem com Gráficos, fogo de artifício, design&#10;&#10;Descrição gerada automaticamente">
            <a:extLst>
              <a:ext uri="{FF2B5EF4-FFF2-40B4-BE49-F238E27FC236}">
                <a16:creationId xmlns:a16="http://schemas.microsoft.com/office/drawing/2014/main" id="{3B8E6279-BD74-4976-8749-C905158D3E0E}"/>
              </a:ext>
            </a:extLst>
          </p:cNvPr>
          <p:cNvPicPr>
            <a:picLocks noChangeAspect="1"/>
          </p:cNvPicPr>
          <p:nvPr/>
        </p:nvPicPr>
        <p:blipFill>
          <a:blip r:embed="rId4"/>
          <a:srcRect l="14970"/>
          <a:stretch/>
        </p:blipFill>
        <p:spPr>
          <a:xfrm>
            <a:off x="0" y="-1"/>
            <a:ext cx="2036190" cy="1256334"/>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5527450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3D149A76-2FCA-75CE-C12D-558CA4897A99}"/>
            </a:ext>
          </a:extLst>
        </p:cNvPr>
        <p:cNvGrpSpPr/>
        <p:nvPr/>
      </p:nvGrpSpPr>
      <p:grpSpPr>
        <a:xfrm>
          <a:off x="0" y="0"/>
          <a:ext cx="0" cy="0"/>
          <a:chOff x="0" y="0"/>
          <a:chExt cx="0" cy="0"/>
        </a:xfrm>
      </p:grpSpPr>
      <p:sp>
        <p:nvSpPr>
          <p:cNvPr id="6151" name="Rectangle 6150">
            <a:extLst>
              <a:ext uri="{FF2B5EF4-FFF2-40B4-BE49-F238E27FC236}">
                <a16:creationId xmlns:a16="http://schemas.microsoft.com/office/drawing/2014/main" id="{70CB3F42-B6FB-E841-12B1-C030B1C2AF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1559052"/>
            <a:ext cx="10271760" cy="4347972"/>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FCCB4ED-75EE-664C-4516-F35944546578}"/>
              </a:ext>
            </a:extLst>
          </p:cNvPr>
          <p:cNvSpPr>
            <a:spLocks noGrp="1"/>
          </p:cNvSpPr>
          <p:nvPr>
            <p:ph type="title"/>
          </p:nvPr>
        </p:nvSpPr>
        <p:spPr>
          <a:xfrm>
            <a:off x="2231136" y="964692"/>
            <a:ext cx="7729728" cy="1188720"/>
          </a:xfrm>
          <a:ln>
            <a:solidFill>
              <a:srgbClr val="404040"/>
            </a:solidFill>
          </a:ln>
        </p:spPr>
        <p:txBody>
          <a:bodyPr vert="horz" lIns="182880" tIns="182880" rIns="182880" bIns="182880" rtlCol="0" anchor="ctr">
            <a:normAutofit/>
          </a:bodyPr>
          <a:lstStyle/>
          <a:p>
            <a:r>
              <a:rPr lang="en-US" dirty="0"/>
              <a:t>Results overview</a:t>
            </a:r>
          </a:p>
        </p:txBody>
      </p:sp>
      <p:pic>
        <p:nvPicPr>
          <p:cNvPr id="4" name="Imagem 3" descr="Uma imagem com Gráficos, fogo de artifício, design&#10;&#10;Descrição gerada automaticamente">
            <a:extLst>
              <a:ext uri="{FF2B5EF4-FFF2-40B4-BE49-F238E27FC236}">
                <a16:creationId xmlns:a16="http://schemas.microsoft.com/office/drawing/2014/main" id="{C891E005-0C02-24CE-7AD0-D11B2EBCDC4C}"/>
              </a:ext>
            </a:extLst>
          </p:cNvPr>
          <p:cNvPicPr>
            <a:picLocks noChangeAspect="1"/>
          </p:cNvPicPr>
          <p:nvPr/>
        </p:nvPicPr>
        <p:blipFill>
          <a:blip r:embed="rId3"/>
          <a:srcRect l="14970"/>
          <a:stretch/>
        </p:blipFill>
        <p:spPr>
          <a:xfrm>
            <a:off x="0" y="-1"/>
            <a:ext cx="2036190" cy="1256334"/>
          </a:xfrm>
          <a:prstGeom prst="rect">
            <a:avLst/>
          </a:prstGeom>
          <a:effectLst>
            <a:outerShdw blurRad="50800" dist="38100" dir="5400000" algn="t" rotWithShape="0">
              <a:prstClr val="black">
                <a:alpha val="40000"/>
              </a:prstClr>
            </a:outerShdw>
          </a:effectLst>
        </p:spPr>
      </p:pic>
      <p:pic>
        <p:nvPicPr>
          <p:cNvPr id="10" name="Imagem 9">
            <a:extLst>
              <a:ext uri="{FF2B5EF4-FFF2-40B4-BE49-F238E27FC236}">
                <a16:creationId xmlns:a16="http://schemas.microsoft.com/office/drawing/2014/main" id="{CCB2015E-CE0D-66EF-5E08-CF3D3021D28A}"/>
              </a:ext>
            </a:extLst>
          </p:cNvPr>
          <p:cNvPicPr>
            <a:picLocks noChangeAspect="1"/>
          </p:cNvPicPr>
          <p:nvPr/>
        </p:nvPicPr>
        <p:blipFill>
          <a:blip r:embed="rId4"/>
          <a:stretch>
            <a:fillRect/>
          </a:stretch>
        </p:blipFill>
        <p:spPr>
          <a:xfrm>
            <a:off x="2535936" y="2271722"/>
            <a:ext cx="7120128" cy="3533269"/>
          </a:xfrm>
          <a:prstGeom prst="rect">
            <a:avLst/>
          </a:prstGeom>
        </p:spPr>
      </p:pic>
    </p:spTree>
    <p:extLst>
      <p:ext uri="{BB962C8B-B14F-4D97-AF65-F5344CB8AC3E}">
        <p14:creationId xmlns:p14="http://schemas.microsoft.com/office/powerpoint/2010/main" val="5739394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71E0C82B-96D6-DAAF-300A-504C3A34AFFA}"/>
            </a:ext>
          </a:extLst>
        </p:cNvPr>
        <p:cNvGrpSpPr/>
        <p:nvPr/>
      </p:nvGrpSpPr>
      <p:grpSpPr>
        <a:xfrm>
          <a:off x="0" y="0"/>
          <a:ext cx="0" cy="0"/>
          <a:chOff x="0" y="0"/>
          <a:chExt cx="0" cy="0"/>
        </a:xfrm>
      </p:grpSpPr>
      <p:sp>
        <p:nvSpPr>
          <p:cNvPr id="6151" name="Rectangle 6150">
            <a:extLst>
              <a:ext uri="{FF2B5EF4-FFF2-40B4-BE49-F238E27FC236}">
                <a16:creationId xmlns:a16="http://schemas.microsoft.com/office/drawing/2014/main" id="{AE131AD3-C18F-F32D-49EA-C7B8E80C38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1559052"/>
            <a:ext cx="10271760" cy="4347972"/>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3D8CC12-0BD7-1F95-0E42-F46609F3FBC1}"/>
              </a:ext>
            </a:extLst>
          </p:cNvPr>
          <p:cNvSpPr>
            <a:spLocks noGrp="1"/>
          </p:cNvSpPr>
          <p:nvPr>
            <p:ph type="title"/>
          </p:nvPr>
        </p:nvSpPr>
        <p:spPr>
          <a:xfrm>
            <a:off x="2231136" y="964692"/>
            <a:ext cx="7729728" cy="1188720"/>
          </a:xfrm>
          <a:ln>
            <a:solidFill>
              <a:srgbClr val="404040"/>
            </a:solidFill>
          </a:ln>
        </p:spPr>
        <p:txBody>
          <a:bodyPr vert="horz" lIns="182880" tIns="182880" rIns="182880" bIns="182880" rtlCol="0" anchor="ctr">
            <a:normAutofit/>
          </a:bodyPr>
          <a:lstStyle/>
          <a:p>
            <a:r>
              <a:rPr lang="en-US" dirty="0"/>
              <a:t>Random forest – results</a:t>
            </a:r>
          </a:p>
        </p:txBody>
      </p:sp>
      <p:pic>
        <p:nvPicPr>
          <p:cNvPr id="4" name="Imagem 3" descr="Uma imagem com Gráficos, fogo de artifício, design&#10;&#10;Descrição gerada automaticamente">
            <a:extLst>
              <a:ext uri="{FF2B5EF4-FFF2-40B4-BE49-F238E27FC236}">
                <a16:creationId xmlns:a16="http://schemas.microsoft.com/office/drawing/2014/main" id="{DB488269-BC68-D365-B32C-3E849E23142F}"/>
              </a:ext>
            </a:extLst>
          </p:cNvPr>
          <p:cNvPicPr>
            <a:picLocks noChangeAspect="1"/>
          </p:cNvPicPr>
          <p:nvPr/>
        </p:nvPicPr>
        <p:blipFill>
          <a:blip r:embed="rId3"/>
          <a:srcRect l="14970"/>
          <a:stretch/>
        </p:blipFill>
        <p:spPr>
          <a:xfrm>
            <a:off x="0" y="-1"/>
            <a:ext cx="2036190" cy="1256334"/>
          </a:xfrm>
          <a:prstGeom prst="rect">
            <a:avLst/>
          </a:prstGeom>
          <a:effectLst>
            <a:outerShdw blurRad="50800" dist="38100" dir="5400000" algn="t" rotWithShape="0">
              <a:prstClr val="black">
                <a:alpha val="40000"/>
              </a:prstClr>
            </a:outerShdw>
          </a:effectLst>
        </p:spPr>
      </p:pic>
      <p:pic>
        <p:nvPicPr>
          <p:cNvPr id="7" name="Imagem 6">
            <a:extLst>
              <a:ext uri="{FF2B5EF4-FFF2-40B4-BE49-F238E27FC236}">
                <a16:creationId xmlns:a16="http://schemas.microsoft.com/office/drawing/2014/main" id="{4E0EF4D9-B428-87BA-6914-13599450514A}"/>
              </a:ext>
            </a:extLst>
          </p:cNvPr>
          <p:cNvPicPr>
            <a:picLocks noChangeAspect="1"/>
          </p:cNvPicPr>
          <p:nvPr/>
        </p:nvPicPr>
        <p:blipFill>
          <a:blip r:embed="rId4"/>
          <a:stretch>
            <a:fillRect/>
          </a:stretch>
        </p:blipFill>
        <p:spPr>
          <a:xfrm>
            <a:off x="1552425" y="2328170"/>
            <a:ext cx="5097525" cy="3404095"/>
          </a:xfrm>
          <a:prstGeom prst="rect">
            <a:avLst/>
          </a:prstGeom>
        </p:spPr>
      </p:pic>
      <p:pic>
        <p:nvPicPr>
          <p:cNvPr id="9" name="Imagem 8">
            <a:extLst>
              <a:ext uri="{FF2B5EF4-FFF2-40B4-BE49-F238E27FC236}">
                <a16:creationId xmlns:a16="http://schemas.microsoft.com/office/drawing/2014/main" id="{87747138-8624-9A7B-E4D5-77FDF9E3D6EF}"/>
              </a:ext>
            </a:extLst>
          </p:cNvPr>
          <p:cNvPicPr>
            <a:picLocks noChangeAspect="1"/>
          </p:cNvPicPr>
          <p:nvPr/>
        </p:nvPicPr>
        <p:blipFill>
          <a:blip r:embed="rId5"/>
          <a:stretch>
            <a:fillRect/>
          </a:stretch>
        </p:blipFill>
        <p:spPr>
          <a:xfrm>
            <a:off x="6742176" y="2328170"/>
            <a:ext cx="3787671" cy="3530794"/>
          </a:xfrm>
          <a:prstGeom prst="rect">
            <a:avLst/>
          </a:prstGeom>
        </p:spPr>
      </p:pic>
    </p:spTree>
    <p:extLst>
      <p:ext uri="{BB962C8B-B14F-4D97-AF65-F5344CB8AC3E}">
        <p14:creationId xmlns:p14="http://schemas.microsoft.com/office/powerpoint/2010/main" val="42333218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F49AA19C-9C8B-04D1-258E-01D2DCA4F3DE}"/>
            </a:ext>
          </a:extLst>
        </p:cNvPr>
        <p:cNvGrpSpPr/>
        <p:nvPr/>
      </p:nvGrpSpPr>
      <p:grpSpPr>
        <a:xfrm>
          <a:off x="0" y="0"/>
          <a:ext cx="0" cy="0"/>
          <a:chOff x="0" y="0"/>
          <a:chExt cx="0" cy="0"/>
        </a:xfrm>
      </p:grpSpPr>
      <p:sp>
        <p:nvSpPr>
          <p:cNvPr id="6151" name="Rectangle 6150">
            <a:extLst>
              <a:ext uri="{FF2B5EF4-FFF2-40B4-BE49-F238E27FC236}">
                <a16:creationId xmlns:a16="http://schemas.microsoft.com/office/drawing/2014/main" id="{DF91E8FE-BBE4-43C1-6C14-57FAC7E750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1559052"/>
            <a:ext cx="10271760" cy="4347972"/>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3B6C3CE-4E57-69A1-F042-C15EF5553BD1}"/>
              </a:ext>
            </a:extLst>
          </p:cNvPr>
          <p:cNvSpPr>
            <a:spLocks noGrp="1"/>
          </p:cNvSpPr>
          <p:nvPr>
            <p:ph type="title"/>
          </p:nvPr>
        </p:nvSpPr>
        <p:spPr>
          <a:xfrm>
            <a:off x="2231136" y="964692"/>
            <a:ext cx="7729728" cy="1188720"/>
          </a:xfrm>
          <a:ln>
            <a:solidFill>
              <a:srgbClr val="404040"/>
            </a:solidFill>
          </a:ln>
        </p:spPr>
        <p:txBody>
          <a:bodyPr vert="horz" lIns="182880" tIns="182880" rIns="182880" bIns="182880" rtlCol="0" anchor="ctr">
            <a:normAutofit/>
          </a:bodyPr>
          <a:lstStyle/>
          <a:p>
            <a:r>
              <a:rPr lang="en-US" dirty="0" err="1"/>
              <a:t>XGBoost</a:t>
            </a:r>
            <a:r>
              <a:rPr lang="en-US" dirty="0"/>
              <a:t> – results </a:t>
            </a:r>
          </a:p>
        </p:txBody>
      </p:sp>
      <p:pic>
        <p:nvPicPr>
          <p:cNvPr id="4" name="Imagem 3" descr="Uma imagem com Gráficos, fogo de artifício, design&#10;&#10;Descrição gerada automaticamente">
            <a:extLst>
              <a:ext uri="{FF2B5EF4-FFF2-40B4-BE49-F238E27FC236}">
                <a16:creationId xmlns:a16="http://schemas.microsoft.com/office/drawing/2014/main" id="{440A3FC4-4F77-7F11-58E6-186038A322E1}"/>
              </a:ext>
            </a:extLst>
          </p:cNvPr>
          <p:cNvPicPr>
            <a:picLocks noChangeAspect="1"/>
          </p:cNvPicPr>
          <p:nvPr/>
        </p:nvPicPr>
        <p:blipFill>
          <a:blip r:embed="rId3"/>
          <a:srcRect l="14970"/>
          <a:stretch/>
        </p:blipFill>
        <p:spPr>
          <a:xfrm>
            <a:off x="0" y="-1"/>
            <a:ext cx="2036190" cy="1256334"/>
          </a:xfrm>
          <a:prstGeom prst="rect">
            <a:avLst/>
          </a:prstGeom>
          <a:effectLst>
            <a:outerShdw blurRad="50800" dist="38100" dir="5400000" algn="t" rotWithShape="0">
              <a:prstClr val="black">
                <a:alpha val="40000"/>
              </a:prstClr>
            </a:outerShdw>
          </a:effectLst>
        </p:spPr>
      </p:pic>
      <p:pic>
        <p:nvPicPr>
          <p:cNvPr id="5" name="Imagem 4">
            <a:extLst>
              <a:ext uri="{FF2B5EF4-FFF2-40B4-BE49-F238E27FC236}">
                <a16:creationId xmlns:a16="http://schemas.microsoft.com/office/drawing/2014/main" id="{F7393831-3041-824B-70E2-C31D44A3352B}"/>
              </a:ext>
            </a:extLst>
          </p:cNvPr>
          <p:cNvPicPr>
            <a:picLocks noChangeAspect="1"/>
          </p:cNvPicPr>
          <p:nvPr/>
        </p:nvPicPr>
        <p:blipFill>
          <a:blip r:embed="rId4"/>
          <a:stretch>
            <a:fillRect/>
          </a:stretch>
        </p:blipFill>
        <p:spPr>
          <a:xfrm>
            <a:off x="1472184" y="2328170"/>
            <a:ext cx="5097525" cy="3404095"/>
          </a:xfrm>
          <a:prstGeom prst="rect">
            <a:avLst/>
          </a:prstGeom>
        </p:spPr>
      </p:pic>
      <p:pic>
        <p:nvPicPr>
          <p:cNvPr id="8" name="Imagem 7">
            <a:extLst>
              <a:ext uri="{FF2B5EF4-FFF2-40B4-BE49-F238E27FC236}">
                <a16:creationId xmlns:a16="http://schemas.microsoft.com/office/drawing/2014/main" id="{6C057AA5-AE1D-805C-FC2F-8FA873975ABE}"/>
              </a:ext>
            </a:extLst>
          </p:cNvPr>
          <p:cNvPicPr>
            <a:picLocks noChangeAspect="1"/>
          </p:cNvPicPr>
          <p:nvPr/>
        </p:nvPicPr>
        <p:blipFill>
          <a:blip r:embed="rId5"/>
          <a:stretch>
            <a:fillRect/>
          </a:stretch>
        </p:blipFill>
        <p:spPr>
          <a:xfrm>
            <a:off x="6932145" y="2201471"/>
            <a:ext cx="3787671" cy="3530794"/>
          </a:xfrm>
          <a:prstGeom prst="rect">
            <a:avLst/>
          </a:prstGeom>
        </p:spPr>
      </p:pic>
    </p:spTree>
    <p:extLst>
      <p:ext uri="{BB962C8B-B14F-4D97-AF65-F5344CB8AC3E}">
        <p14:creationId xmlns:p14="http://schemas.microsoft.com/office/powerpoint/2010/main" val="22278086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AD7C5BE-418C-4A44-91BF-28E411F75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1559052"/>
            <a:ext cx="10271760" cy="4347972"/>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37D3DEA-1280-01AB-556B-C5E1FA25E199}"/>
              </a:ext>
            </a:extLst>
          </p:cNvPr>
          <p:cNvSpPr>
            <a:spLocks noGrp="1"/>
          </p:cNvSpPr>
          <p:nvPr>
            <p:ph type="title"/>
          </p:nvPr>
        </p:nvSpPr>
        <p:spPr>
          <a:xfrm>
            <a:off x="2231136" y="964692"/>
            <a:ext cx="7729728" cy="1188720"/>
          </a:xfrm>
          <a:ln>
            <a:solidFill>
              <a:srgbClr val="404040"/>
            </a:solidFill>
          </a:ln>
        </p:spPr>
        <p:txBody>
          <a:bodyPr vert="horz" lIns="182880" tIns="182880" rIns="182880" bIns="182880" rtlCol="0" anchor="ctr">
            <a:normAutofit/>
          </a:bodyPr>
          <a:lstStyle/>
          <a:p>
            <a:r>
              <a:rPr lang="en-US"/>
              <a:t>Random forest vs xgboost</a:t>
            </a:r>
          </a:p>
        </p:txBody>
      </p:sp>
      <p:pic>
        <p:nvPicPr>
          <p:cNvPr id="5" name="Imagem 4">
            <a:extLst>
              <a:ext uri="{FF2B5EF4-FFF2-40B4-BE49-F238E27FC236}">
                <a16:creationId xmlns:a16="http://schemas.microsoft.com/office/drawing/2014/main" id="{AF6D1280-81F7-8699-1671-E8519A5A1168}"/>
              </a:ext>
            </a:extLst>
          </p:cNvPr>
          <p:cNvPicPr>
            <a:picLocks noChangeAspect="1"/>
          </p:cNvPicPr>
          <p:nvPr/>
        </p:nvPicPr>
        <p:blipFill>
          <a:blip r:embed="rId3"/>
          <a:stretch>
            <a:fillRect/>
          </a:stretch>
        </p:blipFill>
        <p:spPr>
          <a:xfrm>
            <a:off x="2582892" y="2696376"/>
            <a:ext cx="3330228" cy="3105438"/>
          </a:xfrm>
          <a:prstGeom prst="rect">
            <a:avLst/>
          </a:prstGeom>
        </p:spPr>
      </p:pic>
      <p:pic>
        <p:nvPicPr>
          <p:cNvPr id="4" name="Imagem 3">
            <a:extLst>
              <a:ext uri="{FF2B5EF4-FFF2-40B4-BE49-F238E27FC236}">
                <a16:creationId xmlns:a16="http://schemas.microsoft.com/office/drawing/2014/main" id="{F04BA5EF-0037-34F3-3F8C-82C257EE2AD7}"/>
              </a:ext>
            </a:extLst>
          </p:cNvPr>
          <p:cNvPicPr>
            <a:picLocks noChangeAspect="1"/>
          </p:cNvPicPr>
          <p:nvPr/>
        </p:nvPicPr>
        <p:blipFill>
          <a:blip r:embed="rId4"/>
          <a:srcRect l="14970"/>
          <a:stretch/>
        </p:blipFill>
        <p:spPr>
          <a:xfrm>
            <a:off x="0" y="-1"/>
            <a:ext cx="2036190" cy="1256334"/>
          </a:xfrm>
          <a:prstGeom prst="rect">
            <a:avLst/>
          </a:prstGeom>
          <a:effectLst>
            <a:outerShdw blurRad="50800" dist="38100" dir="5400000" algn="t" rotWithShape="0">
              <a:prstClr val="black">
                <a:alpha val="40000"/>
              </a:prstClr>
            </a:outerShdw>
          </a:effectLst>
        </p:spPr>
      </p:pic>
      <p:pic>
        <p:nvPicPr>
          <p:cNvPr id="6" name="Imagem 5">
            <a:extLst>
              <a:ext uri="{FF2B5EF4-FFF2-40B4-BE49-F238E27FC236}">
                <a16:creationId xmlns:a16="http://schemas.microsoft.com/office/drawing/2014/main" id="{333CB487-B5E3-5948-D0C3-85EA7C977219}"/>
              </a:ext>
            </a:extLst>
          </p:cNvPr>
          <p:cNvPicPr>
            <a:picLocks noChangeAspect="1"/>
          </p:cNvPicPr>
          <p:nvPr/>
        </p:nvPicPr>
        <p:blipFill>
          <a:blip r:embed="rId5"/>
          <a:stretch>
            <a:fillRect/>
          </a:stretch>
        </p:blipFill>
        <p:spPr>
          <a:xfrm>
            <a:off x="6531744" y="2699971"/>
            <a:ext cx="3330228" cy="3104374"/>
          </a:xfrm>
          <a:prstGeom prst="rect">
            <a:avLst/>
          </a:prstGeom>
        </p:spPr>
      </p:pic>
      <p:sp>
        <p:nvSpPr>
          <p:cNvPr id="7" name="Marcador de Posição do Texto 1">
            <a:extLst>
              <a:ext uri="{FF2B5EF4-FFF2-40B4-BE49-F238E27FC236}">
                <a16:creationId xmlns:a16="http://schemas.microsoft.com/office/drawing/2014/main" id="{59B5E83E-F7C1-CEBA-C238-03F95590BB19}"/>
              </a:ext>
            </a:extLst>
          </p:cNvPr>
          <p:cNvSpPr txBox="1">
            <a:spLocks/>
          </p:cNvSpPr>
          <p:nvPr/>
        </p:nvSpPr>
        <p:spPr>
          <a:xfrm>
            <a:off x="1841114" y="2313589"/>
            <a:ext cx="4270248" cy="70408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lgn="ctr">
              <a:buNone/>
            </a:pPr>
            <a:r>
              <a:rPr lang="pt-PT" sz="1900" dirty="0">
                <a:solidFill>
                  <a:schemeClr val="accent2">
                    <a:lumMod val="75000"/>
                  </a:schemeClr>
                </a:solidFill>
              </a:rPr>
              <a:t>RANDOM FOREST</a:t>
            </a:r>
          </a:p>
        </p:txBody>
      </p:sp>
      <p:sp>
        <p:nvSpPr>
          <p:cNvPr id="8" name="Marcador de Posição do Texto 1">
            <a:extLst>
              <a:ext uri="{FF2B5EF4-FFF2-40B4-BE49-F238E27FC236}">
                <a16:creationId xmlns:a16="http://schemas.microsoft.com/office/drawing/2014/main" id="{AB54508B-D58C-E7D8-E5E1-80A5BA3B5B30}"/>
              </a:ext>
            </a:extLst>
          </p:cNvPr>
          <p:cNvSpPr txBox="1">
            <a:spLocks/>
          </p:cNvSpPr>
          <p:nvPr/>
        </p:nvSpPr>
        <p:spPr>
          <a:xfrm>
            <a:off x="5789266" y="2313588"/>
            <a:ext cx="4270248" cy="70408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lgn="ctr">
              <a:buNone/>
            </a:pPr>
            <a:r>
              <a:rPr lang="pt-PT" sz="1900" dirty="0">
                <a:solidFill>
                  <a:schemeClr val="accent2">
                    <a:lumMod val="75000"/>
                  </a:schemeClr>
                </a:solidFill>
              </a:rPr>
              <a:t>XGBOOST</a:t>
            </a:r>
          </a:p>
        </p:txBody>
      </p:sp>
    </p:spTree>
    <p:extLst>
      <p:ext uri="{BB962C8B-B14F-4D97-AF65-F5344CB8AC3E}">
        <p14:creationId xmlns:p14="http://schemas.microsoft.com/office/powerpoint/2010/main" val="511915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515964E1-C690-6A5F-2D25-0C4ADA5E6BBA}"/>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5664A7D-41F7-4625-D2C4-E6C73940F5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1559052"/>
            <a:ext cx="10271760" cy="4347972"/>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DFEB62C-36B7-A9AC-134D-FC23EB66CDF8}"/>
              </a:ext>
            </a:extLst>
          </p:cNvPr>
          <p:cNvSpPr>
            <a:spLocks noGrp="1"/>
          </p:cNvSpPr>
          <p:nvPr>
            <p:ph type="title"/>
          </p:nvPr>
        </p:nvSpPr>
        <p:spPr>
          <a:xfrm>
            <a:off x="2231136" y="964692"/>
            <a:ext cx="7729728" cy="1188720"/>
          </a:xfrm>
          <a:ln>
            <a:solidFill>
              <a:srgbClr val="404040"/>
            </a:solidFill>
          </a:ln>
        </p:spPr>
        <p:txBody>
          <a:bodyPr vert="horz" lIns="182880" tIns="182880" rIns="182880" bIns="182880" rtlCol="0" anchor="ctr">
            <a:normAutofit/>
          </a:bodyPr>
          <a:lstStyle/>
          <a:p>
            <a:r>
              <a:rPr lang="en-US" dirty="0" err="1"/>
              <a:t>Pyhard</a:t>
            </a:r>
            <a:r>
              <a:rPr lang="en-US" dirty="0"/>
              <a:t> analysis</a:t>
            </a:r>
          </a:p>
        </p:txBody>
      </p:sp>
      <p:pic>
        <p:nvPicPr>
          <p:cNvPr id="4" name="Imagem 3">
            <a:extLst>
              <a:ext uri="{FF2B5EF4-FFF2-40B4-BE49-F238E27FC236}">
                <a16:creationId xmlns:a16="http://schemas.microsoft.com/office/drawing/2014/main" id="{1C6BC7F6-793A-6D92-926E-3AE49664E4C0}"/>
              </a:ext>
            </a:extLst>
          </p:cNvPr>
          <p:cNvPicPr>
            <a:picLocks noChangeAspect="1"/>
          </p:cNvPicPr>
          <p:nvPr/>
        </p:nvPicPr>
        <p:blipFill>
          <a:blip r:embed="rId3"/>
          <a:srcRect l="14970"/>
          <a:stretch/>
        </p:blipFill>
        <p:spPr>
          <a:xfrm>
            <a:off x="0" y="-1"/>
            <a:ext cx="2036190" cy="1256334"/>
          </a:xfrm>
          <a:prstGeom prst="rect">
            <a:avLst/>
          </a:prstGeom>
          <a:effectLst>
            <a:outerShdw blurRad="50800" dist="38100" dir="5400000" algn="t" rotWithShape="0">
              <a:prstClr val="black">
                <a:alpha val="40000"/>
              </a:prstClr>
            </a:outerShdw>
          </a:effectLst>
        </p:spPr>
      </p:pic>
      <p:sp>
        <p:nvSpPr>
          <p:cNvPr id="7" name="Marcador de Posição do Texto 1">
            <a:extLst>
              <a:ext uri="{FF2B5EF4-FFF2-40B4-BE49-F238E27FC236}">
                <a16:creationId xmlns:a16="http://schemas.microsoft.com/office/drawing/2014/main" id="{BB1BCCB0-4D78-410A-A571-41D227E69C00}"/>
              </a:ext>
            </a:extLst>
          </p:cNvPr>
          <p:cNvSpPr txBox="1">
            <a:spLocks/>
          </p:cNvSpPr>
          <p:nvPr/>
        </p:nvSpPr>
        <p:spPr>
          <a:xfrm>
            <a:off x="573936" y="2330982"/>
            <a:ext cx="4270248" cy="70408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lgn="ctr">
              <a:buNone/>
            </a:pPr>
            <a:r>
              <a:rPr lang="pt-PT" sz="1900" dirty="0">
                <a:solidFill>
                  <a:schemeClr val="accent2">
                    <a:lumMod val="75000"/>
                  </a:schemeClr>
                </a:solidFill>
              </a:rPr>
              <a:t>ORIGINAL</a:t>
            </a:r>
          </a:p>
        </p:txBody>
      </p:sp>
      <p:sp>
        <p:nvSpPr>
          <p:cNvPr id="8" name="Marcador de Posição do Texto 1">
            <a:extLst>
              <a:ext uri="{FF2B5EF4-FFF2-40B4-BE49-F238E27FC236}">
                <a16:creationId xmlns:a16="http://schemas.microsoft.com/office/drawing/2014/main" id="{F87FE4AE-2DFA-F875-FFDB-674544F74815}"/>
              </a:ext>
            </a:extLst>
          </p:cNvPr>
          <p:cNvSpPr txBox="1">
            <a:spLocks/>
          </p:cNvSpPr>
          <p:nvPr/>
        </p:nvSpPr>
        <p:spPr>
          <a:xfrm>
            <a:off x="3960876" y="2332176"/>
            <a:ext cx="4270248" cy="70408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lgn="ctr">
              <a:buNone/>
            </a:pPr>
            <a:r>
              <a:rPr lang="pt-PT" sz="1900" dirty="0">
                <a:solidFill>
                  <a:schemeClr val="accent2">
                    <a:lumMod val="75000"/>
                  </a:schemeClr>
                </a:solidFill>
              </a:rPr>
              <a:t>AFTER BCBSMOTE</a:t>
            </a:r>
          </a:p>
        </p:txBody>
      </p:sp>
      <p:sp>
        <p:nvSpPr>
          <p:cNvPr id="11" name="Marcador de Posição do Texto 1">
            <a:extLst>
              <a:ext uri="{FF2B5EF4-FFF2-40B4-BE49-F238E27FC236}">
                <a16:creationId xmlns:a16="http://schemas.microsoft.com/office/drawing/2014/main" id="{C16A2FF2-331E-24F3-7BFF-1F7AC5066965}"/>
              </a:ext>
            </a:extLst>
          </p:cNvPr>
          <p:cNvSpPr txBox="1">
            <a:spLocks/>
          </p:cNvSpPr>
          <p:nvPr/>
        </p:nvSpPr>
        <p:spPr>
          <a:xfrm>
            <a:off x="7341043" y="2286304"/>
            <a:ext cx="4270248" cy="70408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lgn="ctr">
              <a:buNone/>
            </a:pPr>
            <a:r>
              <a:rPr lang="pt-PT" sz="1900" dirty="0">
                <a:solidFill>
                  <a:schemeClr val="accent2">
                    <a:lumMod val="75000"/>
                  </a:schemeClr>
                </a:solidFill>
              </a:rPr>
              <a:t>AFTER TOMEK LINKS</a:t>
            </a:r>
          </a:p>
        </p:txBody>
      </p:sp>
      <p:pic>
        <p:nvPicPr>
          <p:cNvPr id="12" name="Imagem 11" descr="Uma imagem com texto, diagrama, captura de ecrã, mapa&#10;&#10;Descrição gerada automaticamente">
            <a:extLst>
              <a:ext uri="{FF2B5EF4-FFF2-40B4-BE49-F238E27FC236}">
                <a16:creationId xmlns:a16="http://schemas.microsoft.com/office/drawing/2014/main" id="{2E377D47-D8B5-9957-ABF8-1524D9BF7549}"/>
              </a:ext>
            </a:extLst>
          </p:cNvPr>
          <p:cNvPicPr>
            <a:picLocks noChangeAspect="1"/>
          </p:cNvPicPr>
          <p:nvPr/>
        </p:nvPicPr>
        <p:blipFill>
          <a:blip r:embed="rId4"/>
          <a:stretch>
            <a:fillRect/>
          </a:stretch>
        </p:blipFill>
        <p:spPr>
          <a:xfrm>
            <a:off x="7848121" y="2747772"/>
            <a:ext cx="3276000" cy="2975237"/>
          </a:xfrm>
          <a:prstGeom prst="rect">
            <a:avLst/>
          </a:prstGeom>
        </p:spPr>
      </p:pic>
      <p:pic>
        <p:nvPicPr>
          <p:cNvPr id="13" name="Imagem 12" descr="Uma imagem com texto, captura de ecrã, diagrama, Gráfico&#10;&#10;Descrição gerada automaticamente">
            <a:extLst>
              <a:ext uri="{FF2B5EF4-FFF2-40B4-BE49-F238E27FC236}">
                <a16:creationId xmlns:a16="http://schemas.microsoft.com/office/drawing/2014/main" id="{12090687-9B04-309D-CF7A-9A6486A7898E}"/>
              </a:ext>
            </a:extLst>
          </p:cNvPr>
          <p:cNvPicPr>
            <a:picLocks noChangeAspect="1"/>
          </p:cNvPicPr>
          <p:nvPr/>
        </p:nvPicPr>
        <p:blipFill>
          <a:blip r:embed="rId5"/>
          <a:stretch>
            <a:fillRect/>
          </a:stretch>
        </p:blipFill>
        <p:spPr>
          <a:xfrm>
            <a:off x="4458000" y="2738779"/>
            <a:ext cx="3276000" cy="2975237"/>
          </a:xfrm>
          <a:prstGeom prst="rect">
            <a:avLst/>
          </a:prstGeom>
        </p:spPr>
      </p:pic>
      <p:pic>
        <p:nvPicPr>
          <p:cNvPr id="14" name="Imagem 13" descr="Uma imagem com texto, diagrama, captura de ecrã&#10;&#10;Descrição gerada automaticamente">
            <a:extLst>
              <a:ext uri="{FF2B5EF4-FFF2-40B4-BE49-F238E27FC236}">
                <a16:creationId xmlns:a16="http://schemas.microsoft.com/office/drawing/2014/main" id="{6A97DB75-5E05-AB7E-093F-E44A4C703714}"/>
              </a:ext>
            </a:extLst>
          </p:cNvPr>
          <p:cNvPicPr>
            <a:picLocks noChangeAspect="1"/>
          </p:cNvPicPr>
          <p:nvPr/>
        </p:nvPicPr>
        <p:blipFill>
          <a:blip r:embed="rId6"/>
          <a:stretch>
            <a:fillRect/>
          </a:stretch>
        </p:blipFill>
        <p:spPr>
          <a:xfrm>
            <a:off x="1124940" y="2738778"/>
            <a:ext cx="3276000" cy="2975237"/>
          </a:xfrm>
          <a:prstGeom prst="rect">
            <a:avLst/>
          </a:prstGeom>
        </p:spPr>
      </p:pic>
    </p:spTree>
    <p:extLst>
      <p:ext uri="{BB962C8B-B14F-4D97-AF65-F5344CB8AC3E}">
        <p14:creationId xmlns:p14="http://schemas.microsoft.com/office/powerpoint/2010/main" val="31751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C2AD7556-C90D-4946-8E4E-1E79D5B3D2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DBB0CC56-54B2-4AE0-87C5-296E78A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42815"/>
            <a:ext cx="12192000" cy="261518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tângulo 4">
            <a:extLst>
              <a:ext uri="{FF2B5EF4-FFF2-40B4-BE49-F238E27FC236}">
                <a16:creationId xmlns:a16="http://schemas.microsoft.com/office/drawing/2014/main" id="{D67B46D6-03D9-D028-3147-91BF311435B8}"/>
              </a:ext>
            </a:extLst>
          </p:cNvPr>
          <p:cNvSpPr/>
          <p:nvPr/>
        </p:nvSpPr>
        <p:spPr>
          <a:xfrm rot="5400000">
            <a:off x="4518233" y="-364663"/>
            <a:ext cx="3228668" cy="12509009"/>
          </a:xfrm>
          <a:prstGeom prst="rect">
            <a:avLst/>
          </a:prstGeom>
          <a:solidFill>
            <a:srgbClr val="B2CB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 name="Título 1">
            <a:extLst>
              <a:ext uri="{FF2B5EF4-FFF2-40B4-BE49-F238E27FC236}">
                <a16:creationId xmlns:a16="http://schemas.microsoft.com/office/drawing/2014/main" id="{2CA1309E-2F3D-1A83-D489-D33E39AAED84}"/>
              </a:ext>
            </a:extLst>
          </p:cNvPr>
          <p:cNvSpPr>
            <a:spLocks noGrp="1"/>
          </p:cNvSpPr>
          <p:nvPr>
            <p:ph type="title"/>
          </p:nvPr>
        </p:nvSpPr>
        <p:spPr>
          <a:xfrm>
            <a:off x="1600200" y="3418891"/>
            <a:ext cx="8991600" cy="1645920"/>
          </a:xfrm>
        </p:spPr>
        <p:txBody>
          <a:bodyPr vert="horz" lIns="274320" tIns="182880" rIns="274320" bIns="182880" rtlCol="0" anchor="ctr" anchorCtr="1">
            <a:normAutofit/>
          </a:bodyPr>
          <a:lstStyle/>
          <a:p>
            <a:r>
              <a:rPr lang="en-US" sz="3800"/>
              <a:t>tutorial</a:t>
            </a:r>
          </a:p>
        </p:txBody>
      </p:sp>
      <p:pic>
        <p:nvPicPr>
          <p:cNvPr id="1026" name="Picture 2" descr="Tutorial icons for free download | Freepik">
            <a:extLst>
              <a:ext uri="{FF2B5EF4-FFF2-40B4-BE49-F238E27FC236}">
                <a16:creationId xmlns:a16="http://schemas.microsoft.com/office/drawing/2014/main" id="{FCC92E7F-5626-CB95-B339-C68B8E85166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867820" y="640079"/>
            <a:ext cx="2456360" cy="2456360"/>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m 3">
            <a:extLst>
              <a:ext uri="{FF2B5EF4-FFF2-40B4-BE49-F238E27FC236}">
                <a16:creationId xmlns:a16="http://schemas.microsoft.com/office/drawing/2014/main" id="{39FDAEB6-8960-CED7-2B51-F3ABA963C49D}"/>
              </a:ext>
            </a:extLst>
          </p:cNvPr>
          <p:cNvPicPr>
            <a:picLocks noChangeAspect="1"/>
          </p:cNvPicPr>
          <p:nvPr/>
        </p:nvPicPr>
        <p:blipFill>
          <a:blip r:embed="rId3"/>
          <a:srcRect l="14970"/>
          <a:stretch/>
        </p:blipFill>
        <p:spPr>
          <a:xfrm>
            <a:off x="0" y="-1"/>
            <a:ext cx="2036190" cy="1256334"/>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270123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tângulo 4">
            <a:extLst>
              <a:ext uri="{FF2B5EF4-FFF2-40B4-BE49-F238E27FC236}">
                <a16:creationId xmlns:a16="http://schemas.microsoft.com/office/drawing/2014/main" id="{C9786D8C-4C56-388A-0EC6-7BE3F1918733}"/>
              </a:ext>
            </a:extLst>
          </p:cNvPr>
          <p:cNvSpPr/>
          <p:nvPr/>
        </p:nvSpPr>
        <p:spPr>
          <a:xfrm>
            <a:off x="-304800" y="-170688"/>
            <a:ext cx="3374972" cy="7156704"/>
          </a:xfrm>
          <a:prstGeom prst="rect">
            <a:avLst/>
          </a:prstGeom>
          <a:solidFill>
            <a:srgbClr val="B2CBAE"/>
          </a:solidFill>
          <a:ln>
            <a:solidFill>
              <a:srgbClr val="6B88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useBgFill="1">
        <p:nvSpPr>
          <p:cNvPr id="11" name="Rectangle 10">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Conexão reta 6">
            <a:extLst>
              <a:ext uri="{FF2B5EF4-FFF2-40B4-BE49-F238E27FC236}">
                <a16:creationId xmlns:a16="http://schemas.microsoft.com/office/drawing/2014/main" id="{A9F93852-D643-3E03-1FB6-44A17D957ECC}"/>
              </a:ext>
            </a:extLst>
          </p:cNvPr>
          <p:cNvCxnSpPr>
            <a:cxnSpLocks/>
          </p:cNvCxnSpPr>
          <p:nvPr/>
        </p:nvCxnSpPr>
        <p:spPr>
          <a:xfrm>
            <a:off x="3067960" y="5414965"/>
            <a:ext cx="0" cy="1507043"/>
          </a:xfrm>
          <a:prstGeom prst="line">
            <a:avLst/>
          </a:prstGeom>
          <a:ln w="44450">
            <a:solidFill>
              <a:srgbClr val="6B8891"/>
            </a:solidFill>
          </a:ln>
        </p:spPr>
        <p:style>
          <a:lnRef idx="1">
            <a:schemeClr val="accent1"/>
          </a:lnRef>
          <a:fillRef idx="0">
            <a:schemeClr val="accent1"/>
          </a:fillRef>
          <a:effectRef idx="0">
            <a:schemeClr val="accent1"/>
          </a:effectRef>
          <a:fontRef idx="minor">
            <a:schemeClr val="tx1"/>
          </a:fontRef>
        </p:style>
      </p:cxnSp>
      <p:graphicFrame>
        <p:nvGraphicFramePr>
          <p:cNvPr id="15" name="Marcador de Posição de Conteúdo 2">
            <a:extLst>
              <a:ext uri="{FF2B5EF4-FFF2-40B4-BE49-F238E27FC236}">
                <a16:creationId xmlns:a16="http://schemas.microsoft.com/office/drawing/2014/main" id="{6F96F028-9B5A-B2B2-4652-223237B01C33}"/>
              </a:ext>
            </a:extLst>
          </p:cNvPr>
          <p:cNvGraphicFramePr>
            <a:graphicFrameLocks noGrp="1"/>
          </p:cNvGraphicFramePr>
          <p:nvPr>
            <p:ph idx="1"/>
            <p:extLst>
              <p:ext uri="{D42A27DB-BD31-4B8C-83A1-F6EECF244321}">
                <p14:modId xmlns:p14="http://schemas.microsoft.com/office/powerpoint/2010/main" val="804956475"/>
              </p:ext>
            </p:extLst>
          </p:nvPr>
        </p:nvGraphicFramePr>
        <p:xfrm>
          <a:off x="5408950" y="416560"/>
          <a:ext cx="6305529" cy="5943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Imagem 3" descr="Uma imagem com Gráficos, fogo de artifício, design&#10;&#10;Descrição gerada automaticamente">
            <a:extLst>
              <a:ext uri="{FF2B5EF4-FFF2-40B4-BE49-F238E27FC236}">
                <a16:creationId xmlns:a16="http://schemas.microsoft.com/office/drawing/2014/main" id="{3CBE5140-8A27-51DF-CF85-2316E2F6FD50}"/>
              </a:ext>
            </a:extLst>
          </p:cNvPr>
          <p:cNvPicPr>
            <a:picLocks noChangeAspect="1"/>
          </p:cNvPicPr>
          <p:nvPr/>
        </p:nvPicPr>
        <p:blipFill>
          <a:blip r:embed="rId8"/>
          <a:srcRect l="14970"/>
          <a:stretch/>
        </p:blipFill>
        <p:spPr>
          <a:xfrm>
            <a:off x="0" y="-1"/>
            <a:ext cx="2036190" cy="1256334"/>
          </a:xfrm>
          <a:prstGeom prst="rect">
            <a:avLst/>
          </a:prstGeom>
          <a:effectLst>
            <a:outerShdw blurRad="50800" dist="38100" dir="5400000" algn="t" rotWithShape="0">
              <a:prstClr val="black">
                <a:alpha val="40000"/>
              </a:prstClr>
            </a:outerShdw>
          </a:effectLst>
        </p:spPr>
      </p:pic>
      <p:sp>
        <p:nvSpPr>
          <p:cNvPr id="2" name="Título 1">
            <a:extLst>
              <a:ext uri="{FF2B5EF4-FFF2-40B4-BE49-F238E27FC236}">
                <a16:creationId xmlns:a16="http://schemas.microsoft.com/office/drawing/2014/main" id="{5025CED9-D7E8-5488-A6A0-77680EF640EC}"/>
              </a:ext>
            </a:extLst>
          </p:cNvPr>
          <p:cNvSpPr>
            <a:spLocks noGrp="1"/>
          </p:cNvSpPr>
          <p:nvPr>
            <p:ph type="title"/>
          </p:nvPr>
        </p:nvSpPr>
        <p:spPr>
          <a:xfrm>
            <a:off x="1260873" y="1586484"/>
            <a:ext cx="3685032" cy="3685032"/>
          </a:xfrm>
          <a:prstGeom prst="ellipse">
            <a:avLst/>
          </a:prstGeom>
          <a:solidFill>
            <a:srgbClr val="B2CBAE"/>
          </a:solidFill>
          <a:ln>
            <a:noFill/>
          </a:ln>
        </p:spPr>
        <p:txBody>
          <a:bodyPr>
            <a:normAutofit/>
          </a:bodyPr>
          <a:lstStyle/>
          <a:p>
            <a:r>
              <a:rPr lang="pt-PT" sz="2100" dirty="0" err="1">
                <a:solidFill>
                  <a:srgbClr val="FFFFFF"/>
                </a:solidFill>
              </a:rPr>
              <a:t>Conclusions</a:t>
            </a:r>
            <a:br>
              <a:rPr lang="pt-PT" sz="2100" dirty="0">
                <a:solidFill>
                  <a:srgbClr val="FFFFFF"/>
                </a:solidFill>
              </a:rPr>
            </a:br>
            <a:r>
              <a:rPr lang="pt-PT" sz="2100" dirty="0" err="1">
                <a:solidFill>
                  <a:srgbClr val="FFFFFF"/>
                </a:solidFill>
              </a:rPr>
              <a:t>and</a:t>
            </a:r>
            <a:br>
              <a:rPr lang="pt-PT" sz="2100" dirty="0">
                <a:solidFill>
                  <a:srgbClr val="FFFFFF"/>
                </a:solidFill>
              </a:rPr>
            </a:br>
            <a:r>
              <a:rPr lang="pt-PT" sz="2100" dirty="0">
                <a:solidFill>
                  <a:srgbClr val="FFFFFF"/>
                </a:solidFill>
              </a:rPr>
              <a:t>future </a:t>
            </a:r>
            <a:r>
              <a:rPr lang="pt-PT" sz="2100" dirty="0" err="1">
                <a:solidFill>
                  <a:srgbClr val="FFFFFF"/>
                </a:solidFill>
              </a:rPr>
              <a:t>work</a:t>
            </a:r>
            <a:endParaRPr lang="pt-PT" sz="2100" dirty="0">
              <a:solidFill>
                <a:srgbClr val="FFFFFF"/>
              </a:solidFill>
            </a:endParaRPr>
          </a:p>
        </p:txBody>
      </p:sp>
      <p:cxnSp>
        <p:nvCxnSpPr>
          <p:cNvPr id="8" name="Conexão reta 7">
            <a:extLst>
              <a:ext uri="{FF2B5EF4-FFF2-40B4-BE49-F238E27FC236}">
                <a16:creationId xmlns:a16="http://schemas.microsoft.com/office/drawing/2014/main" id="{D0AAED73-8418-DD41-B065-00993444D2F2}"/>
              </a:ext>
            </a:extLst>
          </p:cNvPr>
          <p:cNvCxnSpPr>
            <a:cxnSpLocks/>
          </p:cNvCxnSpPr>
          <p:nvPr/>
        </p:nvCxnSpPr>
        <p:spPr>
          <a:xfrm>
            <a:off x="3069632" y="-348996"/>
            <a:ext cx="0" cy="1779839"/>
          </a:xfrm>
          <a:prstGeom prst="line">
            <a:avLst/>
          </a:prstGeom>
          <a:ln w="44450">
            <a:solidFill>
              <a:srgbClr val="6B889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7131568"/>
      </p:ext>
    </p:extLst>
  </p:cSld>
  <p:clrMapOvr>
    <a:masterClrMapping/>
  </p:clrMapOvr>
</p:sld>
</file>

<file path=ppt/theme/theme1.xml><?xml version="1.0" encoding="utf-8"?>
<a:theme xmlns:a="http://schemas.openxmlformats.org/drawingml/2006/main" name="Pacote">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TM10001115[[fn=Pacote]]</Template>
  <TotalTime>337</TotalTime>
  <Words>2650</Words>
  <Application>Microsoft Office PowerPoint</Application>
  <PresentationFormat>Ecrã Panorâmico</PresentationFormat>
  <Paragraphs>433</Paragraphs>
  <Slides>25</Slides>
  <Notes>23</Notes>
  <HiddenSlides>0</HiddenSlides>
  <MMClips>0</MMClips>
  <ScaleCrop>false</ScaleCrop>
  <HeadingPairs>
    <vt:vector size="6" baseType="variant">
      <vt:variant>
        <vt:lpstr>Tipos de letra usados</vt:lpstr>
      </vt:variant>
      <vt:variant>
        <vt:i4>5</vt:i4>
      </vt:variant>
      <vt:variant>
        <vt:lpstr>Tema</vt:lpstr>
      </vt:variant>
      <vt:variant>
        <vt:i4>1</vt:i4>
      </vt:variant>
      <vt:variant>
        <vt:lpstr>Títulos dos diapositivos</vt:lpstr>
      </vt:variant>
      <vt:variant>
        <vt:i4>25</vt:i4>
      </vt:variant>
    </vt:vector>
  </HeadingPairs>
  <TitlesOfParts>
    <vt:vector size="31" baseType="lpstr">
      <vt:lpstr>Arial</vt:lpstr>
      <vt:lpstr>Calibri</vt:lpstr>
      <vt:lpstr>Consolas</vt:lpstr>
      <vt:lpstr>Gill Sans MT</vt:lpstr>
      <vt:lpstr>Verdana</vt:lpstr>
      <vt:lpstr>Pacote</vt:lpstr>
      <vt:lpstr>(De)generative AI</vt:lpstr>
      <vt:lpstr>Case study</vt:lpstr>
      <vt:lpstr>Our approach</vt:lpstr>
      <vt:lpstr>Data analysis – class distribution</vt:lpstr>
      <vt:lpstr>Data analysis – features distribution</vt:lpstr>
      <vt:lpstr>Feature analysis – amount by class</vt:lpstr>
      <vt:lpstr>Performance metrics</vt:lpstr>
      <vt:lpstr>Classification algorithms</vt:lpstr>
      <vt:lpstr>Balancing techniques</vt:lpstr>
      <vt:lpstr>Random oversampling</vt:lpstr>
      <vt:lpstr>smote</vt:lpstr>
      <vt:lpstr>B-smote</vt:lpstr>
      <vt:lpstr>adasyn</vt:lpstr>
      <vt:lpstr>Random undersampling</vt:lpstr>
      <vt:lpstr>smoteenn</vt:lpstr>
      <vt:lpstr>Hybrid tomek link bcbsmote</vt:lpstr>
      <vt:lpstr>Smote – tomek </vt:lpstr>
      <vt:lpstr>Class weights</vt:lpstr>
      <vt:lpstr>Results overview</vt:lpstr>
      <vt:lpstr>Random forest – results</vt:lpstr>
      <vt:lpstr>XGBoost – results </vt:lpstr>
      <vt:lpstr>Random forest vs xgboost</vt:lpstr>
      <vt:lpstr>Pyhard analysis</vt:lpstr>
      <vt:lpstr>tutorial</vt:lpstr>
      <vt:lpstr>Conclusions and 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(De)generative AI</dc:title>
  <dc:creator>Diogo Mendes</dc:creator>
  <cp:lastModifiedBy>Catarina Monteiro</cp:lastModifiedBy>
  <cp:revision>32</cp:revision>
  <dcterms:created xsi:type="dcterms:W3CDTF">2024-12-05T15:15:12Z</dcterms:created>
  <dcterms:modified xsi:type="dcterms:W3CDTF">2024-12-06T14:37:19Z</dcterms:modified>
</cp:coreProperties>
</file>